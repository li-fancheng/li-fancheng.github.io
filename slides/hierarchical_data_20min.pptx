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a00825c0594c42" /><Relationship Type="http://schemas.openxmlformats.org/officeDocument/2006/relationships/extended-properties" Target="/docProps/app.xml" Id="R384cff2a03ae481e" /><Relationship Type="http://schemas.openxmlformats.org/officeDocument/2006/relationships/officeDocument" Target="/ppt/presentation.xml" Id="Ra1d12fe678fe4d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e28e2416504313"/>
  </p:sldMasterIdLst>
  <p:notesMasterIdLst>
    <p:notesMasterId xmlns:r="http://schemas.openxmlformats.org/officeDocument/2006/relationships" r:id="Red7b73b1c9b448ea"/>
  </p:notesMasterIdLst>
  <p:sldIdLst>
    <p:sldId xmlns:r="http://schemas.openxmlformats.org/officeDocument/2006/relationships" id="256" r:id="R790ffc1bc77f4c2f"/>
    <p:sldId xmlns:r="http://schemas.openxmlformats.org/officeDocument/2006/relationships" id="257" r:id="R361dfe2607124b7d"/>
    <p:sldId xmlns:r="http://schemas.openxmlformats.org/officeDocument/2006/relationships" id="258" r:id="R4b86bfccdb324dab"/>
    <p:sldId xmlns:r="http://schemas.openxmlformats.org/officeDocument/2006/relationships" id="259" r:id="R02fb85e4b1344ab0"/>
    <p:sldId xmlns:r="http://schemas.openxmlformats.org/officeDocument/2006/relationships" id="260" r:id="R56619abb41944f35"/>
    <p:sldId xmlns:r="http://schemas.openxmlformats.org/officeDocument/2006/relationships" id="261" r:id="R307f4c01118c4730"/>
    <p:sldId xmlns:r="http://schemas.openxmlformats.org/officeDocument/2006/relationships" id="262" r:id="R0fe6a3d4b9e349d3"/>
    <p:sldId xmlns:r="http://schemas.openxmlformats.org/officeDocument/2006/relationships" id="263" r:id="R1b1b8ce0545d405f"/>
    <p:sldId xmlns:r="http://schemas.openxmlformats.org/officeDocument/2006/relationships" id="264" r:id="R3051c6bd82104140"/>
    <p:sldId xmlns:r="http://schemas.openxmlformats.org/officeDocument/2006/relationships" id="265" r:id="R35143a4a5db2401a"/>
    <p:sldId xmlns:r="http://schemas.openxmlformats.org/officeDocument/2006/relationships" id="266" r:id="R06e2057c260248cf"/>
    <p:sldId xmlns:r="http://schemas.openxmlformats.org/officeDocument/2006/relationships" id="267" r:id="Rf2b710c82b4e4b3f"/>
    <p:sldId xmlns:r="http://schemas.openxmlformats.org/officeDocument/2006/relationships" id="268" r:id="R525541c820814cb9"/>
    <p:sldId xmlns:r="http://schemas.openxmlformats.org/officeDocument/2006/relationships" id="269" r:id="Re123d468fc524b36"/>
    <p:sldId xmlns:r="http://schemas.openxmlformats.org/officeDocument/2006/relationships" id="270" r:id="R00d7ade65f974d42"/>
    <p:sldId xmlns:r="http://schemas.openxmlformats.org/officeDocument/2006/relationships" id="271" r:id="R15cda99b94344a44"/>
    <p:sldId xmlns:r="http://schemas.openxmlformats.org/officeDocument/2006/relationships" id="272" r:id="Rb9318cb59f6443d9"/>
    <p:sldId xmlns:r="http://schemas.openxmlformats.org/officeDocument/2006/relationships" id="273" r:id="R623eb325aad7479b"/>
    <p:sldId xmlns:r="http://schemas.openxmlformats.org/officeDocument/2006/relationships" id="274" r:id="R4c5d569458f34b18"/>
    <p:sldId xmlns:r="http://schemas.openxmlformats.org/officeDocument/2006/relationships" id="275" r:id="R6d3f9d7ca91544e7"/>
    <p:sldId xmlns:r="http://schemas.openxmlformats.org/officeDocument/2006/relationships" id="276" r:id="R93838298f6dd408d"/>
    <p:sldId xmlns:r="http://schemas.openxmlformats.org/officeDocument/2006/relationships" id="277" r:id="R00f5e616f6eb4566"/>
    <p:sldId xmlns:r="http://schemas.openxmlformats.org/officeDocument/2006/relationships" id="278" r:id="Rd68ef958258f4bc3"/>
    <p:sldId xmlns:r="http://schemas.openxmlformats.org/officeDocument/2006/relationships" id="279" r:id="Rf8d280996ce54473"/>
    <p:sldId xmlns:r="http://schemas.openxmlformats.org/officeDocument/2006/relationships" id="280" r:id="R5acd79cbfa494c30"/>
    <p:sldId xmlns:r="http://schemas.openxmlformats.org/officeDocument/2006/relationships" id="281" r:id="R0ae2fdd5cffc4690"/>
    <p:sldId xmlns:r="http://schemas.openxmlformats.org/officeDocument/2006/relationships" id="282" r:id="Rd7d28e7bee074605"/>
    <p:sldId xmlns:r="http://schemas.openxmlformats.org/officeDocument/2006/relationships" id="283" r:id="R653f985cb74e402a"/>
    <p:sldId xmlns:r="http://schemas.openxmlformats.org/officeDocument/2006/relationships" id="284" r:id="Rd16906dbafcd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913f0549234071" /><Relationship Type="http://schemas.openxmlformats.org/officeDocument/2006/relationships/slideMaster" Target="/ppt/slideMasters/slideMaster1.xml" Id="R3de28e2416504313" /><Relationship Type="http://schemas.openxmlformats.org/officeDocument/2006/relationships/notesMaster" Target="/ppt/notesMasters/notesMaster1.xml" Id="Red7b73b1c9b448ea" /><Relationship Type="http://schemas.openxmlformats.org/officeDocument/2006/relationships/presProps" Target="/ppt/presProps.xml" Id="R6b834bceba1b4914" /><Relationship Type="http://schemas.openxmlformats.org/officeDocument/2006/relationships/tableStyles" Target="/ppt/tableStyles.xml" Id="R391cfc4d915a4ec5" /><Relationship Type="http://schemas.openxmlformats.org/officeDocument/2006/relationships/slide" Target="/ppt/slides/slide1.xml" Id="R790ffc1bc77f4c2f" /><Relationship Type="http://schemas.openxmlformats.org/officeDocument/2006/relationships/slide" Target="/ppt/slides/slide2.xml" Id="R361dfe2607124b7d" /><Relationship Type="http://schemas.openxmlformats.org/officeDocument/2006/relationships/slide" Target="/ppt/slides/slide3.xml" Id="R4b86bfccdb324dab" /><Relationship Type="http://schemas.openxmlformats.org/officeDocument/2006/relationships/slide" Target="/ppt/slides/slide4.xml" Id="R02fb85e4b1344ab0" /><Relationship Type="http://schemas.openxmlformats.org/officeDocument/2006/relationships/slide" Target="/ppt/slides/slide5.xml" Id="R56619abb41944f35" /><Relationship Type="http://schemas.openxmlformats.org/officeDocument/2006/relationships/slide" Target="/ppt/slides/slide6.xml" Id="R307f4c01118c4730" /><Relationship Type="http://schemas.openxmlformats.org/officeDocument/2006/relationships/slide" Target="/ppt/slides/slide7.xml" Id="R0fe6a3d4b9e349d3" /><Relationship Type="http://schemas.openxmlformats.org/officeDocument/2006/relationships/slide" Target="/ppt/slides/slide8.xml" Id="R1b1b8ce0545d405f" /><Relationship Type="http://schemas.openxmlformats.org/officeDocument/2006/relationships/slide" Target="/ppt/slides/slide9.xml" Id="R3051c6bd82104140" /><Relationship Type="http://schemas.openxmlformats.org/officeDocument/2006/relationships/slide" Target="/ppt/slides/slide10.xml" Id="R35143a4a5db2401a" /><Relationship Type="http://schemas.openxmlformats.org/officeDocument/2006/relationships/slide" Target="/ppt/slides/slide11.xml" Id="R06e2057c260248cf" /><Relationship Type="http://schemas.openxmlformats.org/officeDocument/2006/relationships/slide" Target="/ppt/slides/slide12.xml" Id="Rf2b710c82b4e4b3f" /><Relationship Type="http://schemas.openxmlformats.org/officeDocument/2006/relationships/slide" Target="/ppt/slides/slide13.xml" Id="R525541c820814cb9" /><Relationship Type="http://schemas.openxmlformats.org/officeDocument/2006/relationships/slide" Target="/ppt/slides/slide14.xml" Id="Re123d468fc524b36" /><Relationship Type="http://schemas.openxmlformats.org/officeDocument/2006/relationships/slide" Target="/ppt/slides/slide15.xml" Id="R00d7ade65f974d42" /><Relationship Type="http://schemas.openxmlformats.org/officeDocument/2006/relationships/slide" Target="/ppt/slides/slide16.xml" Id="R15cda99b94344a44" /><Relationship Type="http://schemas.openxmlformats.org/officeDocument/2006/relationships/slide" Target="/ppt/slides/slide17.xml" Id="Rb9318cb59f6443d9" /><Relationship Type="http://schemas.openxmlformats.org/officeDocument/2006/relationships/slide" Target="/ppt/slides/slide18.xml" Id="R623eb325aad7479b" /><Relationship Type="http://schemas.openxmlformats.org/officeDocument/2006/relationships/slide" Target="/ppt/slides/slide19.xml" Id="R4c5d569458f34b18" /><Relationship Type="http://schemas.openxmlformats.org/officeDocument/2006/relationships/slide" Target="/ppt/slides/slide20.xml" Id="R6d3f9d7ca91544e7" /><Relationship Type="http://schemas.openxmlformats.org/officeDocument/2006/relationships/slide" Target="/ppt/slides/slide21.xml" Id="R93838298f6dd408d" /><Relationship Type="http://schemas.openxmlformats.org/officeDocument/2006/relationships/slide" Target="/ppt/slides/slide22.xml" Id="R00f5e616f6eb4566" /><Relationship Type="http://schemas.openxmlformats.org/officeDocument/2006/relationships/slide" Target="/ppt/slides/slide23.xml" Id="Rd68ef958258f4bc3" /><Relationship Type="http://schemas.openxmlformats.org/officeDocument/2006/relationships/slide" Target="/ppt/slides/slide24.xml" Id="Rf8d280996ce54473" /><Relationship Type="http://schemas.openxmlformats.org/officeDocument/2006/relationships/slide" Target="/ppt/slides/slide25.xml" Id="R5acd79cbfa494c30" /><Relationship Type="http://schemas.openxmlformats.org/officeDocument/2006/relationships/slide" Target="/ppt/slides/slide26.xml" Id="R0ae2fdd5cffc4690" /><Relationship Type="http://schemas.openxmlformats.org/officeDocument/2006/relationships/slide" Target="/ppt/slides/slide27.xml" Id="Rd7d28e7bee074605" /><Relationship Type="http://schemas.openxmlformats.org/officeDocument/2006/relationships/slide" Target="/ppt/slides/slide28.xml" Id="R653f985cb74e402a" /><Relationship Type="http://schemas.openxmlformats.org/officeDocument/2006/relationships/slide" Target="/ppt/slides/slide29.xml" Id="Rd16906dbafcd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048f86c40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8db05a2a8b4bad" /><Relationship Type="http://schemas.openxmlformats.org/officeDocument/2006/relationships/notesMaster" Target="/ppt/notesMasters/notesMaster1.xml" Id="Rc47318cc5ca546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aa16fa183441af" /><Relationship Type="http://schemas.openxmlformats.org/officeDocument/2006/relationships/notesMaster" Target="/ppt/notesMasters/notesMaster1.xml" Id="R4d5c7a1f4b2a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357bdf38fb4903" /><Relationship Type="http://schemas.openxmlformats.org/officeDocument/2006/relationships/notesMaster" Target="/ppt/notesMasters/notesMaster1.xml" Id="R07e98017c49b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a6fab15f55417e" /><Relationship Type="http://schemas.openxmlformats.org/officeDocument/2006/relationships/notesMaster" Target="/ppt/notesMasters/notesMaster1.xml" Id="R9760aaf03f3244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e38bd6ec61462e" /><Relationship Type="http://schemas.openxmlformats.org/officeDocument/2006/relationships/notesMaster" Target="/ppt/notesMasters/notesMaster1.xml" Id="Re56f513fdcbd46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38e920a96640dd" /><Relationship Type="http://schemas.openxmlformats.org/officeDocument/2006/relationships/notesMaster" Target="/ppt/notesMasters/notesMaster1.xml" Id="R53e0ff43ec1643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0d8bf6f5054708" /><Relationship Type="http://schemas.openxmlformats.org/officeDocument/2006/relationships/notesMaster" Target="/ppt/notesMasters/notesMaster1.xml" Id="Rddfcefe22a2745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debd68bc3e4d91" /><Relationship Type="http://schemas.openxmlformats.org/officeDocument/2006/relationships/notesMaster" Target="/ppt/notesMasters/notesMaster1.xml" Id="Rf06b3c82f3f346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0ae45fdcc24a7a" /><Relationship Type="http://schemas.openxmlformats.org/officeDocument/2006/relationships/notesMaster" Target="/ppt/notesMasters/notesMaster1.xml" Id="Rac3898b9c93149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f2a3b704b04d76" /><Relationship Type="http://schemas.openxmlformats.org/officeDocument/2006/relationships/notesMaster" Target="/ppt/notesMasters/notesMaster1.xml" Id="R30262803a0d647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151863d57a4bb7" /><Relationship Type="http://schemas.openxmlformats.org/officeDocument/2006/relationships/notesMaster" Target="/ppt/notesMasters/notesMaster1.xml" Id="R04a9954fa1744e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e273600e534bff" /><Relationship Type="http://schemas.openxmlformats.org/officeDocument/2006/relationships/notesMaster" Target="/ppt/notesMasters/notesMaster1.xml" Id="R874f1d26105c42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92bedc22004b1b" /><Relationship Type="http://schemas.openxmlformats.org/officeDocument/2006/relationships/notesMaster" Target="/ppt/notesMasters/notesMaster1.xml" Id="R05477e2afd0f49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6521a93c9b475e" /><Relationship Type="http://schemas.openxmlformats.org/officeDocument/2006/relationships/notesMaster" Target="/ppt/notesMasters/notesMaster1.xml" Id="R67196cb79f9d48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0c27242b7940b4" /><Relationship Type="http://schemas.openxmlformats.org/officeDocument/2006/relationships/notesMaster" Target="/ppt/notesMasters/notesMaster1.xml" Id="R2253c048dd2f44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a6196aa2f24ef3" /><Relationship Type="http://schemas.openxmlformats.org/officeDocument/2006/relationships/notesMaster" Target="/ppt/notesMasters/notesMaster1.xml" Id="R67311a1a7a9748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68fba574814939" /><Relationship Type="http://schemas.openxmlformats.org/officeDocument/2006/relationships/notesMaster" Target="/ppt/notesMasters/notesMaster1.xml" Id="R7476a832b16b4f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73747d28784967" /><Relationship Type="http://schemas.openxmlformats.org/officeDocument/2006/relationships/notesMaster" Target="/ppt/notesMasters/notesMaster1.xml" Id="R1b224ab52cc04a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ee746bef5946d4" /><Relationship Type="http://schemas.openxmlformats.org/officeDocument/2006/relationships/notesMaster" Target="/ppt/notesMasters/notesMaster1.xml" Id="R059f5995384247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ced677162240e1" /><Relationship Type="http://schemas.openxmlformats.org/officeDocument/2006/relationships/notesMaster" Target="/ppt/notesMasters/notesMaster1.xml" Id="R1834e5a1427e4f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be1424aebe42a3" /><Relationship Type="http://schemas.openxmlformats.org/officeDocument/2006/relationships/notesMaster" Target="/ppt/notesMasters/notesMaster1.xml" Id="Rd1240069cff14c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b1c3144ef34d5b" /><Relationship Type="http://schemas.openxmlformats.org/officeDocument/2006/relationships/notesMaster" Target="/ppt/notesMasters/notesMaster1.xml" Id="R09cb96d469ac47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a82eae815ca4b7e" /><Relationship Type="http://schemas.openxmlformats.org/officeDocument/2006/relationships/notesMaster" Target="/ppt/notesMasters/notesMaster1.xml" Id="Rb9f837235cb5427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dcc9ecb41e4296" /><Relationship Type="http://schemas.openxmlformats.org/officeDocument/2006/relationships/notesMaster" Target="/ppt/notesMasters/notesMaster1.xml" Id="R054dec32718b445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f0698bfd4f46ae" /><Relationship Type="http://schemas.openxmlformats.org/officeDocument/2006/relationships/notesMaster" Target="/ppt/notesMasters/notesMaster1.xml" Id="R8566a8e397ad40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0975a42c0a542e2" /><Relationship Type="http://schemas.openxmlformats.org/officeDocument/2006/relationships/notesMaster" Target="/ppt/notesMasters/notesMaster1.xml" Id="R8c07255be3b446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efac6cad4c4064" /><Relationship Type="http://schemas.openxmlformats.org/officeDocument/2006/relationships/notesMaster" Target="/ppt/notesMasters/notesMaster1.xml" Id="Rea51aee911b0459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8a8340e57dd4f6d" /><Relationship Type="http://schemas.openxmlformats.org/officeDocument/2006/relationships/notesMaster" Target="/ppt/notesMasters/notesMaster1.xml" Id="Rb660ec38b8dd49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ede45dc36c4518" /><Relationship Type="http://schemas.openxmlformats.org/officeDocument/2006/relationships/notesMaster" Target="/ppt/notesMasters/notesMaster1.xml" Id="R3a21cf4d408643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五篇笔记反复处理同一个困难：观测只给出表面实现，学习器怎样提取生成它们的共同原因，并把它用于下一阶段？报告先建立任务相关的同义表示，再计算有限样本何时显露它。接着借已知规则的后验区分学习与推断，将硬部件编码扩展到未知边界的软解析，最后把同一隐变量的不同语言实现接到共享几何。正文十八页按二十分钟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篇不是五套互不相干的理论。第一篇在固定生成树上学习同义块，第二篇去掉根监督，追踪同一层级规则在表面预测中留下的微弱统计。第三篇反过来暂时给定规则，用精确后验区分尚未学会规律与观测本来不确定。第四篇去掉已知边界，再把预测目标提升到隐层。第五篇让高层规则共享、低层实现随语言变化，用前面的恢复尺度与消息计算解释几何。共同对象是父与整个子元组的条件分布，区别在于已知什么、预测什么、恢复到哪种等价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https://li-fancheng.github.io/notes/hierarchical_data/generative_learning/#structure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https://li-fancheng.github.io/notes/hierarchical_data/language_statistics/#language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  <a:p xmlns:a="http://schemas.openxmlformats.org/drawingml/2006/main">
            <a:r>
              <a:t>https://li-fancheng.github.io/notes/hierarchical_data/inference_generation/#belief-propagation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https://li-fancheng.github.io/notes/hierarchical_data/parsing_latents/#parsing</a:t>
            </a:r>
          </a:p>
          <a:p xmlns:a="http://schemas.openxmlformats.org/drawingml/2006/main">
            <a:r>
              <a:t>本地正文：/Users/ldepression/Desktop/Li-Fancheng.github.io/notes/hierarchical_data/parsing_latents/body.md</a:t>
            </a:r>
          </a:p>
          <a:p xmlns:a="http://schemas.openxmlformats.org/drawingml/2006/main">
            <a:r>
              <a:t>https://li-fancheng.github.io/notes/hierarchical_data/shared_representations/#multilingual-model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固定一个局部位置，B 是完整子元组，A 等于 g(B)。生成图给出给定 A 后，B 的实现规则不再依赖根标签。把 p(y,b) 写成 p(y,a)p(b|a)，把 p(b) 写成 p(a)p(b|a)，相除时实现概率约去。这说明同义元组共享条件标签向量，但反命题要加入不同父状态的向量分离条件。表格是前一版两层小语法的参考左位置，A 的 aa、bb 对应同一向量。若每个经验向量误差最多 epsilon，同义点距离不超过二 epsilon，异义点至少 Delta 减二 epsilon。四 epsilon 小于 Delta 时，二者间存在聚类阈值。这是直接的三角不等式充分条件，不是原论文完整复杂度定理。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https://li-fancheng.github.io/notes/hierarchical_data/generative_learning/#synonyms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https://li-fancheng.github.io/notes/hierarchical_data/generative_learning/#gradient-details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https://li-fancheng.github.io/notes/hierarchical_data/generative_learning/#worked-grammar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固定类别与底层位置，沿生成路径有约 m 的 L 次方种规则选择，分配到约 mv 个合法元组。因此某个元组获得约 m 的 L 次方除以 mv 条路径，典型相对偏差是路径数的平方根倒数。这是固定随机字典带来的信号，不是观测噪声。P 个独立样本中，一个类别和一个局部元组的计数约为 P 除以 n_cmv，它的相对波动给出计数噪声。两式相除后词表与元组数抵消，平方信噪比为 P 除以 n_cm 的 L 次方，产生阈值尺度。路径并不严格独立，因此这是机制性的数量级推导，论文用规则统计方差分析支撑这个尺度。它没有证明任何算法都不能突破的下界。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https://li-fancheng.github.io/notes/hierarchical_data/generative_learning/#sample-complexity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https://arxiv.org/abs/2307.02129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现在看一个可以精确求解的训练阶段。假设不同局部块已经对应相互正交的单位特征，令 w_b 等于矩阵作用在该特征上的输出。按块条件分解平方损失，标签方差是与 W 无关的常数，剩下每个块的加权平方误差与正则项。对 w_b 求导得到 p_b(w_b−q_b)+lambda w_b等于零，所以输出是条件标签向量乘频率相关的收缩。再用各分量和归一化，收缩被消去。同义块出现频率不同，但归一化输出仍一致。表格取 lambda等于零点零五，两个块都属于 A，直接计算出收缩系数零点五和零点八。此页是正交字典特例，不能把它当作随机特征网络全部误差已经为零的结果。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https://li-fancheng.github.io/notes/hierarchical_data/generative_learning/#shallow-to-deep-chaining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上一页假定不同局部块可正交区分。实际算法用 Gaussian RBF 的随机 Fourier 特征实现近似。如果同一隐状态的低层表示簇直径最多 r，拼接 s 个孩子后，同一局部元组的波动最多根号 s乘r，而不同元组至少有一个孩子处于不同状态，具有间距 Delta。因此需要带宽处于根号s乘r和Delta之间。核把同一元组的低层实现放近，把不同元组映到近正交方向；之后标签回归再合并属于同一父状态的元组。证明还需要干净信号：低层实现的簇内波动在给定真实块后不额外透露根标签。否则回归可能利用表面残差拟合标签，破坏下一层可复用性。COLT定理在覆盖、标签分离、固定分组与独立阶段样本等条件下，给出页面底部的总样本上界。这里poly前因子和信号常数不能省去；详细条件放在备份。与第四篇的联系是，逐层方法必须证明每级恢复足够稳定，不能只把单层样本成本乘以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https://li-fancheng.github.io/notes/hierarchical_data/generative_learning/#shallow-to-deep-chaining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https://proceedings.mlr.press/v336/ren26a.html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篇的父状态是对根标签充分的摘要；第四篇把这种任务依赖性写成精确的信息损失恒等式。Z是输入X的确定函数时，压缩前后条件熵的差是I(Y;X|Z)，所以换目标Y，哪些差异允许丢弃也会变。根标签、另一个表面token和邻近隐状态，会通过不同的随机生成通道建立关系。只提升输入、不提升目标，仍要从高层穿过低层随机实现去影响表面词。这个差别解释后面为什么出现不同的深度成本；比较数字之前必须先保留监督信息与恢复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https://li-fancheng.github.io/notes/hierarchical_data/generative_learning/#synonyms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https://li-fancheng.github.io/notes/hierarchical_data/language_statistics/#architectures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  <a:p xmlns:a="http://schemas.openxmlformats.org/drawingml/2006/main">
            <a:r>
              <a:t>https://li-fancheng.github.io/notes/hierarchical_data/parsing_latents/#coarse-graining</a:t>
            </a:r>
          </a:p>
          <a:p xmlns:a="http://schemas.openxmlformats.org/drawingml/2006/main">
            <a:r>
              <a:t>本地正文：/Users/ldepression/Desktop/Li-Fancheng.github.io/notes/hierarchical_data/parsing_latents/body.md</a:t>
            </a:r>
          </a:p>
          <a:p xmlns:a="http://schemas.openxmlformats.org/drawingml/2006/main">
            <a:r>
              <a:t>https://li-fancheng.github.io/notes/hierarchical_data/parsing_latents/#latent-prediction</a:t>
            </a:r>
          </a:p>
          <a:p xmlns:a="http://schemas.openxmlformats.org/drawingml/2006/main">
            <a:r>
              <a:t>本地正文：/Users/ldepression/Desktop/Li-Fancheng.github.io/notes/hierarchical_data/parsing_latents/body.md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去掉根监督以后，两个叶 token 的关联需要经最近共同祖先的两侧路径传递。在大词表与均匀随机规则近似下，平台幅度是根号一减rho除以v三次方乘m的二ell减一次方。由 P 条独立序列估计联合共现，标准差约为一除以v根号P。配平后得到 P_ell 约为v乘m的二ell减一次方除以一减rho。共同祖先高度 ell 对应序列跨度 s的ell次方，因此可辨认层数对数据仅对数增长，有效距离是数据的幂。这一阈值研究两个可见token的统计，不能直接和根标签下的 P_c比较，也不能当作利用隐变量的全部算法下界。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https://li-fancheng.github.io/notes/hierarchical_data/language_statistics/#language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  <a:p xmlns:a="http://schemas.openxmlformats.org/drawingml/2006/main">
            <a:r>
              <a:t>https://arxiv.org/abs/2406.00048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给定近期上下文 Ct，更远信息记为 F。模型只使用 Ct时，它与完整上下文最优损失的差，精确分成两个非负项。第一项是丢弃远处信息损失的条件互信息，第二项是在保留上下文内仍未估准条件分布的平均 KL差异。强相关可以完全被近期上下文解释，此时再加入远处片段的条件收益为零。反过来，某个弱但能消歧的信号可以有重要价值。增加窗口主要尝试降低信息截断，增加独立数据与更好共享影响统计估计。恢复隐变量则可能同时缩短情境描述、汇总同义样本，影响两项。这把表示学习与有效上下文联系起来，但相关幅度本身不足以唯一决定损失标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https://li-fancheng.github.io/notes/hierarchical_data/language_statistics/#prediction-risk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若语法已知，叶观测 z 给出似然，向上消息是给定该父状态时子树观测的兼容概率。按合法完整产生式求和，并把各孩子子树的似然相乘。这在固定树上是精确递推，按稀疏字典组织可用约 O(dvms) 运算。向下消息还要把其他子树的证据带回来，乘积归一化才给完整节点后验。与之相对，逐层训练 q_b是参考位置下的总体条件标签向量，跨位置复用的是一套稳定坐标，不能把每处输出都解释成该处当前样本的标签后验。两者都是概率向量，却承担不同任务。生成还必须联合选择整条规则，精确单点边缘不能独立拼成合法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https://li-fancheng.github.io/notes/hierarchical_data/inference_generation/#belief-propagation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https://li-fancheng.github.io/notes/hierarchical_data/generative_learning/#shallow-to-deep-chaining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https://arxiv.org/abs/2404.18444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分类充分的父状态，可以忘记具体同义规则编号；生成时则必须通过条件分布重新采样这些细节。单点边缘准确也不意味着独立拼接合法，因为兄弟节点由同一条完整产生式约束。第三篇给出更强的联系：若真实和估计模型使用已对齐的隐变量，整树KL误差按局部条件分布链式分解，而叶分布误差不超过它。局部误差需要在整棵树上累积得足够小。支持集的合法性、概率频率与新组合覆盖还要分别评价。定义生成样本可合法解析到第ell层的概率Aell时，事件嵌套带来单调性，这能定位模型连贯到哪个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https://li-fancheng.github.io/notes/hierarchical_data/generative_learning/#synonyms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https://li-fancheng.github.io/notes/hierarchical_data/inference_generation/#belief-propagation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https://li-fancheng.github.io/notes/hierarchical_data/inference_generation/#generation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https://li-fancheng.github.io/notes/hierarchical_data/inference_generation/#error-accumulation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https://li-fancheng.github.io/notes/hierarchical_data/parsing_latents/#representation-goals</a:t>
            </a:r>
          </a:p>
          <a:p xmlns:a="http://schemas.openxmlformats.org/drawingml/2006/main">
            <a:r>
              <a:t>本地正文：/Users/ldepression/Desktop/Li-Fancheng.github.io/notes/hierarchical_data/parsing_latents/body.md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字典改变噪声，研究的是观测信息；固定噪声增加训练数据，研究的是规则估计。前向后向实验中，原隐状态与后验重采样状态在给定含噪观测后独立同分布，所以重合率等于后验概率平方和的期望。重采样后的总体分布仍可正确，却渐渐忘记这次输入身份。第三篇还定义连接协方差：先固定初始样本计算随机轨迹的协方差，再平均样本。若大小B的块内完全同变、块间独立且方差相同，易感性分子每块贡献B平方σ平方，分母Bσ平方，因此chi=B。这个观测把高层共同原因接到了可测的跨位置协同变化，但单独的峰不能确定唯一生成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https://li-fancheng.github.io/notes/hierarchical_data/inference_generation/#diffusion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https://li-fancheng.github.io/notes/hierarchical_data/inference_generation/#correlated-changes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https://li-fancheng.github.io/notes/hierarchical_data/language_statistics/#language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固定树的便利是预先知道哪几个相邻符号属于同一父状态。图中同一 abcde 可以二加三或三加二分割，分别得到不同类别。局部产生式即使无歧义，也不能排除全局歧义。Inside 权重对区间、合法产生式以及分割点求和，用子区间权重复用避免枚举全部树。若两种类别都只产生同一个字符串且先验相等，即使语法完全已知，后验仍为各一半。更多数据只能估准这个比例。最有可能的一棵树也不一定属于总概率最大的类别，因此不能用取最大值替代求和。这指出硬父状态编码只适合后验足够集中的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https://li-fancheng.github.io/notes/hierarchical_data/parsing_latents/#parsing</a:t>
            </a:r>
          </a:p>
          <a:p xmlns:a="http://schemas.openxmlformats.org/drawingml/2006/main">
            <a:r>
              <a:t>本地正文：/Users/ldepression/Desktop/Li-Fancheng.github.io/notes/hierarchical_data/parsing_latents/body.md</a:t>
            </a:r>
          </a:p>
          <a:p xmlns:a="http://schemas.openxmlformats.org/drawingml/2006/main">
            <a:r>
              <a:t>https://arxiv.org/abs/2602.06065</a:t>
            </a:r>
          </a:p>
          <a:p xmlns:a="http://schemas.openxmlformats.org/drawingml/2006/main">
            <a:r>
              <a:t>图：notes/hierarchical_data/figures/parsing.png，最小歧义例子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七页已经指出目标决定信号路径。第四篇的隐变量路线让待分组块B与附近目标Z一起进入新尺度，条件向量phi(B)=p(Z|B)仍然比较相近层的关系。下一轮不必把高层状态随机展开成某个底层词后再发现其联系。在固定共享语法与分离等条件下，这给出恢复非根层次的约tilde O(vm三次方)样本尺度，深度主要进入可靠性对数项。但它改变了目标，不能与根监督数字直接排名。最高层合法元组等概率时，重新分组根产生式不改变叶分布，根类别划分可能不可辨识。每级误差仍要控制，且非塌缩方差不等于保留了正确父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https://li-fancheng.github.io/notes/hierarchical_data/parsing_latents/#latent-prediction</a:t>
            </a:r>
          </a:p>
          <a:p xmlns:a="http://schemas.openxmlformats.org/drawingml/2006/main">
            <a:r>
              <a:t>本地正文：/Users/ldepression/Desktop/Li-Fancheng.github.io/notes/hierarchical_data/parsing_latents/body.md</a:t>
            </a:r>
          </a:p>
          <a:p xmlns:a="http://schemas.openxmlformats.org/drawingml/2006/main">
            <a:r>
              <a:t>https://li-fancheng.github.io/notes/hierarchical_data/generative_learning/#shallow-to-deep-chaining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https://li-fancheng.github.io/notes/hierarchical_data/language_statistics/#architectures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篇没有另起一套抽象假说，而是在同一层级模型上把低层规则拆成语言特异、高层规则保留共享。译文共享同一次高层变量实现Z，之后低层各自采样。已知规则时，下一词预测用第三篇的向上聚合和向下消息完成。把消息依次编码并保留在网络层中，就可能在进入共享层后形成相似关系，再在输出附近转回各自语言。它还用第二篇的有效恢复深度解释数据暴露：较弱的一种语言也必须学到共享层，增加另一种语言的数据不自动补足它的入口。中间峰依赖消息的存储与调度，并非任意最优预测器的必要性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https://li-fancheng.github.io/notes/hierarchical_data/shared_representations/#multilingual-model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https://li-fancheng.github.io/notes/hierarchical_data/shared_representations/#layer-profile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https://li-fancheng.github.io/notes/hierarchical_data/shared_representations/#exposure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https://li-fancheng.github.io/notes/hierarchical_data/inference_generation/#belief-propagation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https://li-fancheng.github.io/notes/hierarchical_data/language_statistics/#language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设两种语言共享同一个语义向量 z，但在各自不同的子空间编码，另外保留正负 c作为语言身份。每种语言内部的成对距离完全相同，因为常数身份坐标相减后消失，z仍在一个等距块中。两种表示也都包含 z，但 A上训练的读出 w等于u零零，直接作用 B时第一块恒为零，于是直接迁移失效。这个显式反例同时具有共享几何、语言身份可读以及固定探针不兼容。这把第一篇隐符号只可恢复到置换等价的自由度，扩展到了表示空间的坐标选择。跨语言混合语境、平行数据或共同任务可约束相对坐标。因而几何相似并不唯一确定共同计算。2026 年十月预印本用共享高层规则的模型区分这些性质。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https://li-fancheng.github.io/notes/hierarchical_data/shared_representations/#similarity-alignment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https://li-fancheng.github.io/notes/hierarchical_data/shared_representations/#cross-lingual-signal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https://arxiv.org/abs/2610.07168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语言先共同采样高层Z，再各自展开低层实现，这使内容共享可被精确定义。隐藏状态还可能保存旧的表面消息。用上一层做仿射预测并取残差，允许消除旋转与缩放后的旧消息，区别于逐坐标直接差分。下面数据来自笔记里的机制模型，六百对留出样本，十近邻，数值保留六位小数。它展示残差分析可能突出共享计算，但不是预训练LLM的真实提升幅度。确定性网络不增加关于输入的Shannon信息，这里的新指超出仿射可读出的计算。W与b需要在独立数据上拟合和评价，残差也不保证纯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https://li-fancheng.github.io/notes/hierarchical_data/shared_representations/#multilingual-model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https://li-fancheng.github.io/notes/hierarchical_data/shared_representations/#layerwise-novelty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https://arxiv.org/abs/2610.07168</a:t>
            </a:r>
          </a:p>
          <a:p xmlns:a="http://schemas.openxmlformats.org/drawingml/2006/main">
            <a:r>
              <a:t>数据：notes/hierarchical_data/figures/novelty.json，N=600,k=10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统一问题。第一篇给出同义类与状态编码，第二篇给出有限数据下的可见尺度和收益，第三篇建立精确推断与联合生成参照，第四篇说明有歧义时必须保留候选以及预测目标能改变成本，第五篇再区分内容、几何、坐标和计算可访问性。它们共同约束我们怎样声称一个网络学到了层次。层次复用需要足够可辨认的统计，统计变成稳定状态以后，还要按照任务保留后验、规则频率和必要依赖。共享几何则需要额外测量才能推进到共享方向或共同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https://li-fancheng.github.io/notes/hierarchical_data/language_statistics/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  <a:p xmlns:a="http://schemas.openxmlformats.org/drawingml/2006/main">
            <a:r>
              <a:t>https://li-fancheng.github.io/notes/hierarchical_data/inference_generation/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https://li-fancheng.github.io/notes/hierarchical_data/parsing_latents/</a:t>
            </a:r>
          </a:p>
          <a:p xmlns:a="http://schemas.openxmlformats.org/drawingml/2006/main">
            <a:r>
              <a:t>本地正文：/Users/ldepression/Desktop/Li-Fancheng.github.io/notes/hierarchical_data/parsing_latents/body.md</a:t>
            </a:r>
          </a:p>
          <a:p xmlns:a="http://schemas.openxmlformats.org/drawingml/2006/main">
            <a:r>
              <a:t>https://li-fancheng.github.io/notes/hierarchical_data/shared_representations/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固定树上，叶为第零层，根为第 L 层。每个父状态拥有 m 条有序 s 元组产生式，字典随机选定一次后，在训练和测试中共享。规则选择是每个节点重新采样的随机量。学习器接收 P 个独立的完整输入与根标签，不能读取中间状态。完整元组局部无歧义，给定子元组可以反推父状态，因此 m 不超过 v 的 s 减一次方。注意给定父状态并不使兄弟独立，因为产生式限制整个元组。下面的联合分布正是父与全体孩子的因子乘积。推断规则、估计统计量和训练网络是三个成本。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https://li-fancheng.github.io/notes/hierarchical_data/generative_learning/#rhm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https://arxiv.org/abs/2307.02129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暂时把完整局部块当成可区分的离散输入，消去网络首先要构造组合特征的困难。类别分数由隐藏字典参数 w_h(b) 与输出权重 a_hα 线性组合。交叉熵对类别分数的导数是预测概率减真实独热标签。初始化预测均匀时，对训练集平均，负梯度恰好包含经验联合频率减均匀基线。把联合频率分解成 p_hat(b)乘条件标签分布，就看清同义元组为什么获得相似更新方向。若元组频率不同，幅度可以不同。这个计算把统计信号接到了梯度，但仍不能代替构造非线性局部特征与整个多层训练过程的证明。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https://li-fancheng.github.io/notes/hierarchical_data/generative_learning/#gradient-details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https://arxiv.org/abs/2307.02129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COLT 2026 的正式结果取根类别数等于 v，固定已知分组与局部无歧义。合法参考块的概率有下界，非同义块的条件标签向量有定量分离。这两个条件分别控制覆盖与信号。算法在每阶段固定低层和随机特征，训练带正则平方损失，归一化后冻结当前层，并使用新独立样本。样本上界除了主要的 m 的 L 次方外，还保留关于覆盖、词表、层数、成功概率等参数的多项式与信号强度因子。几何级数说明各层样本成本的主要因子相加仍由底层主导。更细的保证来自可串联精度控制，不能简单重复一个单层结论。这个定理建立指定协议的正面学习保证，不包含所有浅层方法下界或一般端到端 SGD 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https://li-fancheng.github.io/notes/hierarchical_data/generative_learning/#shallow-to-deep-chaining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https://proceedings.mlr.press/v336/ren26a.html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构造独立均匀的正负一叶节点，根是所有叶节点乘积，用二叉奇偶门逐层计算。这是一个明确的层次组合函数，却不属于典型随机规则的信号分离假设。给定任意真子集，至少一个未观测叶仍均匀随机，因此根标签仍然均匀。这意味着任何未覆盖全部叶的局部块都没有条件标签偏好。完整输入可以精确决定标签，所以信息从未消失，但通过局部条件标签聚类的路线失效。不能把失效解释成所有算法均无法学习奇偶，只能说当前可分析的局部标签信号不再提供方向。这个反例把层次表示的存在与该表示的可辨认性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https://li-fancheng.github.io/notes/hierarchical_data/generative_learning/#sample-complexity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https://li-fancheng.github.io/notes/hierarchical_data/language_statistics/#prediction-risk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先采用出现一次就知道的覆盖模型。测试中尚未出现的规则质量是各频率乘以未出现概率的总和，大样本下用指数替代。令频率 c k负q，q大于一，将求和近似为积分，再代换u=Pc k负q，雅可比产生P的负一加一除以q次方，积分给Gamma一减一除以q。有限规则数会截断幂律区间。在真实层级分类中，辨认规则要积累约A=vm的L减一次方量级证据，B=s的L减一次方个底层实例又增加错误机会。尾部很小时，一减G的B次方约为B乘一减G，因此层次可以强烈改变前因子和渐近区间而不改变尾指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https://li-fancheng.github.io/notes/hierarchical_data/language_statistics/#rare-rules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  <a:p xmlns:a="http://schemas.openxmlformats.org/drawingml/2006/main">
            <a:r>
              <a:t>https://proceedings.mlr.press/v267/cagnetta25a.html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只允许零零或一一，B只允许一二或二一，根和规则等概率。两叶似然分别为零点六零点三零点一和零点一零点二零点七。完整规则权重归一化后是六六二十一二除以三十五。由表求左叶边缘六二十七二除以三十五、右叶边缘六八二十一除以三十五。如果独立采样，就以六乘二十一除以三十五平方的正概率生成零二，原语法却完全禁止这一项。正确联合采样先采根，再在给定根与观测后联合采整条产生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https://li-fancheng.github.io/notes/hierarchical_data/inference_generation/#belief-propagation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是先平均未归一化权重再做比值的退火近似，不能等同固定字典上的平均后验。正确子元组的乘积质量为p的s次方；其他候选中，m减一条归正确父状态、mv减一条总计合法，于是得到递推。F的一与一除以v都是固定点，正确分支附近导数约为s rho，关系到该分支的局部稳定性。原图右侧将同一递推反复迭代，说明分界可以随树深变尖；横轴为软证据插值噪声，不是高斯扩散时间。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https://li-fancheng.github.io/notes/hierarchical_data/inference_generation/#diffusion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https://arxiv.org/abs/2402.16991</a:t>
            </a:r>
          </a:p>
          <a:p xmlns:a="http://schemas.openxmlformats.org/drawingml/2006/main">
            <a:r>
              <a:t>图：notes/hierarchical_data/figures/denoising.png，退火均场软证据模型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KNN先在两种语言各自空间找邻居，再比较对应样本的邻居名单。独立均匀邻域的交集期望为k平方除以N减一，因此归一化基线是k除以N减一。它保持正交变换不变，不能约束直接读出坐标。置换句对索引保留各自几何，却破坏跨空间的真实对应，可构建无关基线。若选择多个层组合中的最高分，置换过程也必须包含相同的选层，否则搜索机会会抬高分数。局部邻域的一致性也不能取代全局距离、谱结构或功能干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https://li-fancheng.github.io/notes/hierarchical_data/shared_representations/#metrics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https://arxiv.org/abs/2602.14486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篇最后的概念几何补上一个必要对照。句子内部的生成组合树与概念之间的分类包含树不是同一对象。八叶分类树上的块核，由常数成分、四叶分支、两叶分支和叶内差异组成，各系数为正使它半正定。其特征子空间按粗到细排列，因此即使浅层分解共现矩阵也能形成层次几何。这个结果说明一幅树状或共享邻域图案并不唯一指认逐句解析或BP算法。需要在语境变化、组合干预和功能读出上继续区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https://li-fancheng.github.io/notes/hierarchical_data/shared_representations/#concept-geometry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  <a:p xmlns:a="http://schemas.openxmlformats.org/drawingml/2006/main">
            <a:r>
              <a:t>图：notes/hierarchical_data/figures/hierarchy_spectrum.png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三篇对应正文的模型、统计机制、训练保证和语言学习部分。正式定理使用COLT版本，单层ridge正交例子、三角不等式聚类间隙与任务对照来自笔记中的独立展开，不应误认为论文定理的原样陈述。其余参考来源也在逐页备注列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</a:t>
            </a:r>
          </a:p>
          <a:p xmlns:a="http://schemas.openxmlformats.org/drawingml/2006/main">
            <a:r>
              <a:t>https://li-fancheng.github.io/notes/hierarchical_data/generative_learning/</a:t>
            </a:r>
          </a:p>
          <a:p xmlns:a="http://schemas.openxmlformats.org/drawingml/2006/main">
            <a:r>
              <a:t>本地正文：/Users/ldepression/Desktop/Li-Fancheng.github.io/notes/hierarchical_data/generative_learning/body.md</a:t>
            </a:r>
          </a:p>
          <a:p xmlns:a="http://schemas.openxmlformats.org/drawingml/2006/main">
            <a:r>
              <a:t>https://li-fancheng.github.io/notes/hierarchical_data/language_statistics/</a:t>
            </a:r>
          </a:p>
          <a:p xmlns:a="http://schemas.openxmlformats.org/drawingml/2006/main">
            <a:r>
              <a:t>本地正文：/Users/ldepression/Desktop/Li-Fancheng.github.io/notes/hierarchical_data/language_statistics/body.md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技术备份，不计入 20 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这些工作分别使用已知语法推断、可变边界、非根隐变量恢复以及共享上层语言模型等不同设置。二零二六年新预印本的结论按其具体任务和条件理解。报告的核心线索来自层次结构数据与学习理论专题。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https://li-fancheng.github.io/notes/hierarchical_data/inference_generation/</a:t>
            </a:r>
          </a:p>
          <a:p xmlns:a="http://schemas.openxmlformats.org/drawingml/2006/main">
            <a:r>
              <a:t>本地正文：/Users/ldepression/Desktop/Li-Fancheng.github.io/notes/hierarchical_data/inference_generation/body.md</a:t>
            </a:r>
          </a:p>
          <a:p xmlns:a="http://schemas.openxmlformats.org/drawingml/2006/main">
            <a:r>
              <a:t>https://li-fancheng.github.io/notes/hierarchical_data/parsing_latents/</a:t>
            </a:r>
          </a:p>
          <a:p xmlns:a="http://schemas.openxmlformats.org/drawingml/2006/main">
            <a:r>
              <a:t>本地正文：/Users/ldepression/Desktop/Li-Fancheng.github.io/notes/hierarchical_data/parsing_latents/body.md</a:t>
            </a:r>
          </a:p>
          <a:p xmlns:a="http://schemas.openxmlformats.org/drawingml/2006/main">
            <a:r>
              <a:t>https://li-fancheng.github.io/notes/hierarchical_data/shared_representations/</a:t>
            </a:r>
          </a:p>
          <a:p xmlns:a="http://schemas.openxmlformats.org/drawingml/2006/main">
            <a:r>
              <a:t>本地正文：/Users/ldepression/Desktop/Li-Fancheng.github.io/notes/hierarchical_data/shared_representations/body.md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f3c1cf1b14e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93fb28d6947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7ea1155cd48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10960482a44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405bafee94e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4fce5029343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93D4EC-52A2-4F4D-BA87-756854937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BE3184-FB6C-4489-B312-12CF6F9B2F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BCD03B-6453-4FB7-99DF-50A143113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0311E4-8650-45DD-9ACF-2CBEC4F02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85D07A-8DA4-407D-8095-1AEAF208E3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67FA05-9260-466C-91B7-67B2C8F66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E0D2DC-605A-4B4E-A2C4-7F8380CB3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6BB4CB-758E-47C8-BCBB-7744FEC178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063B6A-8251-4E7F-B988-ADCEA872DD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0CDD6F-F620-4546-98E5-5280E5FBB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830003b1144675" /><Relationship Type="http://schemas.openxmlformats.org/officeDocument/2006/relationships/slideLayout" Target="/ppt/slideLayouts/slideLayout1.xml" Id="R129c94d586d44df1" /><Relationship Type="http://schemas.openxmlformats.org/officeDocument/2006/relationships/slideLayout" Target="/ppt/slideLayouts/slideLayout2.xml" Id="R45c2e5a0a7e14c18" /><Relationship Type="http://schemas.openxmlformats.org/officeDocument/2006/relationships/slideLayout" Target="/ppt/slideLayouts/slideLayout3.xml" Id="Rdc785321fc70488b" /><Relationship Type="http://schemas.openxmlformats.org/officeDocument/2006/relationships/slideLayout" Target="/ppt/slideLayouts/slideLayout4.xml" Id="R1ea5429b982f4b28" /><Relationship Type="http://schemas.openxmlformats.org/officeDocument/2006/relationships/slideLayout" Target="/ppt/slideLayouts/slideLayout5.xml" Id="R28685b28041a41f6" /><Relationship Type="http://schemas.openxmlformats.org/officeDocument/2006/relationships/slideLayout" Target="/ppt/slideLayouts/slideLayout6.xml" Id="Ra94cf69e89d640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9c94d586d44df1"/>
    <p:sldLayoutId xmlns:r="http://schemas.openxmlformats.org/officeDocument/2006/relationships" id="2147483650" r:id="R45c2e5a0a7e14c18"/>
    <p:sldLayoutId xmlns:r="http://schemas.openxmlformats.org/officeDocument/2006/relationships" id="2147483651" r:id="Rdc785321fc70488b"/>
    <p:sldLayoutId xmlns:r="http://schemas.openxmlformats.org/officeDocument/2006/relationships" id="2147483652" r:id="R1ea5429b982f4b28"/>
    <p:sldLayoutId xmlns:r="http://schemas.openxmlformats.org/officeDocument/2006/relationships" id="2147483653" r:id="R28685b28041a41f6"/>
    <p:sldLayoutId xmlns:r="http://schemas.openxmlformats.org/officeDocument/2006/relationships" id="2147483654" r:id="Ra94cf69e89d640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7a67f1fc743ac" /><Relationship Type="http://schemas.openxmlformats.org/officeDocument/2006/relationships/notesSlide" Target="/ppt/notesSlides/notesSlide1.xml" Id="Ra22218acba324f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b4aae1ab1438c" /><Relationship Type="http://schemas.openxmlformats.org/officeDocument/2006/relationships/notesSlide" Target="/ppt/notesSlides/notesSlide2.xml" Id="R1ea1dfecb02546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3009070d547d5" /><Relationship Type="http://schemas.openxmlformats.org/officeDocument/2006/relationships/notesSlide" Target="/ppt/notesSlides/notesSlide3.xml" Id="R58049cd7659446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40ebc682f456e" /><Relationship Type="http://schemas.openxmlformats.org/officeDocument/2006/relationships/notesSlide" Target="/ppt/notesSlides/notesSlide4.xml" Id="R28ac3fa9ca4c47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7388552cb4d06" /><Relationship Type="http://schemas.openxmlformats.org/officeDocument/2006/relationships/notesSlide" Target="/ppt/notesSlides/notesSlide5.xml" Id="R4728d3da167a4c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c9c5d28484111" /><Relationship Type="http://schemas.openxmlformats.org/officeDocument/2006/relationships/notesSlide" Target="/ppt/notesSlides/notesSlide6.xml" Id="R9df6db7d02494e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ddfaa782248ea" /><Relationship Type="http://schemas.openxmlformats.org/officeDocument/2006/relationships/notesSlide" Target="/ppt/notesSlides/notesSlide7.xml" Id="Rae926bfbc8bc4f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24a41404d4b7b" /><Relationship Type="http://schemas.openxmlformats.org/officeDocument/2006/relationships/notesSlide" Target="/ppt/notesSlides/notesSlide8.xml" Id="Rd1919b48a86f43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867499db3544a7" /><Relationship Type="http://schemas.openxmlformats.org/officeDocument/2006/relationships/notesSlide" Target="/ppt/notesSlides/notesSlide9.xml" Id="Ra820e08efbca43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0d356ae684eeb" /><Relationship Type="http://schemas.openxmlformats.org/officeDocument/2006/relationships/notesSlide" Target="/ppt/notesSlides/notesSlide10.xml" Id="Rbe6bb276fe3c4c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5366dc10343c3" /><Relationship Type="http://schemas.openxmlformats.org/officeDocument/2006/relationships/notesSlide" Target="/ppt/notesSlides/notesSlide11.xml" Id="R7f1b94940b784b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f2d9df9eb40ab" /><Relationship Type="http://schemas.openxmlformats.org/officeDocument/2006/relationships/notesSlide" Target="/ppt/notesSlides/notesSlide12.xml" Id="R4daa8e07d22443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45a123bd54804" /><Relationship Type="http://schemas.openxmlformats.org/officeDocument/2006/relationships/image" Target="/ppt/media/image.png" Id="R3dabc49d0fd94115" /><Relationship Type="http://schemas.openxmlformats.org/officeDocument/2006/relationships/notesSlide" Target="/ppt/notesSlides/notesSlide13.xml" Id="R834ddc8bfafb42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60742f704471d" /><Relationship Type="http://schemas.openxmlformats.org/officeDocument/2006/relationships/notesSlide" Target="/ppt/notesSlides/notesSlide14.xml" Id="R8ef0d1d015bf40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d1326ec1948d9" /><Relationship Type="http://schemas.openxmlformats.org/officeDocument/2006/relationships/notesSlide" Target="/ppt/notesSlides/notesSlide15.xml" Id="R68f3584279c047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c89ef45f14784" /><Relationship Type="http://schemas.openxmlformats.org/officeDocument/2006/relationships/notesSlide" Target="/ppt/notesSlides/notesSlide16.xml" Id="R90a3b2f9260c43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7767d68e54481" /><Relationship Type="http://schemas.openxmlformats.org/officeDocument/2006/relationships/chart" Target="/ppt/slides/charts/chart1.xml" Id="Rcbaff5b222314389" /><Relationship Type="http://schemas.openxmlformats.org/officeDocument/2006/relationships/chart" Target="/ppt/slides/charts/chart2.xml" Id="R037cf6d276984dd3" /><Relationship Type="http://schemas.openxmlformats.org/officeDocument/2006/relationships/notesSlide" Target="/ppt/notesSlides/notesSlide17.xml" Id="R7f065045702c4b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80849e6fa4a6b" /><Relationship Type="http://schemas.openxmlformats.org/officeDocument/2006/relationships/notesSlide" Target="/ppt/notesSlides/notesSlide18.xml" Id="R01f13009fe4343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b90df62914a45" /><Relationship Type="http://schemas.openxmlformats.org/officeDocument/2006/relationships/notesSlide" Target="/ppt/notesSlides/notesSlide19.xml" Id="R21025af3770c40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20468cdb8488d" /><Relationship Type="http://schemas.openxmlformats.org/officeDocument/2006/relationships/notesSlide" Target="/ppt/notesSlides/notesSlide20.xml" Id="Rc7bb152ef62b41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6adf0b9e64d23" /><Relationship Type="http://schemas.openxmlformats.org/officeDocument/2006/relationships/notesSlide" Target="/ppt/notesSlides/notesSlide21.xml" Id="R9f5e0a999e7443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202004d5e43cf" /><Relationship Type="http://schemas.openxmlformats.org/officeDocument/2006/relationships/notesSlide" Target="/ppt/notesSlides/notesSlide22.xml" Id="Rb5602d31481c449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d240105f743e2" /><Relationship Type="http://schemas.openxmlformats.org/officeDocument/2006/relationships/notesSlide" Target="/ppt/notesSlides/notesSlide23.xml" Id="R2b69994ac68c49c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e088f5fe448ff" /><Relationship Type="http://schemas.openxmlformats.org/officeDocument/2006/relationships/notesSlide" Target="/ppt/notesSlides/notesSlide24.xml" Id="Rd2b744da179a49d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6e93e5a8447dc" /><Relationship Type="http://schemas.openxmlformats.org/officeDocument/2006/relationships/image" Target="/ppt/media/image2.png" Id="R6a7e8221f1904621" /><Relationship Type="http://schemas.openxmlformats.org/officeDocument/2006/relationships/notesSlide" Target="/ppt/notesSlides/notesSlide25.xml" Id="R19795a720bba4c2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dc6013af9411c" /><Relationship Type="http://schemas.openxmlformats.org/officeDocument/2006/relationships/notesSlide" Target="/ppt/notesSlides/notesSlide26.xml" Id="R0f3a0f5924c540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fca56ca6948b9" /><Relationship Type="http://schemas.openxmlformats.org/officeDocument/2006/relationships/image" Target="/ppt/media/image3.png" Id="R2a7b348bd1a0415b" /><Relationship Type="http://schemas.openxmlformats.org/officeDocument/2006/relationships/notesSlide" Target="/ppt/notesSlides/notesSlide27.xml" Id="R9e09d42a66ae4a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e43cd2518472a" /><Relationship Type="http://schemas.openxmlformats.org/officeDocument/2006/relationships/hyperlink" Target="https://arxiv.org/abs/2307.02129" TargetMode="External" Id="Rb562baa8f16f44de" /><Relationship Type="http://schemas.openxmlformats.org/officeDocument/2006/relationships/hyperlink" Target="https://arxiv.org/abs/2307.02129" TargetMode="External" Id="R2c4e77d2faaa4c58" /><Relationship Type="http://schemas.openxmlformats.org/officeDocument/2006/relationships/hyperlink" Target="https://proceedings.mlr.press/v336/ren26a.html" TargetMode="External" Id="R09ef05a7e1774176" /><Relationship Type="http://schemas.openxmlformats.org/officeDocument/2006/relationships/hyperlink" Target="https://proceedings.mlr.press/v336/ren26a.html" TargetMode="External" Id="R7f8cb63045e64cb9" /><Relationship Type="http://schemas.openxmlformats.org/officeDocument/2006/relationships/hyperlink" Target="https://arxiv.org/abs/2406.00048" TargetMode="External" Id="R5d32b289972d4817" /><Relationship Type="http://schemas.openxmlformats.org/officeDocument/2006/relationships/hyperlink" Target="https://arxiv.org/abs/2406.00048" TargetMode="External" Id="R0e5bd48400ea443c" /><Relationship Type="http://schemas.openxmlformats.org/officeDocument/2006/relationships/hyperlink" Target="https://proceedings.mlr.press/v267/cagnetta25a.html" TargetMode="External" Id="Rc36f0743189b4006" /><Relationship Type="http://schemas.openxmlformats.org/officeDocument/2006/relationships/hyperlink" Target="https://proceedings.mlr.press/v267/cagnetta25a.html" TargetMode="External" Id="Rf60c7581266d49c6" /><Relationship Type="http://schemas.openxmlformats.org/officeDocument/2006/relationships/notesSlide" Target="/ppt/notesSlides/notesSlide28.xml" Id="R10497eaf9b07420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f0251765c44c3" /><Relationship Type="http://schemas.openxmlformats.org/officeDocument/2006/relationships/hyperlink" Target="https://arxiv.org/abs/2404.18444" TargetMode="External" Id="Rd329abe5e01e4af5" /><Relationship Type="http://schemas.openxmlformats.org/officeDocument/2006/relationships/hyperlink" Target="https://arxiv.org/abs/2602.06065" TargetMode="External" Id="R113ae35273ec4f20" /><Relationship Type="http://schemas.openxmlformats.org/officeDocument/2006/relationships/hyperlink" Target="https://arxiv.org/abs/2602.06065" TargetMode="External" Id="R9b78983fb5bb4195" /><Relationship Type="http://schemas.openxmlformats.org/officeDocument/2006/relationships/hyperlink" Target="https://arxiv.org/abs/2605.27734" TargetMode="External" Id="R2fa9004f6969406a" /><Relationship Type="http://schemas.openxmlformats.org/officeDocument/2006/relationships/hyperlink" Target="https://arxiv.org/abs/2605.27734" TargetMode="External" Id="R1253fa616a604b6f" /><Relationship Type="http://schemas.openxmlformats.org/officeDocument/2006/relationships/hyperlink" Target="https://arxiv.org/abs/2610.07168" TargetMode="External" Id="R7cfef973fbb84ac0" /><Relationship Type="http://schemas.openxmlformats.org/officeDocument/2006/relationships/hyperlink" Target="https://arxiv.org/abs/2610.07168" TargetMode="External" Id="R04904aaf0d9b405d" /><Relationship Type="http://schemas.openxmlformats.org/officeDocument/2006/relationships/hyperlink" Target="https://li-fancheng.github.io/notes/hierarchical_data/" TargetMode="External" Id="R8f058a000b594ffc" /><Relationship Type="http://schemas.openxmlformats.org/officeDocument/2006/relationships/notesSlide" Target="/ppt/notesSlides/notesSlide29.xml" Id="Rabb91bb2e93b41a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mKNN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2866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F63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4877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原始表示</c:v>
                </c:pt>
                <c:pt idx="1">
                  <c:v>直接差分</c:v>
                </c:pt>
                <c:pt idx="2">
                  <c:v>仿射残差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0.2185</c:v>
                </c:pt>
                <c:pt idx="1">
                  <c:v>0.214</c:v>
                </c:pt>
                <c:pt idx="2">
                  <c:v>0.870667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374B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1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D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II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2866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F63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4877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原始表示</c:v>
                </c:pt>
                <c:pt idx="1">
                  <c:v>直接差分</c:v>
                </c:pt>
                <c:pt idx="2">
                  <c:v>仿射残差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0.860228</c:v>
                </c:pt>
                <c:pt idx="1">
                  <c:v>0.88935</c:v>
                </c:pt>
                <c:pt idx="2">
                  <c:v>0.006206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374B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1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D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研究讨论  ·  层次结构数据与学习理论">
            <a:extLst xmlns:a="http://schemas.openxmlformats.org/drawingml/2006/main">
              <a:ext uri="{FF2B5EF4-FFF2-40B4-BE49-F238E27FC236}">
                <a16:creationId xmlns:a16="http://schemas.microsoft.com/office/drawing/2014/main" id="{59147EB9-3FE7-4475-A245-0BB169A3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研究讨论  ·  层次结构数据与学习理论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400C5A4E-D709-469D-A937-B14D19F3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层次结构数据&#10;与可复用的表示">
            <a:extLst xmlns:a="http://schemas.openxmlformats.org/drawingml/2006/main">
              <a:ext uri="{FF2B5EF4-FFF2-40B4-BE49-F238E27FC236}">
                <a16:creationId xmlns:a16="http://schemas.microsoft.com/office/drawing/2014/main" id="{F09DFE2B-ABEC-4E6A-917F-0F7D0CA2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层次结构数据</a:t>
            </a:r>
          </a:p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与可复用的表示</a:t>
            </a:r>
          </a:p>
        </p:txBody>
      </p:sp>
      <p:sp>
        <p:nvSpPr>
          <p:cNvPr id="4" name="同义统计、后验推断与共享几何">
            <a:extLst xmlns:a="http://schemas.openxmlformats.org/drawingml/2006/main">
              <a:ext uri="{FF2B5EF4-FFF2-40B4-BE49-F238E27FC236}">
                <a16:creationId xmlns:a16="http://schemas.microsoft.com/office/drawing/2014/main" id="{8F423073-0A0B-483B-993C-50F207D5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B8D5E8"/>
                </a:solidFill>
                <a:latin typeface="PingFang SC"/>
                <a:ea typeface="PingFang SC"/>
                <a:cs typeface="PingFang SC"/>
              </a:rPr>
              <a:t>同义统计、后验推断与共享几何</a:t>
            </a:r>
          </a:p>
        </p:txBody>
      </p:sp>
      <p:sp>
        <p:nvSpPr>
          <p:cNvPr id="5" name="以五篇笔记中的共同机制为主线">
            <a:extLst xmlns:a="http://schemas.openxmlformats.org/drawingml/2006/main">
              <a:ext uri="{FF2B5EF4-FFF2-40B4-BE49-F238E27FC236}">
                <a16:creationId xmlns:a16="http://schemas.microsoft.com/office/drawing/2014/main" id="{4AABEF14-79E2-4589-BF12-F2CE24F3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以五篇笔记中的共同机制为主线</a:t>
            </a:r>
          </a:p>
        </p:txBody>
      </p:sp>
      <p:sp>
        <p:nvSpPr>
          <p:cNvPr id="6" name="Li Fancheng">
            <a:extLst xmlns:a="http://schemas.openxmlformats.org/drawingml/2006/main">
              <a:ext uri="{FF2B5EF4-FFF2-40B4-BE49-F238E27FC236}">
                <a16:creationId xmlns:a16="http://schemas.microsoft.com/office/drawing/2014/main" id="{5F7D775B-0FC4-481C-9F20-305C52A8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Li Fancheng</a:t>
            </a:r>
          </a:p>
        </p:txBody>
      </p:sp>
    </p:spTree>
    <p:extLst>
      <p:ext uri="{BB962C8B-B14F-4D97-AF65-F5344CB8AC3E}">
        <p14:creationId xmlns:p14="http://schemas.microsoft.com/office/powerpoint/2010/main" val="1303080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070173-9A36-486C-8D8F-E5D91D59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五篇笔记共享一个问题：隐变量怎样成为可用表示</a:t>
            </a:r>
          </a:p>
        </p:txBody>
      </p:sp>
      <p:sp>
        <p:nvSpPr>
          <p:cNvPr id="2" name="共同模型与问题依赖">
            <a:extLst xmlns:a="http://schemas.openxmlformats.org/drawingml/2006/main">
              <a:ext uri="{FF2B5EF4-FFF2-40B4-BE49-F238E27FC236}">
                <a16:creationId xmlns:a16="http://schemas.microsoft.com/office/drawing/2014/main" id="{7851EAEB-F00A-425B-955F-C746996D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共同模型与问题依赖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673ABC0B-F121-4EBB-B464-1FE1D48E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C55030B-B312-42AA-B5B3-A0939D38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73717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p(y,h,x) = (1/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BB0B9894-A99B-4CC4-AA38-30EE6A2F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720" y="1323975"/>
            <a:ext cx="19050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4FDE81A-9B8C-4DE3-AFC4-3748F99C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645" y="1498854"/>
            <a:ext cx="134398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FB83B921-25D1-4C2E-86CE-E07459F8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467" y="1323975"/>
            <a:ext cx="21736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1B2DFD71-8003-4FDB-92E6-1A5C6599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78" y="1323975"/>
            <a:ext cx="29518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∏</a:t>
            </a:r>
          </a:p>
        </p:txBody>
      </p:sp>
      <p:sp>
        <p:nvSpPr>
          <p:cNvPr id="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31E5CCB7-1277-408B-B1CC-8F2AA9A7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1498854"/>
            <a:ext cx="30480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ℓ,u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A5660752-55E1-4BA7-88F4-B4B329EE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08" y="1323975"/>
            <a:ext cx="109538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DA3BB9DB-A471-4BA6-A6CE-EED8F3D8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095" y="1323975"/>
            <a:ext cx="226409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BE8B7D1-3F4C-4C83-8F5A-870B1121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929" y="1498854"/>
            <a:ext cx="142018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09CF8FD2-667C-479C-9D3B-364B9BB7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372" y="1323975"/>
            <a:ext cx="298323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(h</a:t>
            </a:r>
          </a:p>
        </p:txBody>
      </p:sp>
      <p:sp>
        <p:nvSpPr>
          <p:cNvPr id="1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AAD2420-F1C2-4729-A6E0-64FA7FB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645" y="1498854"/>
            <a:ext cx="724948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child(u)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C8687023-709D-4F51-827A-8FEF4418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018" y="1323975"/>
            <a:ext cx="255365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 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60D1B36A-DAD6-451A-A746-B6110148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333" y="1323975"/>
            <a:ext cx="19050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47382E8-7375-4472-9070-CF7A02C7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258" y="1498854"/>
            <a:ext cx="14659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218B7472-4DDC-4185-AC1F-86A08E97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273" y="1323975"/>
            <a:ext cx="136398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BE4E7-B467-4E2F-8CF0-1DCC5CF03DAB}"/>
              </a:ext>
            </a:extLst>
          </p:cNvPr>
          <p:cNvGraphicFramePr/>
          <p:nvPr/>
        </p:nvGraphicFramePr>
        <p:xfrm>
          <a:off xmlns:a="http://schemas.openxmlformats.org/drawingml/2006/main" x="609600" y="24098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3695700"/>
                <a:gridCol w="4895850"/>
              </a:tblGrid>
              <a:tr h="581025">
                <a:tc>
                  <a:txBody>
                    <a:bodyPr lIns="104775" tIns="104775" rIns="104775" bIns="1047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笔记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改变的问题设置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需要恢复的关系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81025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01 生成学习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中间状态不提供监督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同义类与可复用的父状态编码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02 语言统计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以表面 token 替代根标签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可分辨的关联尺度与预测信息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03 推断生成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规则已知，观测含噪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后验不确定性与联合约束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04 解析与隐变量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边界未知，或提升预测目标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软解析表与逐层隐状态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05 共享表示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共享高层，不同表面规则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共同几何、相对坐标与可访问性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叶层 0，根层 L，d=sᴸ；v 为词表，m 为规则数，n_c ">
            <a:extLst xmlns:a="http://schemas.openxmlformats.org/drawingml/2006/main">
              <a:ext uri="{FF2B5EF4-FFF2-40B4-BE49-F238E27FC236}">
                <a16:creationId xmlns:a16="http://schemas.microsoft.com/office/drawing/2014/main" id="{B2751E77-317C-4C5E-82D9-A62D815F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叶层 0，根层 L，d=sᴸ；v 为词表，m 为规则数，n_c 为类别数，P 为独立样本数</a:t>
            </a:r>
          </a:p>
        </p:txBody>
      </p:sp>
    </p:spTree>
    <p:extLst>
      <p:ext uri="{BB962C8B-B14F-4D97-AF65-F5344CB8AC3E}">
        <p14:creationId xmlns:p14="http://schemas.microsoft.com/office/powerpoint/2010/main" val="1257464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E4590B-3E35-4725-94EC-5E095C1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条件标签分布给出任务充分的部件编码</a:t>
            </a:r>
          </a:p>
        </p:txBody>
      </p:sp>
      <p:sp>
        <p:nvSpPr>
          <p:cNvPr id="2" name="01 任务充分性 / 04 表示目标">
            <a:extLst xmlns:a="http://schemas.openxmlformats.org/drawingml/2006/main">
              <a:ext uri="{FF2B5EF4-FFF2-40B4-BE49-F238E27FC236}">
                <a16:creationId xmlns:a16="http://schemas.microsoft.com/office/drawing/2014/main" id="{F70BB199-E38B-4128-8634-08E0A9A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01 任务充分性 / 04 表示目标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987A71F9-011A-4E93-A67B-FC723BB4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固定位置，a=g(b) 为局部块的父状态">
            <a:extLst xmlns:a="http://schemas.openxmlformats.org/drawingml/2006/main">
              <a:ext uri="{FF2B5EF4-FFF2-40B4-BE49-F238E27FC236}">
                <a16:creationId xmlns:a16="http://schemas.microsoft.com/office/drawing/2014/main" id="{2ED62751-60B0-476A-BCF9-164D138C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固定位置，a=g(b) 为局部块的父状态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C7833D85-80BD-4F96-854B-084A9120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295227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p(y,b) = p(y,a) p(b | a)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93DC118A-FEFC-4F87-A1EC-A9C04CD6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495550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p(b) = p(a) p(b | a)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4C414714-9D9C-4FE8-908B-03B23CC0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532412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p(y | b) = p(y | a)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BE287-998B-43AB-A322-7CBF2A042F70}"/>
              </a:ext>
            </a:extLst>
          </p:cNvPr>
          <p:cNvGraphicFramePr/>
          <p:nvPr/>
        </p:nvGraphicFramePr>
        <p:xfrm>
          <a:off xmlns:a="http://schemas.openxmlformats.org/drawingml/2006/main" x="6953250" y="1409700"/>
          <a:ext xmlns:a="http://schemas.openxmlformats.org/drawingml/2006/main" cx="4629150" cy="2552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2914650"/>
              </a:tblGrid>
              <a:tr h="638175"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同义块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q(b) = p(Y | b)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638175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aa，bb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(1, 0)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ab，ba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(1/2, 1/2)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cc，dd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(0, 1)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096D04BD-8A9C-428C-9BD4-C78A8298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79215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Δ = 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17AE9686-84CA-429E-8F77-3E4C60A6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765" y="4333875"/>
            <a:ext cx="547211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min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D21819E-820D-4444-8D7C-92A7F7FA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02" y="4513898"/>
            <a:ext cx="519494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 ≠ a′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FEBC94A8-82E7-41C6-B161-3CAB71E6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" y="4333875"/>
            <a:ext cx="240125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||q(a) − q(a′)|| &gt; 0</a:t>
            </a:r>
          </a:p>
        </p:txBody>
      </p:sp>
      <p:sp>
        <p:nvSpPr>
          <p:cNvPr id="13" name="同义性给出相等关系，分离条件才允许从统计量恢复分组">
            <a:extLst xmlns:a="http://schemas.openxmlformats.org/drawingml/2006/main">
              <a:ext uri="{FF2B5EF4-FFF2-40B4-BE49-F238E27FC236}">
                <a16:creationId xmlns:a16="http://schemas.microsoft.com/office/drawing/2014/main" id="{2DF15A2E-252D-481C-BDEF-29F6E59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rPr>
              <a:t>同义性给出相等关系，分离条件才允许从统计量恢复分组</a:t>
            </a:r>
          </a:p>
        </p:txBody>
      </p:sp>
      <p:sp>
        <p:nvSpPr>
          <p:cNvPr id="14" name="经验误差 ε &lt; Δ/4 时，同义与非同义点之间存在距离间隙">
            <a:extLst xmlns:a="http://schemas.openxmlformats.org/drawingml/2006/main">
              <a:ext uri="{FF2B5EF4-FFF2-40B4-BE49-F238E27FC236}">
                <a16:creationId xmlns:a16="http://schemas.microsoft.com/office/drawing/2014/main" id="{8E0C0C37-16BF-4351-B834-03D04930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经验误差 ε &lt; Δ/4 时，同义与非同义点之间存在距离间隙</a:t>
            </a:r>
          </a:p>
        </p:txBody>
      </p:sp>
    </p:spTree>
    <p:extLst>
      <p:ext uri="{BB962C8B-B14F-4D97-AF65-F5344CB8AC3E}">
        <p14:creationId xmlns:p14="http://schemas.microsoft.com/office/powerpoint/2010/main" val="1212821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D4CD03-1BCD-43FF-9C5A-B0D8B4A1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样本阈值来自路径涨落与计数噪声的配平</a:t>
            </a:r>
          </a:p>
        </p:txBody>
      </p:sp>
      <p:sp>
        <p:nvSpPr>
          <p:cNvPr id="2" name="01 标签信号 / 02 统计分辨率">
            <a:extLst xmlns:a="http://schemas.openxmlformats.org/drawingml/2006/main">
              <a:ext uri="{FF2B5EF4-FFF2-40B4-BE49-F238E27FC236}">
                <a16:creationId xmlns:a16="http://schemas.microsoft.com/office/drawing/2014/main" id="{D1AF344F-6BCC-4371-8E4B-DE14EB61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01 标签信号 / 02 统计分辨率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A7E5BE1F-D152-4F2D-84AE-1C8F0CB4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固定语法中的类别偏好">
            <a:extLst xmlns:a="http://schemas.openxmlformats.org/drawingml/2006/main">
              <a:ext uri="{FF2B5EF4-FFF2-40B4-BE49-F238E27FC236}">
                <a16:creationId xmlns:a16="http://schemas.microsoft.com/office/drawing/2014/main" id="{9640A469-BEE9-42ED-919C-250D0260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固定语法中的类别偏好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52AF80D0-90AC-4334-A8A7-363CD440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762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05EB2F9-B630-494A-9EFC-1E8EFFA6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3016"/>
            <a:ext cx="433673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path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3EA9B7FA-A207-4F0E-8DE4-8B5D9131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8" y="1847850"/>
            <a:ext cx="38823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≈ 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B4C79231-A93A-4A10-AF48-0E482A62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537" y="1847850"/>
            <a:ext cx="29527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9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38EA5E6D-9651-47C6-B026-290B0F3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237" y="1765554"/>
            <a:ext cx="178403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15AEB3BF-C3F8-4F43-9DA0-93AE796D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65" y="1847850"/>
            <a:ext cx="14761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/(mv)        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EE08E60C-3304-41C2-B472-B2103112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19011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1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E158F28F-D682-4403-B475-493540C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2033016"/>
            <a:ext cx="306229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sig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25B155AB-317B-423E-8090-2FF49962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398" y="1847850"/>
            <a:ext cx="3885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∼ 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6C3B7E5B-9842-4CE6-BF27-0640ABA5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872" y="1847850"/>
            <a:ext cx="2762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6F74A49-41EF-4674-8AD8-814B2B0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522" y="2033016"/>
            <a:ext cx="433673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path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6C100632-D13D-402E-A20D-A6F1360C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621" y="1847850"/>
            <a:ext cx="1143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7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B50EA6C1-5D24-44A2-BCC6-D949B8B2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871" y="1765554"/>
            <a:ext cx="461200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−1/2</a:t>
            </a:r>
          </a:p>
        </p:txBody>
      </p:sp>
      <p:sp>
        <p:nvSpPr>
          <p:cNvPr id="18" name="有限训练集的经验计数">
            <a:extLst xmlns:a="http://schemas.openxmlformats.org/drawingml/2006/main">
              <a:ext uri="{FF2B5EF4-FFF2-40B4-BE49-F238E27FC236}">
                <a16:creationId xmlns:a16="http://schemas.microsoft.com/office/drawing/2014/main" id="{EB64CF9F-7497-4EA6-A1A1-C74A10AB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有限训练集的经验计数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63202327-4B38-4AD5-9F36-4BF19546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762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DCB40EA-E292-447C-B3A4-2EF7024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1291"/>
            <a:ext cx="325279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b,y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E1A0ED2B-F7DE-4738-928C-5DBFF217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54" y="3286125"/>
            <a:ext cx="7883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≈ P/(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4AE97F3B-1E07-427B-869D-AA2D1F8D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288" y="3286125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6F35548-0061-4CFD-84DD-21922967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738" y="3471291"/>
            <a:ext cx="140113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4" name="equation">
            <a:extLst xmlns:a="http://schemas.openxmlformats.org/drawingml/2006/main">
              <a:ext uri="{FF2B5EF4-FFF2-40B4-BE49-F238E27FC236}">
                <a16:creationId xmlns:a16="http://schemas.microsoft.com/office/drawing/2014/main" id="{3315B5F7-18F0-44E9-B7B7-BC8D37C4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276" y="3286125"/>
            <a:ext cx="126673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mv)        </a:t>
            </a:r>
          </a:p>
        </p:txBody>
      </p:sp>
      <p:sp>
        <p:nvSpPr>
          <p:cNvPr id="25" name="equation">
            <a:extLst xmlns:a="http://schemas.openxmlformats.org/drawingml/2006/main">
              <a:ext uri="{FF2B5EF4-FFF2-40B4-BE49-F238E27FC236}">
                <a16:creationId xmlns:a16="http://schemas.microsoft.com/office/drawing/2014/main" id="{2D939314-201E-47A0-A30E-0D70C88A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956" y="3286125"/>
            <a:ext cx="19011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2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6B69F92-CB31-4B32-8317-A4B0EF10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500" y="3471291"/>
            <a:ext cx="523018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noise</a:t>
            </a:r>
          </a:p>
        </p:txBody>
      </p:sp>
      <p:sp>
        <p:nvSpPr>
          <p:cNvPr id="27" name="equation">
            <a:extLst xmlns:a="http://schemas.openxmlformats.org/drawingml/2006/main">
              <a:ext uri="{FF2B5EF4-FFF2-40B4-BE49-F238E27FC236}">
                <a16:creationId xmlns:a16="http://schemas.microsoft.com/office/drawing/2014/main" id="{E9AF8EA9-0A4C-49CF-BB8C-693C953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942" y="3286125"/>
            <a:ext cx="3885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∼ 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29CF8104-8122-48A7-815C-2087E13D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417" y="3286125"/>
            <a:ext cx="2762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5661501-E967-4F6B-9AF8-1AFEAAA3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067" y="3471291"/>
            <a:ext cx="325279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b,y</a:t>
            </a:r>
          </a:p>
        </p:txBody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1D319F9D-F091-41D8-89B2-D2C42AF0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771" y="3286125"/>
            <a:ext cx="1143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31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A71216EA-9565-4563-BEF8-8B17D2B0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021" y="3203829"/>
            <a:ext cx="461200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−1/2</a:t>
            </a:r>
          </a:p>
        </p:txBody>
      </p:sp>
      <p:sp>
        <p:nvSpPr>
          <p:cNvPr id="32" name="equation">
            <a:extLst xmlns:a="http://schemas.openxmlformats.org/drawingml/2006/main">
              <a:ext uri="{FF2B5EF4-FFF2-40B4-BE49-F238E27FC236}">
                <a16:creationId xmlns:a16="http://schemas.microsoft.com/office/drawing/2014/main" id="{35F2C56D-3ED4-45E8-808E-D0A35E03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806767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SNR</a:t>
            </a:r>
          </a:p>
        </p:txBody>
      </p:sp>
      <p:sp>
        <p:nvSpPr>
          <p:cNvPr id="33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C6D49D95-3EB5-4CBA-ABCC-6D8A0A7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" y="4275963"/>
            <a:ext cx="172117" cy="44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4" name="equation">
            <a:extLst xmlns:a="http://schemas.openxmlformats.org/drawingml/2006/main">
              <a:ext uri="{FF2B5EF4-FFF2-40B4-BE49-F238E27FC236}">
                <a16:creationId xmlns:a16="http://schemas.microsoft.com/office/drawing/2014/main" id="{D2FE9866-471F-484B-B70D-AEBDD3F2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334" y="4371975"/>
            <a:ext cx="915448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∼ P/(</a:t>
            </a:r>
          </a:p>
        </p:txBody>
      </p:sp>
      <p:sp>
        <p:nvSpPr>
          <p:cNvPr id="35" name="equation">
            <a:extLst xmlns:a="http://schemas.openxmlformats.org/drawingml/2006/main">
              <a:ext uri="{FF2B5EF4-FFF2-40B4-BE49-F238E27FC236}">
                <a16:creationId xmlns:a16="http://schemas.microsoft.com/office/drawing/2014/main" id="{A161ACB5-183A-4D52-BFA8-1148351D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732" y="4371975"/>
            <a:ext cx="228600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3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6CBBA2E-A519-4124-A5AB-4EA73288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757" y="4588002"/>
            <a:ext cx="157067" cy="44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7" name="equation">
            <a:extLst xmlns:a="http://schemas.openxmlformats.org/drawingml/2006/main">
              <a:ext uri="{FF2B5EF4-FFF2-40B4-BE49-F238E27FC236}">
                <a16:creationId xmlns:a16="http://schemas.microsoft.com/office/drawing/2014/main" id="{52310896-BAB8-4852-B584-1D41A470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249" y="4371975"/>
            <a:ext cx="339757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3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1D538133-B2F4-4C0B-8115-3BBD908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431" y="4275963"/>
            <a:ext cx="201835" cy="44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9" name="equation">
            <a:extLst xmlns:a="http://schemas.openxmlformats.org/drawingml/2006/main">
              <a:ext uri="{FF2B5EF4-FFF2-40B4-BE49-F238E27FC236}">
                <a16:creationId xmlns:a16="http://schemas.microsoft.com/office/drawing/2014/main" id="{2D9052E7-EEF4-4E48-A5A9-798219AF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91" y="4371975"/>
            <a:ext cx="961930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)        </a:t>
            </a:r>
          </a:p>
        </p:txBody>
      </p:sp>
      <p:sp>
        <p:nvSpPr>
          <p:cNvPr id="40" name="equation">
            <a:extLst xmlns:a="http://schemas.openxmlformats.org/drawingml/2006/main">
              <a:ext uri="{FF2B5EF4-FFF2-40B4-BE49-F238E27FC236}">
                <a16:creationId xmlns:a16="http://schemas.microsoft.com/office/drawing/2014/main" id="{D2593485-A092-4408-864B-8CB72FBF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570" y="4371975"/>
            <a:ext cx="251079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4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D1D73F00-258D-422C-96C1-958F681B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074" y="4588002"/>
            <a:ext cx="157067" cy="44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42" name="equation">
            <a:extLst xmlns:a="http://schemas.openxmlformats.org/drawingml/2006/main">
              <a:ext uri="{FF2B5EF4-FFF2-40B4-BE49-F238E27FC236}">
                <a16:creationId xmlns:a16="http://schemas.microsoft.com/office/drawing/2014/main" id="{2D93077E-530A-488D-BB9E-CF280C84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567" y="4371975"/>
            <a:ext cx="448532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∼ </a:t>
            </a:r>
          </a:p>
        </p:txBody>
      </p:sp>
      <p:sp>
        <p:nvSpPr>
          <p:cNvPr id="43" name="equation">
            <a:extLst xmlns:a="http://schemas.openxmlformats.org/drawingml/2006/main">
              <a:ext uri="{FF2B5EF4-FFF2-40B4-BE49-F238E27FC236}">
                <a16:creationId xmlns:a16="http://schemas.microsoft.com/office/drawing/2014/main" id="{1F65DEB3-9236-4D6B-98E1-89C4F41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049" y="4371975"/>
            <a:ext cx="228600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4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4809F3A-FEB1-421D-BBAE-9EB689CF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074" y="4588002"/>
            <a:ext cx="157067" cy="44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45" name="equation">
            <a:extLst xmlns:a="http://schemas.openxmlformats.org/drawingml/2006/main">
              <a:ext uri="{FF2B5EF4-FFF2-40B4-BE49-F238E27FC236}">
                <a16:creationId xmlns:a16="http://schemas.microsoft.com/office/drawing/2014/main" id="{2BEF01BD-D699-4268-964B-A639A815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566" y="4371975"/>
            <a:ext cx="339757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46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AB26427A-F063-480D-A328-24CA382A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748" y="4275963"/>
            <a:ext cx="201835" cy="44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47" name="这是典型随机规则的统计机制。固定字典的偏好，在对全部字典平均后会">
            <a:extLst xmlns:a="http://schemas.openxmlformats.org/drawingml/2006/main">
              <a:ext uri="{FF2B5EF4-FFF2-40B4-BE49-F238E27FC236}">
                <a16:creationId xmlns:a16="http://schemas.microsoft.com/office/drawing/2014/main" id="{90C7CC5E-BC0A-49E7-82D8-0BD0C0E4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这是典型随机规则的统计机制。固定字典的偏好，在对全部字典平均后会消失</a:t>
            </a:r>
          </a:p>
        </p:txBody>
      </p:sp>
    </p:spTree>
    <p:extLst>
      <p:ext uri="{BB962C8B-B14F-4D97-AF65-F5344CB8AC3E}">
        <p14:creationId xmlns:p14="http://schemas.microsoft.com/office/powerpoint/2010/main" val="1047432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188596-AF9E-47FE-9E97-D928CB73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训练怎样把条件标签统计写成同义编码</a:t>
            </a:r>
          </a:p>
        </p:txBody>
      </p:sp>
      <p:sp>
        <p:nvSpPr>
          <p:cNvPr id="2" name="01 单层训练 / 04 目标的作用">
            <a:extLst xmlns:a="http://schemas.openxmlformats.org/drawingml/2006/main">
              <a:ext uri="{FF2B5EF4-FFF2-40B4-BE49-F238E27FC236}">
                <a16:creationId xmlns:a16="http://schemas.microsoft.com/office/drawing/2014/main" id="{08A1F621-B0D7-437C-97C5-020FD9D1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01 单层训练 / 04 目标的作用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E430E77C-C0A2-4739-964C-97F13B21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65B3106-4CC1-474E-AF11-483A4634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605534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F(W) = (1/2)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3A86EE20-B0AE-4654-BAE2-1B6F786B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084" y="1438275"/>
            <a:ext cx="20602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DA2FD9D-82D6-4B6F-974E-B2A2945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535" y="1602867"/>
            <a:ext cx="140208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EEC5572B-809E-45D7-86FF-BE0BCFDF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168" y="1438275"/>
            <a:ext cx="25717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p̂</a:t>
            </a:r>
          </a:p>
        </p:txBody>
      </p:sp>
      <p:sp>
        <p:nvSpPr>
          <p:cNvPr id="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8953F7C-328F-46AF-AD36-B4ABBC2C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293" y="1602867"/>
            <a:ext cx="140208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9EBDA748-0FFD-49B0-81A0-EDB92048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926" y="1438275"/>
            <a:ext cx="22679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||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F9C9954D-62DE-4E24-9168-A39F37A0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666" y="1438275"/>
            <a:ext cx="24869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5A41B19-034F-426E-A516-1A21713C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789" y="1602867"/>
            <a:ext cx="140208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4FA57059-9845-41F3-92AB-2682D37E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22" y="1438275"/>
            <a:ext cx="505301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− q̂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DA983DF-6427-43C8-A7CC-152B5BC0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673" y="1602867"/>
            <a:ext cx="140208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D3FCCFF7-0A27-4BD7-AA2B-2BC90C83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306" y="1438275"/>
            <a:ext cx="27239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||² + (λ/2)||W||² + 常数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3D9920E0-A591-4558-92A6-C6D87D77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32505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∇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7656DD16-A5D4-4662-8270-718A4679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55" y="2295525"/>
            <a:ext cx="21402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B4F6F28-F386-4E89-8FDA-61753697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07" y="247554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706BF202-35C6-4AE7-8B34-1AB7FE93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60" y="2295525"/>
            <a:ext cx="54997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p̂</a:t>
            </a:r>
          </a:p>
        </p:txBody>
      </p:sp>
      <p:sp>
        <p:nvSpPr>
          <p:cNvPr id="1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8160FC6-F05E-42BC-9AC1-930200AC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684" y="247554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231EF0E1-75AF-40B8-904F-4750081F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937" y="2295525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20F99C63-5A56-46BA-B18B-8019D1FD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523" y="2295525"/>
            <a:ext cx="26936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2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B5390D2-97B6-49FE-9900-AEDAB5B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316" y="247554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2650ADA6-4453-4D1B-B063-FFF81C42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569" y="2295525"/>
            <a:ext cx="54997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− q̂</a:t>
            </a:r>
          </a:p>
        </p:txBody>
      </p:sp>
      <p:sp>
        <p:nvSpPr>
          <p:cNvPr id="2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8219FEB-47A2-45E4-9D91-395181BB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492" y="247554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5" name="equation">
            <a:extLst xmlns:a="http://schemas.openxmlformats.org/drawingml/2006/main">
              <a:ext uri="{FF2B5EF4-FFF2-40B4-BE49-F238E27FC236}">
                <a16:creationId xmlns:a16="http://schemas.microsoft.com/office/drawing/2014/main" id="{EC1BE368-23BE-4281-A28D-F5230770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46" y="2295525"/>
            <a:ext cx="655892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+ λ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1D1A9450-D06E-47B4-A829-98328FE1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587" y="2295525"/>
            <a:ext cx="26936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2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A6CD6E2-EDFA-4A79-8449-C4595421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379" y="247554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9DD9C40C-CEC7-40B6-BBAD-6163105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32" y="2295525"/>
            <a:ext cx="54997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0</a:t>
            </a:r>
          </a:p>
        </p:txBody>
      </p:sp>
      <p:sp>
        <p:nvSpPr>
          <p:cNvPr id="29" name="equation">
            <a:extLst xmlns:a="http://schemas.openxmlformats.org/drawingml/2006/main">
              <a:ext uri="{FF2B5EF4-FFF2-40B4-BE49-F238E27FC236}">
                <a16:creationId xmlns:a16="http://schemas.microsoft.com/office/drawing/2014/main" id="{E548F077-F006-452F-86A8-4D7360CC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762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3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66E7E6D-B905-4310-B315-E50BB958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60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1" name="equation">
            <a:extLst xmlns:a="http://schemas.openxmlformats.org/drawingml/2006/main">
              <a:ext uri="{FF2B5EF4-FFF2-40B4-BE49-F238E27FC236}">
                <a16:creationId xmlns:a16="http://schemas.microsoft.com/office/drawing/2014/main" id="{2BCB9B89-42AC-432F-A7B1-EB9BF27F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7" y="3190875"/>
            <a:ext cx="850487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* = [p̂</a:t>
            </a:r>
          </a:p>
        </p:txBody>
      </p:sp>
      <p:sp>
        <p:nvSpPr>
          <p:cNvPr id="3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EAF692C-DA96-4954-B973-B999A0E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084" y="33760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3" name="equation">
            <a:extLst xmlns:a="http://schemas.openxmlformats.org/drawingml/2006/main">
              <a:ext uri="{FF2B5EF4-FFF2-40B4-BE49-F238E27FC236}">
                <a16:creationId xmlns:a16="http://schemas.microsoft.com/office/drawing/2014/main" id="{DADD0ED0-03C8-465A-B7D5-C7D69AAE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480" y="3190875"/>
            <a:ext cx="40948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/(p̂</a:t>
            </a:r>
          </a:p>
        </p:txBody>
      </p:sp>
      <p:sp>
        <p:nvSpPr>
          <p:cNvPr id="3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923FDB8-F794-4447-B39F-36CD854A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" y="33760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5" name="equation">
            <a:extLst xmlns:a="http://schemas.openxmlformats.org/drawingml/2006/main">
              <a:ext uri="{FF2B5EF4-FFF2-40B4-BE49-F238E27FC236}">
                <a16:creationId xmlns:a16="http://schemas.microsoft.com/office/drawing/2014/main" id="{C2185AC4-365E-44A5-B7DB-C93C859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307" y="3190875"/>
            <a:ext cx="959453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+ λ)]q̂</a:t>
            </a:r>
          </a:p>
        </p:txBody>
      </p:sp>
      <p:sp>
        <p:nvSpPr>
          <p:cNvPr id="3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B7FD0C7-8930-43CE-B7FA-6F035546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710" y="33760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7" name="equation">
            <a:extLst xmlns:a="http://schemas.openxmlformats.org/drawingml/2006/main">
              <a:ext uri="{FF2B5EF4-FFF2-40B4-BE49-F238E27FC236}">
                <a16:creationId xmlns:a16="http://schemas.microsoft.com/office/drawing/2014/main" id="{A1592F13-B599-4165-A56E-68CBB562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106" y="3190875"/>
            <a:ext cx="71437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       </a:t>
            </a:r>
          </a:p>
        </p:txBody>
      </p:sp>
      <p:sp>
        <p:nvSpPr>
          <p:cNvPr id="38" name="equation">
            <a:extLst xmlns:a="http://schemas.openxmlformats.org/drawingml/2006/main">
              <a:ext uri="{FF2B5EF4-FFF2-40B4-BE49-F238E27FC236}">
                <a16:creationId xmlns:a16="http://schemas.microsoft.com/office/drawing/2014/main" id="{A3962BD2-EBC4-45F0-9D43-9FEA9535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31" y="3190875"/>
            <a:ext cx="2762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3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EEF8BC44-660D-456C-9F59-128A394B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081" y="33760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0" name="equation">
            <a:extLst xmlns:a="http://schemas.openxmlformats.org/drawingml/2006/main">
              <a:ext uri="{FF2B5EF4-FFF2-40B4-BE49-F238E27FC236}">
                <a16:creationId xmlns:a16="http://schemas.microsoft.com/office/drawing/2014/main" id="{566E3944-3371-42B5-B738-36569C8B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478" y="3190875"/>
            <a:ext cx="876586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* / (1ᵀ</a:t>
            </a:r>
          </a:p>
        </p:txBody>
      </p:sp>
      <p:sp>
        <p:nvSpPr>
          <p:cNvPr id="41" name="equation">
            <a:extLst xmlns:a="http://schemas.openxmlformats.org/drawingml/2006/main">
              <a:ext uri="{FF2B5EF4-FFF2-40B4-BE49-F238E27FC236}">
                <a16:creationId xmlns:a16="http://schemas.microsoft.com/office/drawing/2014/main" id="{D8B61BE4-B1A4-4E3F-BC0A-F531AE96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014" y="3190875"/>
            <a:ext cx="2762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4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CCD560A-1A72-4EE0-B7F1-24631A0F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64" y="33760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3" name="equation">
            <a:extLst xmlns:a="http://schemas.openxmlformats.org/drawingml/2006/main">
              <a:ext uri="{FF2B5EF4-FFF2-40B4-BE49-F238E27FC236}">
                <a16:creationId xmlns:a16="http://schemas.microsoft.com/office/drawing/2014/main" id="{35BE3650-D826-4085-A24E-A5299852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060" y="3190875"/>
            <a:ext cx="850487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*) = q̂</a:t>
            </a:r>
          </a:p>
        </p:txBody>
      </p:sp>
      <p:sp>
        <p:nvSpPr>
          <p:cNvPr id="4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ABBE8C9-20A4-41EA-BEAD-43F43CF3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497" y="33760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5" name="正交单位特征的可解特例，λ=0.05；下表两块共享同一条件标签向">
            <a:extLst xmlns:a="http://schemas.openxmlformats.org/drawingml/2006/main">
              <a:ext uri="{FF2B5EF4-FFF2-40B4-BE49-F238E27FC236}">
                <a16:creationId xmlns:a16="http://schemas.microsoft.com/office/drawing/2014/main" id="{3A40BDFC-0B04-4505-964D-37B64247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正交单位特征的可解特例，λ=0.05；下表两块共享同一条件标签向量</a:t>
            </a:r>
          </a:p>
        </p:txBody>
      </p:sp>
      <p:graphicFrame>
        <p:nvGraphicFrame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0F222F-040F-4F2C-8D8D-B010CE31D46F}"/>
              </a:ext>
            </a:extLst>
          </p:cNvPr>
          <p:cNvGraphicFramePr/>
          <p:nvPr/>
        </p:nvGraphicFramePr>
        <p:xfrm>
          <a:off xmlns:a="http://schemas.openxmlformats.org/drawingml/2006/main" x="609600" y="4333875"/>
          <a:ext xmlns:a="http://schemas.openxmlformats.org/drawingml/2006/main" cx="10972800" cy="1657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1905000"/>
                <a:gridCol w="3295650"/>
                <a:gridCol w="3295650"/>
              </a:tblGrid>
              <a:tr h="552450">
                <a:tc>
                  <a:txBody>
                    <a:bodyPr lIns="104775" tIns="104775" rIns="104775" bIns="104775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同义块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p̂(b)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原始输出 w*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归一化输出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52450">
                <a:tc>
                  <a:txBody>
                    <a:bodyPr lIns="104775" tIns="104775" rIns="104775" bIns="104775"/>
                    <a:lstStyle/>
                    <a:p>
                      <a:r>
                        <a:rPr sz="195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(0.50, 0)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(1, 0)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04775" tIns="104775" rIns="104775" bIns="104775"/>
                    <a:lstStyle/>
                    <a:p>
                      <a:r>
                        <a:rPr sz="195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(0.80, 0)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95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(1, 0)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91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B934EF-ACEF-4944-82C7-306D0A4D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可复用性必须在逐层训练中维持</a:t>
            </a:r>
          </a:p>
        </p:txBody>
      </p:sp>
      <p:sp>
        <p:nvSpPr>
          <p:cNvPr id="2" name="01 训练保证 / 04 跨层可靠性">
            <a:extLst xmlns:a="http://schemas.openxmlformats.org/drawingml/2006/main">
              <a:ext uri="{FF2B5EF4-FFF2-40B4-BE49-F238E27FC236}">
                <a16:creationId xmlns:a16="http://schemas.microsoft.com/office/drawing/2014/main" id="{9018447F-6387-4EBE-88FE-D5B3BF2D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01 训练保证 / 04 跨层可靠性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EA6FC0AC-06A2-40B0-8B62-C8C457E8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9B43975-DB07-435D-8596-72E4E54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478897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⟨Φ(h),Φ(h′)⟩ ≈ exp[−||h−h′||²/(2σ²)]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8362DB6-7274-4288-8B4F-3096A0E2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2415730" cy="770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√s r ≪ σ ≪ Δ</a:t>
            </a:r>
          </a:p>
        </p:txBody>
      </p:sp>
      <p:sp>
        <p:nvSpPr>
          <p:cNvPr id="6" name="r 为同状态簇直径，Δ 为不同状态间距">
            <a:extLst xmlns:a="http://schemas.openxmlformats.org/drawingml/2006/main">
              <a:ext uri="{FF2B5EF4-FFF2-40B4-BE49-F238E27FC236}">
                <a16:creationId xmlns:a16="http://schemas.microsoft.com/office/drawing/2014/main" id="{679A0330-E36F-47F1-83EB-E31E3D59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r 为同状态簇直径，Δ 为不同状态间距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3CE16-EEBC-4AD7-AD39-55EA2651E7A2}"/>
              </a:ext>
            </a:extLst>
          </p:cNvPr>
          <p:cNvGraphicFramePr/>
          <p:nvPr/>
        </p:nvGraphicFramePr>
        <p:xfrm>
          <a:off xmlns:a="http://schemas.openxmlformats.org/drawingml/2006/main" x="609600" y="3476625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7924800"/>
              </a:tblGrid>
              <a:tr h="500063">
                <a:tc>
                  <a:txBody>
                    <a:bodyPr lIns="104775" tIns="104775" rIns="104775" bIns="1047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对下一层的作用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00063"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RBF 随机特征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同一元组的实现接近，不同元组近似正交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标签回归与归一化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将同义元组归到相近父状态编码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误差归纳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每层仍保持小簇直径与足够的簇间距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3914DA09-C396-4E67-8067-986B800E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87452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6210B81-85FE-4819-B04B-63ADA41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77" y="5916930"/>
            <a:ext cx="378333" cy="31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total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F7B622CE-8A79-4A97-A472-4F266AB2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5762625"/>
            <a:ext cx="1681543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≤ poly(参数) 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C7F227A7-23FD-494B-827B-EE8F5903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728" y="5762625"/>
            <a:ext cx="234982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61CD920-011F-4BA4-AACC-EA437BA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135" y="5916930"/>
            <a:ext cx="261556" cy="31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sig</a:t>
            </a:r>
          </a:p>
        </p:txBody>
      </p:sp>
      <p:sp>
        <p:nvSpPr>
          <p:cNvPr id="13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D88B2C9C-7512-4FB9-8D05-0C37D79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135" y="5694045"/>
            <a:ext cx="261556" cy="31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−2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A841E0A0-18AA-4A77-BBC5-3403B37A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17" y="5762625"/>
            <a:ext cx="250793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5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D540068A-6655-4E2C-9461-74FCA896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335" y="5694045"/>
            <a:ext cx="155067" cy="31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805434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E61856-CF69-43C8-8D9B-3A4EDC95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同一隐变量，在不同目标下暴露不同统计信号</a:t>
            </a:r>
          </a:p>
        </p:txBody>
      </p:sp>
      <p:sp>
        <p:nvSpPr>
          <p:cNvPr id="2" name="01 根监督 / 02 token 预测 / 04 隐变量目标">
            <a:extLst xmlns:a="http://schemas.openxmlformats.org/drawingml/2006/main">
              <a:ext uri="{FF2B5EF4-FFF2-40B4-BE49-F238E27FC236}">
                <a16:creationId xmlns:a16="http://schemas.microsoft.com/office/drawing/2014/main" id="{168AB726-E459-42E3-BCA9-BEEDC33F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01 根监督 / 02 token 预测 / 04 隐变量目标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58775D97-D049-4543-9054-5C711395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B3366A3-F6F5-4409-81CC-22B4806C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129242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Z=g(X):      H(Y | Z)−H(Y | X) = I(Y;X | Z) ≥ 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B9021-C1B9-4BC7-BFA7-C0239A12B1D1}"/>
              </a:ext>
            </a:extLst>
          </p:cNvPr>
          <p:cNvGraphicFramePr/>
          <p:nvPr/>
        </p:nvGraphicFramePr>
        <p:xfrm>
          <a:off xmlns:a="http://schemas.openxmlformats.org/drawingml/2006/main" x="609600" y="2743200"/>
          <a:ext xmlns:a="http://schemas.openxmlformats.org/drawingml/2006/main" cx="10972800" cy="2543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28875"/>
                <a:gridCol w="4067175"/>
                <a:gridCol w="4476750"/>
              </a:tblGrid>
              <a:tr h="635794"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被比较的条件关系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信号必须经过什么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635794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根标签 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p(Y | 局部块 B)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底层块与根之间的生成路径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表面 token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p(X_d | 上下文)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共同祖先两侧的表面通道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邻近隐状态 Z_ℓ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p(Z_ℓ | 抽象块 B_ℓ)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相近抽象尺度之间的关系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可辨认性属于“数据、观测、目标”的组合">
            <a:extLst xmlns:a="http://schemas.openxmlformats.org/drawingml/2006/main">
              <a:ext uri="{FF2B5EF4-FFF2-40B4-BE49-F238E27FC236}">
                <a16:creationId xmlns:a16="http://schemas.microsoft.com/office/drawing/2014/main" id="{2181BEC4-EC8D-4EE1-A856-13CF11E6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rPr>
              <a:t>可辨认性属于“数据、观测、目标”的组合</a:t>
            </a:r>
          </a:p>
        </p:txBody>
      </p:sp>
    </p:spTree>
    <p:extLst>
      <p:ext uri="{BB962C8B-B14F-4D97-AF65-F5344CB8AC3E}">
        <p14:creationId xmlns:p14="http://schemas.microsoft.com/office/powerpoint/2010/main" val="1024057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73F7B-16EF-4713-A298-ABF01AE7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token 预测的信号经过另一条生成路径</a:t>
            </a:r>
          </a:p>
        </p:txBody>
      </p:sp>
      <p:sp>
        <p:nvSpPr>
          <p:cNvPr id="2" name="02 共同祖先 / 04 隐目标的对照">
            <a:extLst xmlns:a="http://schemas.openxmlformats.org/drawingml/2006/main">
              <a:ext uri="{FF2B5EF4-FFF2-40B4-BE49-F238E27FC236}">
                <a16:creationId xmlns:a16="http://schemas.microsoft.com/office/drawing/2014/main" id="{3A23480A-50D9-42E4-A733-491EE01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02 共同祖先 / 04 隐目标的对照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1F145650-ACF0-4EC5-850D-2C25C169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25F6DDB-CEF7-4597-BFB2-A79927B4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82677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ρ = m/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8B0B6E5-4423-4842-8AB7-ADF396D6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285875"/>
            <a:ext cx="18097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6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F001BD67-77D1-4DF7-9B63-9DBBB15A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" y="1212723"/>
            <a:ext cx="334804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s−1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E545C9D7-C153-4495-AF9C-1E771D88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949" y="1285875"/>
            <a:ext cx="1519523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&lt; 1,       t ∼ 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3F9D215B-1C8D-4932-A5BD-438C2026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422" y="1285875"/>
            <a:ext cx="147161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9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68E225ED-CEA4-40FF-8123-3CC5CEAB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08" y="1212723"/>
            <a:ext cx="135922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C8967F93-F0D2-499D-BEFE-653B0E25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5727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C̃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5B25684-2790-4DC9-916A-A049B060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95" y="2147316"/>
            <a:ext cx="148114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596B25FA-8E29-4F9C-A588-0346F30C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" y="1962150"/>
            <a:ext cx="2024348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≈ √[(1−ρ)/(v³ 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D270814A-E0C8-45CF-AE2F-5CAB682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132" y="1962150"/>
            <a:ext cx="29527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4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A845A0CD-34FA-46F6-A0CB-01ADF891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832" y="1879854"/>
            <a:ext cx="50749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2ℓ−1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593BA922-22D8-4C03-B779-3BEA8577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749" y="1962150"/>
            <a:ext cx="2738438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)]        δC ∼ 1/(v√P)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EDE7BC2D-E59A-498C-9CBE-0A23A941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6318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E602124-F69F-43BA-AEB5-71DA8A9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3" y="3192971"/>
            <a:ext cx="169545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0CA6329C-9A83-4628-893C-6EF927C5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3" y="2971800"/>
            <a:ext cx="765715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∼ v 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C72DC267-C614-43BE-AFCB-A862B38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977" y="2971800"/>
            <a:ext cx="347186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20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6EC8853D-AA26-48CF-A4D8-03D52435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589" y="2873502"/>
            <a:ext cx="598742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2ℓ−1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EFA2F573-29E5-4CEE-BDFD-F8F6A841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755" y="2971800"/>
            <a:ext cx="1055275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/(1−ρ)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FAC9D44D-4754-47A1-A816-0EC4147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92786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2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A02F021-4BB9-4DF8-9F4D-7B67777A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" y="4147566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*</a:t>
            </a:r>
          </a:p>
        </p:txBody>
      </p:sp>
      <p:sp>
        <p:nvSpPr>
          <p:cNvPr id="24" name="equation">
            <a:extLst xmlns:a="http://schemas.openxmlformats.org/drawingml/2006/main">
              <a:ext uri="{FF2B5EF4-FFF2-40B4-BE49-F238E27FC236}">
                <a16:creationId xmlns:a16="http://schemas.microsoft.com/office/drawing/2014/main" id="{708D0C3E-023B-4C57-9E82-CA0BECA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8" y="3962400"/>
            <a:ext cx="395839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(P) ≈ log P/(2 log m) + 常数</a:t>
            </a:r>
          </a:p>
        </p:txBody>
      </p:sp>
      <p:sp>
        <p:nvSpPr>
          <p:cNvPr id="25" name="equation">
            <a:extLst xmlns:a="http://schemas.openxmlformats.org/drawingml/2006/main">
              <a:ext uri="{FF2B5EF4-FFF2-40B4-BE49-F238E27FC236}">
                <a16:creationId xmlns:a16="http://schemas.microsoft.com/office/drawing/2014/main" id="{4719FAD9-0103-42C8-AE67-09F29A03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39732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50AAED0-FED6-4FA0-B9FA-0B8558BF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57" y="5035677"/>
            <a:ext cx="172117" cy="44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*</a:t>
            </a:r>
          </a:p>
        </p:txBody>
      </p:sp>
      <p:sp>
        <p:nvSpPr>
          <p:cNvPr id="27" name="equation">
            <a:extLst xmlns:a="http://schemas.openxmlformats.org/drawingml/2006/main">
              <a:ext uri="{FF2B5EF4-FFF2-40B4-BE49-F238E27FC236}">
                <a16:creationId xmlns:a16="http://schemas.microsoft.com/office/drawing/2014/main" id="{1145ADC7-21F5-44D4-8A54-42562C1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" y="4819650"/>
            <a:ext cx="937450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(P) ∼ 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BCDCC2F8-EF12-4302-8C86-B7261647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699" y="4819650"/>
            <a:ext cx="251079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29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2FB7FFD8-507A-4CCC-AD03-D905903B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203" y="4723638"/>
            <a:ext cx="1623917" cy="44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log s/(2 log m)</a:t>
            </a:r>
          </a:p>
        </p:txBody>
      </p:sp>
      <p:sp>
        <p:nvSpPr>
          <p:cNvPr id="30" name="二点统计的可见尺度，允许参数共享或隐变量恢复改变这条路线">
            <a:extLst xmlns:a="http://schemas.openxmlformats.org/drawingml/2006/main">
              <a:ext uri="{FF2B5EF4-FFF2-40B4-BE49-F238E27FC236}">
                <a16:creationId xmlns:a16="http://schemas.microsoft.com/office/drawing/2014/main" id="{032E6C7E-A7FD-42FD-B246-3EA1DD08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二点统计的可见尺度，允许参数共享或隐变量恢复改变这条路线</a:t>
            </a:r>
          </a:p>
        </p:txBody>
      </p:sp>
    </p:spTree>
    <p:extLst>
      <p:ext uri="{BB962C8B-B14F-4D97-AF65-F5344CB8AC3E}">
        <p14:creationId xmlns:p14="http://schemas.microsoft.com/office/powerpoint/2010/main" val="15089258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6A2551-3688-44B5-A429-207459A0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可见的远程关联还需提供额外预测信息</a:t>
            </a:r>
          </a:p>
        </p:txBody>
      </p:sp>
      <p:sp>
        <p:nvSpPr>
          <p:cNvPr id="2" name="02 有效上下文 / 04 语境消歧">
            <a:extLst xmlns:a="http://schemas.openxmlformats.org/drawingml/2006/main">
              <a:ext uri="{FF2B5EF4-FFF2-40B4-BE49-F238E27FC236}">
                <a16:creationId xmlns:a16="http://schemas.microsoft.com/office/drawing/2014/main" id="{801CAA0A-A443-41E0-B4C4-56A0D45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02 有效上下文 / 04 语境消歧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361F7369-ECB7-49FF-9938-3AD0DC60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C_t 为近期上下文，F 为更远部分；模型 q_t 只使用 C_">
            <a:extLst xmlns:a="http://schemas.openxmlformats.org/drawingml/2006/main">
              <a:ext uri="{FF2B5EF4-FFF2-40B4-BE49-F238E27FC236}">
                <a16:creationId xmlns:a16="http://schemas.microsoft.com/office/drawing/2014/main" id="{46D03C86-91BF-43C0-9385-BF839268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C_t 为近期上下文，F 为更远部分；模型 q_t 只使用 C_t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4A012863-1440-4FAA-8249-9526D875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79190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L(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B5AC0558-B893-4003-8551-FA9370D9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40" y="1762125"/>
            <a:ext cx="21431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A0353E7-4C79-4E18-A52E-60C49B48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478" y="1962722"/>
            <a:ext cx="107252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277A1B6D-7A75-4FC1-8A01-01CC7916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54" y="1762125"/>
            <a:ext cx="1467898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− H(X | 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C7481119-EBB1-4EE3-A406-DB2781C6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002" y="1762125"/>
            <a:ext cx="276320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7ACE59F-93A4-427D-A65F-3E07C79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47" y="1962722"/>
            <a:ext cx="107252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27396CFB-2880-4744-A109-5E26780B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424" y="1762125"/>
            <a:ext cx="451771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,F)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80736495-8FF9-47B7-8C0F-881AC0C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558862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= I(X;F | 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EB1F243B-D4F4-46F2-BB60-E965447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412" y="2409825"/>
            <a:ext cx="301752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49D9D52-8637-4466-94A7-4A4C392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589" y="2630996"/>
            <a:ext cx="114300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E4671877-3C37-4EBF-AACB-F000DCA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314" y="2409825"/>
            <a:ext cx="164973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D4B89378-F1BE-41BF-BE33-4625ED7B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0358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+ E</a:t>
            </a:r>
          </a:p>
        </p:txBody>
      </p:sp>
      <p:sp>
        <p:nvSpPr>
          <p:cNvPr id="1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0C72480-A5AC-411C-9EA7-611B90C9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37" y="3504248"/>
            <a:ext cx="249174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Ct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DB93C901-67EC-4D4C-A711-BDD1E452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36" y="3324225"/>
            <a:ext cx="352711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D</a:t>
            </a:r>
          </a:p>
        </p:txBody>
      </p:sp>
      <p:sp>
        <p:nvSpPr>
          <p:cNvPr id="1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E171C74-2590-4101-8168-085383BA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396" y="3504248"/>
            <a:ext cx="335852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KL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6A0280F4-A87A-444B-BFAF-42C2F7B5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73" y="3324225"/>
            <a:ext cx="76171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(p(· | 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0C1710B1-6CA5-443B-8C2F-F7E38AE2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337" y="3324225"/>
            <a:ext cx="25088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864B8A0-5CD7-4614-8079-485E1D57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651" y="3504248"/>
            <a:ext cx="100203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61914EBE-A6E0-4908-B94E-AF83DAE8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79" y="3324225"/>
            <a:ext cx="43976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|| </a:t>
            </a:r>
          </a:p>
        </p:txBody>
      </p:sp>
      <p:sp>
        <p:nvSpPr>
          <p:cNvPr id="24" name="equation">
            <a:extLst xmlns:a="http://schemas.openxmlformats.org/drawingml/2006/main">
              <a:ext uri="{FF2B5EF4-FFF2-40B4-BE49-F238E27FC236}">
                <a16:creationId xmlns:a16="http://schemas.microsoft.com/office/drawing/2014/main" id="{8CC8DFEF-36E1-4E1E-AC3F-E3A27FC3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998" y="3324225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AD3AE74-392C-42C5-92EB-521B1A53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685" y="3504248"/>
            <a:ext cx="100203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EC409EAF-5B99-47DF-8BE4-B7B99A35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313" y="3324225"/>
            <a:ext cx="484060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(· | </a:t>
            </a:r>
          </a:p>
        </p:txBody>
      </p:sp>
      <p:sp>
        <p:nvSpPr>
          <p:cNvPr id="27" name="equation">
            <a:extLst xmlns:a="http://schemas.openxmlformats.org/drawingml/2006/main">
              <a:ext uri="{FF2B5EF4-FFF2-40B4-BE49-F238E27FC236}">
                <a16:creationId xmlns:a16="http://schemas.microsoft.com/office/drawing/2014/main" id="{7AF4BBF9-1707-4A41-BCF6-6F9C0C2C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324" y="3324225"/>
            <a:ext cx="25088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38515D0-0393-4B89-A317-AE3E66F3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637" y="3504248"/>
            <a:ext cx="100203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9" name="equation">
            <a:extLst xmlns:a="http://schemas.openxmlformats.org/drawingml/2006/main">
              <a:ext uri="{FF2B5EF4-FFF2-40B4-BE49-F238E27FC236}">
                <a16:creationId xmlns:a16="http://schemas.microsoft.com/office/drawing/2014/main" id="{EA46B669-66FA-4A17-856C-8996443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265" y="3324225"/>
            <a:ext cx="25060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))</a:t>
            </a:r>
          </a:p>
        </p:txBody>
      </p:sp>
      <p:graphicFrame>
        <p:nvGraphicFrame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DC326A-E939-441F-AA8A-4BDF2E5BEEE5}"/>
              </a:ext>
            </a:extLst>
          </p:cNvPr>
          <p:cNvGraphicFramePr/>
          <p:nvPr/>
        </p:nvGraphicFramePr>
        <p:xfrm>
          <a:off xmlns:a="http://schemas.openxmlformats.org/drawingml/2006/main" x="609600" y="4419600"/>
          <a:ext xmlns:a="http://schemas.openxmlformats.org/drawingml/2006/main" cx="10972800" cy="1533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295775"/>
                <a:gridCol w="4295775"/>
              </a:tblGrid>
              <a:tr h="511175">
                <a:tc>
                  <a:txBody>
                    <a:bodyPr lIns="104775" tIns="104775" rIns="104775" bIns="1047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控制的限制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主要干预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11175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条件互信息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窗口或表示丢掉有效上下文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扩大上下文，保留高层状态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175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平均 KL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有限数据下条件分布未估准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增加独立数据，改善统计共享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4682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871E41-6691-4416-8FDB-E1CE89C2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BP 给出理想参照，区分学规则与解释样本</a:t>
            </a:r>
          </a:p>
        </p:txBody>
      </p:sp>
      <p:sp>
        <p:nvSpPr>
          <p:cNvPr id="2" name="03 精确后验 / 01 标签编码 / 05 消息表示">
            <a:extLst xmlns:a="http://schemas.openxmlformats.org/drawingml/2006/main">
              <a:ext uri="{FF2B5EF4-FFF2-40B4-BE49-F238E27FC236}">
                <a16:creationId xmlns:a16="http://schemas.microsoft.com/office/drawing/2014/main" id="{55967588-9080-4491-ABE1-B3B81A47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03 精确后验 / 01 标签编码 / 05 消息表示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1BA9F8A4-DBBF-495F-8B7D-075D29B1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2D5EF55-FCF9-463F-827D-8689557F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85738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BD510DB-F6F5-4E78-A9F1-14B546A3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3" y="1627061"/>
            <a:ext cx="279273" cy="347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6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302A506A-D4B5-42C8-827A-7BC1EF0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3" y="1381887"/>
            <a:ext cx="279273" cy="347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(ℓ)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FB956F31-E60C-4E89-AE57-8F837B09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0" y="1457325"/>
            <a:ext cx="711898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(a) = 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244096FF-5E04-4812-B685-CDB76DA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309" y="1457325"/>
            <a:ext cx="211550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AB23E8A-7BFC-47F0-88AC-B360F72C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284" y="1627061"/>
            <a:ext cx="739807" cy="347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b∈Rℓ(a)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0955B42D-3CCC-4950-8BA5-B2ECD259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516" y="1457325"/>
            <a:ext cx="107156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12A12DDB-9203-48F7-BC7E-31CC7B26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622" y="1457325"/>
            <a:ext cx="220599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E85D140-DB14-4FDC-9E53-A6C73D7B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646" y="1627061"/>
            <a:ext cx="138970" cy="347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AACA2187-222E-4BBA-B8FD-38F37C36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041" y="1457325"/>
            <a:ext cx="833247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(b | a) 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A0F1E387-31A3-4CD7-8424-4530430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238" y="1457325"/>
            <a:ext cx="287369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∏</a:t>
            </a:r>
          </a:p>
        </p:txBody>
      </p:sp>
      <p:sp>
        <p:nvSpPr>
          <p:cNvPr id="1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85C959E-E3C0-4C01-94B7-0B21213B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032" y="1627061"/>
            <a:ext cx="613220" cy="347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j=1…s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A5468A3B-5076-40A3-B5E0-637FF5C8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677" y="1457325"/>
            <a:ext cx="107156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97F7639F-FC63-42F5-812C-99574C0B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783" y="1457325"/>
            <a:ext cx="185738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1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0FA9364-F30D-4A61-8F52-80577D2C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945" y="1627061"/>
            <a:ext cx="503301" cy="347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cj</a:t>
            </a:r>
          </a:p>
        </p:txBody>
      </p:sp>
      <p:sp>
        <p:nvSpPr>
          <p:cNvPr id="19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B0689329-38C2-4BCF-A03D-D40456F2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945" y="1381887"/>
            <a:ext cx="503301" cy="347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(ℓ−1)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5B0AAA97-6FF4-4463-8EEA-A40B33C6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71" y="1457325"/>
            <a:ext cx="133255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E3A613AE-B301-47F4-B3D0-35E6EA3D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876" y="1457325"/>
            <a:ext cx="185738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AA4F7A5A-7F01-403F-A5B2-3213307F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039" y="1627061"/>
            <a:ext cx="96583" cy="347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CBBCE778-A468-4420-BAA6-B2A9AF2B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047" y="1457325"/>
            <a:ext cx="133255" cy="518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24" name="equation">
            <a:extLst xmlns:a="http://schemas.openxmlformats.org/drawingml/2006/main">
              <a:ext uri="{FF2B5EF4-FFF2-40B4-BE49-F238E27FC236}">
                <a16:creationId xmlns:a16="http://schemas.microsoft.com/office/drawing/2014/main" id="{83B1FCFA-5848-4B2C-87BA-21F95305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594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p(</a:t>
            </a:r>
          </a:p>
        </p:txBody>
      </p:sp>
      <p:sp>
        <p:nvSpPr>
          <p:cNvPr id="25" name="equation">
            <a:extLst xmlns:a="http://schemas.openxmlformats.org/drawingml/2006/main">
              <a:ext uri="{FF2B5EF4-FFF2-40B4-BE49-F238E27FC236}">
                <a16:creationId xmlns:a16="http://schemas.microsoft.com/office/drawing/2014/main" id="{8807F20D-E5BE-479F-9965-DA808D60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98" y="2476500"/>
            <a:ext cx="30375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6A14C64-7277-4500-AA23-4B2D546A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675" y="2682240"/>
            <a:ext cx="165735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7" name="equation">
            <a:extLst xmlns:a="http://schemas.openxmlformats.org/drawingml/2006/main">
              <a:ext uri="{FF2B5EF4-FFF2-40B4-BE49-F238E27FC236}">
                <a16:creationId xmlns:a16="http://schemas.microsoft.com/office/drawing/2014/main" id="{2D18F326-3BBA-48FB-807F-74364261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835" y="2476500"/>
            <a:ext cx="136340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=a | z) ∝ 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3B41114A-F2BD-4CA6-8005-8CCE0ED2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194" y="2476500"/>
            <a:ext cx="219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586BED5-255E-4435-9492-257F73F1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694" y="2682240"/>
            <a:ext cx="165735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C971E9D3-CCD6-432F-800F-3AABB98C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854" y="2476500"/>
            <a:ext cx="54664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(a) </a:t>
            </a:r>
          </a:p>
        </p:txBody>
      </p:sp>
      <p:sp>
        <p:nvSpPr>
          <p:cNvPr id="31" name="equation">
            <a:extLst xmlns:a="http://schemas.openxmlformats.org/drawingml/2006/main">
              <a:ext uri="{FF2B5EF4-FFF2-40B4-BE49-F238E27FC236}">
                <a16:creationId xmlns:a16="http://schemas.microsoft.com/office/drawing/2014/main" id="{93CF3605-DC70-4741-988B-F7AE6FA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443" y="2476500"/>
            <a:ext cx="219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3C90A1E-C522-48A1-A984-FA726B3A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943" y="2682240"/>
            <a:ext cx="165735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33" name="equation">
            <a:extLst xmlns:a="http://schemas.openxmlformats.org/drawingml/2006/main">
              <a:ext uri="{FF2B5EF4-FFF2-40B4-BE49-F238E27FC236}">
                <a16:creationId xmlns:a16="http://schemas.microsoft.com/office/drawing/2014/main" id="{EA606ADD-8C27-4CAE-83E5-3D3A68C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103" y="2476500"/>
            <a:ext cx="45139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graphicFrame>
        <p:nvGraphicFrame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091D6-CA26-456D-BF1F-8BE8E654508F}"/>
              </a:ext>
            </a:extLst>
          </p:cNvPr>
          <p:cNvGraphicFramePr/>
          <p:nvPr/>
        </p:nvGraphicFramePr>
        <p:xfrm>
          <a:off xmlns:a="http://schemas.openxmlformats.org/drawingml/2006/main" x="609600" y="3552825"/>
          <a:ext xmlns:a="http://schemas.openxmlformats.org/drawingml/2006/main" cx="10972800" cy="1762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4391025"/>
                <a:gridCol w="4248150"/>
              </a:tblGrid>
              <a:tr h="587375"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依赖什么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87375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BP 消息 u、d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已知规则 + 当前样本观测 z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解释本次观测的不确定性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标签编码 q(b)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参考位置的总体条件统计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辨认并复用父状态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分类充分编码、完整后验与合法联合采样，需要不同信息">
            <a:extLst xmlns:a="http://schemas.openxmlformats.org/drawingml/2006/main">
              <a:ext uri="{FF2B5EF4-FFF2-40B4-BE49-F238E27FC236}">
                <a16:creationId xmlns:a16="http://schemas.microsoft.com/office/drawing/2014/main" id="{3EA3A723-F884-4807-84D6-35B4C952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rPr>
              <a:t>分类充分编码、完整后验与合法联合采样，需要不同信息</a:t>
            </a:r>
          </a:p>
        </p:txBody>
      </p:sp>
    </p:spTree>
    <p:extLst>
      <p:ext uri="{BB962C8B-B14F-4D97-AF65-F5344CB8AC3E}">
        <p14:creationId xmlns:p14="http://schemas.microsoft.com/office/powerpoint/2010/main" val="1337653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2E2B39-EA2E-410A-8191-5ED8DCF2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同义压缩以后，生成仍需保留频率与联合约束</a:t>
            </a:r>
          </a:p>
        </p:txBody>
      </p:sp>
      <p:sp>
        <p:nvSpPr>
          <p:cNvPr id="2" name="01 同义不变性 / 03 组合生成 / 04 充分性">
            <a:extLst xmlns:a="http://schemas.openxmlformats.org/drawingml/2006/main">
              <a:ext uri="{FF2B5EF4-FFF2-40B4-BE49-F238E27FC236}">
                <a16:creationId xmlns:a16="http://schemas.microsoft.com/office/drawing/2014/main" id="{7111C317-223F-489B-9332-5EA2385D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01 同义不变性 / 03 组合生成 / 04 充分性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9651D3AB-E50B-4CC1-BDF5-B2356651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分类可以归并实现，生成需要 p(子元组 | 父状态) 与跨块依赖">
            <a:extLst xmlns:a="http://schemas.openxmlformats.org/drawingml/2006/main">
              <a:ext uri="{FF2B5EF4-FFF2-40B4-BE49-F238E27FC236}">
                <a16:creationId xmlns:a16="http://schemas.microsoft.com/office/drawing/2014/main" id="{72DD0FC7-4A4B-40C5-BEC1-FEDDCE70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分类可以归并实现，生成需要 p(子元组 | 父状态) 与跨块依赖</a:t>
            </a:r>
          </a:p>
        </p:txBody>
      </p:sp>
      <p:sp>
        <p:nvSpPr>
          <p:cNvPr id="5" name="p_T、q_T 为已对齐隐变量下的整树联合，且 q_T 覆盖真实">
            <a:extLst xmlns:a="http://schemas.openxmlformats.org/drawingml/2006/main">
              <a:ext uri="{FF2B5EF4-FFF2-40B4-BE49-F238E27FC236}">
                <a16:creationId xmlns:a16="http://schemas.microsoft.com/office/drawing/2014/main" id="{091B801C-2150-4189-993F-AA76961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p_T、q_T 为已对齐隐变量下的整树联合，且 q_T 覆盖真实支持集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64C271EF-FD61-4394-9BDA-3382985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6936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E1D5F10A-7C10-499D-9BDB-2451B4DC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17" y="2389823"/>
            <a:ext cx="335852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KL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2EFFC76E-6EBC-4FED-AC9F-7F1D4416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194" y="2209800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069E675C-C7CE-442C-B8AC-516EFB9E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22098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8799303-C8AF-4D7D-ACCD-B0A04595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8" y="2389823"/>
            <a:ext cx="17449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B4AFE7C0-ACFC-4602-AE81-B0965D83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391" y="2209800"/>
            <a:ext cx="32870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|| 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5823057D-F5CD-4E2D-90AD-1F1136C8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48" y="22098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E137D72-8559-4AF8-A3E8-CAF1C077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36" y="2389823"/>
            <a:ext cx="17449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65E5F6D9-7869-4EDE-9DDD-9F654AC2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659" y="2209800"/>
            <a:ext cx="73504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= D</a:t>
            </a:r>
          </a:p>
        </p:txBody>
      </p:sp>
      <p:sp>
        <p:nvSpPr>
          <p:cNvPr id="1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C9E7790-62BE-4EE4-867F-9FE36857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2389823"/>
            <a:ext cx="335852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KL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4E66B8B3-B172-4968-8D51-B5C74CA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929" y="2209800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5BE75FE9-3267-4779-8B64-AC4CC07F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516" y="22098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EC90E467-5240-4B84-B914-CDB9722C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203" y="2389823"/>
            <a:ext cx="19935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C79FE865-BE20-4F4A-A473-AA0C6A9E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87" y="2209800"/>
            <a:ext cx="32870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|| 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A9595276-4B3A-4076-9995-4843E534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644" y="22098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6916D76-8B8D-44DF-9D10-9DFD1F5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332" y="2389823"/>
            <a:ext cx="19935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B7E41EFB-2887-47B8-ACD7-166F5B19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115" y="2209800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4BF7BDB5-4D97-4512-94FE-36F7EE50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92132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+ </a:t>
            </a:r>
          </a:p>
        </p:txBody>
      </p:sp>
      <p:sp>
        <p:nvSpPr>
          <p:cNvPr id="24" name="equation">
            <a:extLst xmlns:a="http://schemas.openxmlformats.org/drawingml/2006/main">
              <a:ext uri="{FF2B5EF4-FFF2-40B4-BE49-F238E27FC236}">
                <a16:creationId xmlns:a16="http://schemas.microsoft.com/office/drawing/2014/main" id="{B1091887-5F8C-4C07-82EB-248073EB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82" y="3067050"/>
            <a:ext cx="217075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2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5540911-F3C4-4452-9E20-0CB6CF6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82" y="3241929"/>
            <a:ext cx="14659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533A9DA4-F3FB-421A-BD2D-CAF7E6D8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96" y="3067050"/>
            <a:ext cx="307372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E</a:t>
            </a:r>
          </a:p>
        </p:txBody>
      </p:sp>
      <p:sp>
        <p:nvSpPr>
          <p:cNvPr id="2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E3AE9A4-231B-4960-AA0A-C11F990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518" y="3241929"/>
            <a:ext cx="55626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p(Hu)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C0AF6ABE-3425-4372-95F3-C8CDAB6A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203" y="3067050"/>
            <a:ext cx="343376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D</a:t>
            </a:r>
          </a:p>
        </p:txBody>
      </p:sp>
      <p:sp>
        <p:nvSpPr>
          <p:cNvPr id="2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3F33B79-FE5D-46BD-8E97-46DE47A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529" y="3241929"/>
            <a:ext cx="327374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KL</a:t>
            </a:r>
          </a:p>
        </p:txBody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1BA2FE3B-0733-4736-84C2-CD01BBF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329" y="3067050"/>
            <a:ext cx="136398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31" name="equation">
            <a:extLst xmlns:a="http://schemas.openxmlformats.org/drawingml/2006/main">
              <a:ext uri="{FF2B5EF4-FFF2-40B4-BE49-F238E27FC236}">
                <a16:creationId xmlns:a16="http://schemas.microsoft.com/office/drawing/2014/main" id="{ED28D6FC-A6BB-4527-85E7-A854D5A0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677" y="3067050"/>
            <a:ext cx="226409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3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52E494F-F569-4431-8433-51FCDBDE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11" y="3241929"/>
            <a:ext cx="14659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33" name="equation">
            <a:extLst xmlns:a="http://schemas.openxmlformats.org/drawingml/2006/main">
              <a:ext uri="{FF2B5EF4-FFF2-40B4-BE49-F238E27FC236}">
                <a16:creationId xmlns:a16="http://schemas.microsoft.com/office/drawing/2014/main" id="{811E77A9-C274-4550-B96B-42862B0C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526" y="3067050"/>
            <a:ext cx="471011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(· | </a:t>
            </a:r>
          </a:p>
        </p:txBody>
      </p:sp>
      <p:sp>
        <p:nvSpPr>
          <p:cNvPr id="34" name="equation">
            <a:extLst xmlns:a="http://schemas.openxmlformats.org/drawingml/2006/main">
              <a:ext uri="{FF2B5EF4-FFF2-40B4-BE49-F238E27FC236}">
                <a16:creationId xmlns:a16="http://schemas.microsoft.com/office/drawing/2014/main" id="{7D93E37C-8696-4B4C-9DF1-ECFBB9A3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487" y="3067050"/>
            <a:ext cx="262414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3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DD7BA11-7254-4BBA-98D4-CD55B5C7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326" y="3241929"/>
            <a:ext cx="14659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36" name="equation">
            <a:extLst xmlns:a="http://schemas.openxmlformats.org/drawingml/2006/main">
              <a:ext uri="{FF2B5EF4-FFF2-40B4-BE49-F238E27FC236}">
                <a16:creationId xmlns:a16="http://schemas.microsoft.com/office/drawing/2014/main" id="{3EADFFEB-97DC-46A2-95DF-3BE4DFC3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340" y="3067050"/>
            <a:ext cx="428053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|| </a:t>
            </a:r>
          </a:p>
        </p:txBody>
      </p:sp>
      <p:sp>
        <p:nvSpPr>
          <p:cNvPr id="37" name="equation">
            <a:extLst xmlns:a="http://schemas.openxmlformats.org/drawingml/2006/main">
              <a:ext uri="{FF2B5EF4-FFF2-40B4-BE49-F238E27FC236}">
                <a16:creationId xmlns:a16="http://schemas.microsoft.com/office/drawing/2014/main" id="{E9590F7F-9BDB-4B0B-B9BC-5BC50615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344" y="3067050"/>
            <a:ext cx="226409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T̂</a:t>
            </a:r>
          </a:p>
        </p:txBody>
      </p:sp>
      <p:sp>
        <p:nvSpPr>
          <p:cNvPr id="3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2944FF6-176C-4F21-9204-88EC4F2A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178" y="3241929"/>
            <a:ext cx="14659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39" name="equation">
            <a:extLst xmlns:a="http://schemas.openxmlformats.org/drawingml/2006/main">
              <a:ext uri="{FF2B5EF4-FFF2-40B4-BE49-F238E27FC236}">
                <a16:creationId xmlns:a16="http://schemas.microsoft.com/office/drawing/2014/main" id="{EAF8F6A3-9066-4EF7-8EF9-7CEE5B9A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193" y="3067050"/>
            <a:ext cx="471011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(· | </a:t>
            </a:r>
          </a:p>
        </p:txBody>
      </p:sp>
      <p:sp>
        <p:nvSpPr>
          <p:cNvPr id="40" name="equation">
            <a:extLst xmlns:a="http://schemas.openxmlformats.org/drawingml/2006/main">
              <a:ext uri="{FF2B5EF4-FFF2-40B4-BE49-F238E27FC236}">
                <a16:creationId xmlns:a16="http://schemas.microsoft.com/office/drawing/2014/main" id="{85F28962-E96B-48B6-AEEA-DAE574CC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154" y="3067050"/>
            <a:ext cx="262414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4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C7A34B7-15AE-45B8-B5C2-9BFA861C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993" y="3241929"/>
            <a:ext cx="14659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42" name="equation">
            <a:extLst xmlns:a="http://schemas.openxmlformats.org/drawingml/2006/main">
              <a:ext uri="{FF2B5EF4-FFF2-40B4-BE49-F238E27FC236}">
                <a16:creationId xmlns:a16="http://schemas.microsoft.com/office/drawing/2014/main" id="{138AFC9C-CDA5-444E-A2DC-825F971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008" y="3067050"/>
            <a:ext cx="244221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))</a:t>
            </a:r>
          </a:p>
        </p:txBody>
      </p:sp>
      <p:sp>
        <p:nvSpPr>
          <p:cNvPr id="43" name="equation">
            <a:extLst xmlns:a="http://schemas.openxmlformats.org/drawingml/2006/main">
              <a:ext uri="{FF2B5EF4-FFF2-40B4-BE49-F238E27FC236}">
                <a16:creationId xmlns:a16="http://schemas.microsoft.com/office/drawing/2014/main" id="{529B6FD1-E35E-453B-85C3-51DB79ED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96799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FFB2435-4565-4F3F-A8F7-6392373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" y="4248722"/>
            <a:ext cx="369856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KL</a:t>
            </a:r>
          </a:p>
        </p:txBody>
      </p:sp>
      <p:sp>
        <p:nvSpPr>
          <p:cNvPr id="45" name="equation">
            <a:extLst xmlns:a="http://schemas.openxmlformats.org/drawingml/2006/main">
              <a:ext uri="{FF2B5EF4-FFF2-40B4-BE49-F238E27FC236}">
                <a16:creationId xmlns:a16="http://schemas.microsoft.com/office/drawing/2014/main" id="{185E46A2-BC61-4E37-8441-B4BCA48A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30" y="4048125"/>
            <a:ext cx="152305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46" name="equation">
            <a:extLst xmlns:a="http://schemas.openxmlformats.org/drawingml/2006/main">
              <a:ext uri="{FF2B5EF4-FFF2-40B4-BE49-F238E27FC236}">
                <a16:creationId xmlns:a16="http://schemas.microsoft.com/office/drawing/2014/main" id="{65B015A5-52D1-49AB-A5DE-C95F31C6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885" y="4048125"/>
            <a:ext cx="21431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4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7BC3ABB-1CD0-4708-B064-3563D83F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622" y="4248722"/>
            <a:ext cx="217837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48" name="equation">
            <a:extLst xmlns:a="http://schemas.openxmlformats.org/drawingml/2006/main">
              <a:ext uri="{FF2B5EF4-FFF2-40B4-BE49-F238E27FC236}">
                <a16:creationId xmlns:a16="http://schemas.microsoft.com/office/drawing/2014/main" id="{F68FD916-E570-4425-972C-AECB965F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884" y="4048125"/>
            <a:ext cx="36309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|| </a:t>
            </a:r>
          </a:p>
        </p:txBody>
      </p:sp>
      <p:sp>
        <p:nvSpPr>
          <p:cNvPr id="49" name="equation">
            <a:extLst xmlns:a="http://schemas.openxmlformats.org/drawingml/2006/main">
              <a:ext uri="{FF2B5EF4-FFF2-40B4-BE49-F238E27FC236}">
                <a16:creationId xmlns:a16="http://schemas.microsoft.com/office/drawing/2014/main" id="{A3C881FA-64A2-454C-BA93-0189D7D2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927" y="4048125"/>
            <a:ext cx="21431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5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980DFDC-FA98-4016-9576-D3AFAA83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664" y="4248722"/>
            <a:ext cx="217837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51" name="equation">
            <a:extLst xmlns:a="http://schemas.openxmlformats.org/drawingml/2006/main">
              <a:ext uri="{FF2B5EF4-FFF2-40B4-BE49-F238E27FC236}">
                <a16:creationId xmlns:a16="http://schemas.microsoft.com/office/drawing/2014/main" id="{F750AAA3-B852-4FBD-96BA-75B74FB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926" y="4048125"/>
            <a:ext cx="810196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) ≤ D</a:t>
            </a:r>
          </a:p>
        </p:txBody>
      </p:sp>
      <p:sp>
        <p:nvSpPr>
          <p:cNvPr id="5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63BAEE6-736C-4338-8A67-D40AC155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072" y="4248722"/>
            <a:ext cx="369856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KL</a:t>
            </a:r>
          </a:p>
        </p:txBody>
      </p:sp>
      <p:sp>
        <p:nvSpPr>
          <p:cNvPr id="53" name="equation">
            <a:extLst xmlns:a="http://schemas.openxmlformats.org/drawingml/2006/main">
              <a:ext uri="{FF2B5EF4-FFF2-40B4-BE49-F238E27FC236}">
                <a16:creationId xmlns:a16="http://schemas.microsoft.com/office/drawing/2014/main" id="{BDDA3373-B5E8-449B-A3B1-E1F4BE7B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353" y="4048125"/>
            <a:ext cx="152305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54" name="equation">
            <a:extLst xmlns:a="http://schemas.openxmlformats.org/drawingml/2006/main">
              <a:ext uri="{FF2B5EF4-FFF2-40B4-BE49-F238E27FC236}">
                <a16:creationId xmlns:a16="http://schemas.microsoft.com/office/drawing/2014/main" id="{33A5375C-BAD3-4799-A3F1-3A135AB5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048125"/>
            <a:ext cx="21431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5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C3A5C33-D9D8-4CDC-942E-9F818B4B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346" y="4248722"/>
            <a:ext cx="190119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6" name="equation">
            <a:extLst xmlns:a="http://schemas.openxmlformats.org/drawingml/2006/main">
              <a:ext uri="{FF2B5EF4-FFF2-40B4-BE49-F238E27FC236}">
                <a16:creationId xmlns:a16="http://schemas.microsoft.com/office/drawing/2014/main" id="{38A906FC-EDF3-4429-B260-70C92F57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90" y="4048125"/>
            <a:ext cx="36309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|| </a:t>
            </a:r>
          </a:p>
        </p:txBody>
      </p:sp>
      <p:sp>
        <p:nvSpPr>
          <p:cNvPr id="57" name="equation">
            <a:extLst xmlns:a="http://schemas.openxmlformats.org/drawingml/2006/main">
              <a:ext uri="{FF2B5EF4-FFF2-40B4-BE49-F238E27FC236}">
                <a16:creationId xmlns:a16="http://schemas.microsoft.com/office/drawing/2014/main" id="{A926E100-AA55-404F-972B-17748BA5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933" y="4048125"/>
            <a:ext cx="21431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5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8BB5C1E-911D-4868-B069-ECEBC0EB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670" y="4248722"/>
            <a:ext cx="190119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9" name="equation">
            <a:extLst xmlns:a="http://schemas.openxmlformats.org/drawingml/2006/main">
              <a:ext uri="{FF2B5EF4-FFF2-40B4-BE49-F238E27FC236}">
                <a16:creationId xmlns:a16="http://schemas.microsoft.com/office/drawing/2014/main" id="{42F80FAC-E1F2-4884-8B29-A2CB7B3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214" y="4048125"/>
            <a:ext cx="152305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0" name="局部合法不保证全局连贯">
            <a:extLst xmlns:a="http://schemas.openxmlformats.org/drawingml/2006/main">
              <a:ext uri="{FF2B5EF4-FFF2-40B4-BE49-F238E27FC236}">
                <a16:creationId xmlns:a16="http://schemas.microsoft.com/office/drawing/2014/main" id="{D6ABC35B-1939-481C-B769-409BBEC0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rPr>
              <a:t>局部合法不保证全局连贯</a:t>
            </a:r>
          </a:p>
        </p:txBody>
      </p:sp>
      <p:sp>
        <p:nvSpPr>
          <p:cNvPr id="61" name="equation">
            <a:extLst xmlns:a="http://schemas.openxmlformats.org/drawingml/2006/main">
              <a:ext uri="{FF2B5EF4-FFF2-40B4-BE49-F238E27FC236}">
                <a16:creationId xmlns:a16="http://schemas.microsoft.com/office/drawing/2014/main" id="{E643B871-FC4D-4435-B94E-5DADFDDC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67325"/>
            <a:ext cx="262414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AFAE572-D5CA-409B-8AD6-C5BBDFF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589" y="5442204"/>
            <a:ext cx="372904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ℓ+1</a:t>
            </a:r>
          </a:p>
        </p:txBody>
      </p:sp>
      <p:sp>
        <p:nvSpPr>
          <p:cNvPr id="63" name="equation">
            <a:extLst xmlns:a="http://schemas.openxmlformats.org/drawingml/2006/main">
              <a:ext uri="{FF2B5EF4-FFF2-40B4-BE49-F238E27FC236}">
                <a16:creationId xmlns:a16="http://schemas.microsoft.com/office/drawing/2014/main" id="{4A4AFC5F-8A29-4A38-8A23-57E71AE9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918" y="5267325"/>
            <a:ext cx="368236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≤ </a:t>
            </a:r>
          </a:p>
        </p:txBody>
      </p:sp>
      <p:sp>
        <p:nvSpPr>
          <p:cNvPr id="64" name="equation">
            <a:extLst xmlns:a="http://schemas.openxmlformats.org/drawingml/2006/main">
              <a:ext uri="{FF2B5EF4-FFF2-40B4-BE49-F238E27FC236}">
                <a16:creationId xmlns:a16="http://schemas.microsoft.com/office/drawing/2014/main" id="{CDDCBF79-99C6-4DE0-8907-6219C0F2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104" y="5267325"/>
            <a:ext cx="262414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A2C2BE0-1EDE-4641-BC1A-06518D4E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943" y="5442204"/>
            <a:ext cx="142018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66" name="A_ℓ 定义为“整条生成样本可合法解析至第 ℓ 层”的概率">
            <a:extLst xmlns:a="http://schemas.openxmlformats.org/drawingml/2006/main">
              <a:ext uri="{FF2B5EF4-FFF2-40B4-BE49-F238E27FC236}">
                <a16:creationId xmlns:a16="http://schemas.microsoft.com/office/drawing/2014/main" id="{9623EB6F-32E1-4F8A-B2B8-E7A29707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A_ℓ 定义为“整条生成样本可合法解析至第 ℓ 层”的概率</a:t>
            </a:r>
          </a:p>
        </p:txBody>
      </p:sp>
    </p:spTree>
    <p:extLst>
      <p:ext uri="{BB962C8B-B14F-4D97-AF65-F5344CB8AC3E}">
        <p14:creationId xmlns:p14="http://schemas.microsoft.com/office/powerpoint/2010/main" val="8136168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B4FC32-0EA1-4260-A26C-9EF1001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噪声实验检验各层状态的可恢复性</a:t>
            </a:r>
          </a:p>
        </p:txBody>
      </p:sp>
      <p:sp>
        <p:nvSpPr>
          <p:cNvPr id="2" name="02 统计关联 / 03 重建与协同变化">
            <a:extLst xmlns:a="http://schemas.openxmlformats.org/drawingml/2006/main">
              <a:ext uri="{FF2B5EF4-FFF2-40B4-BE49-F238E27FC236}">
                <a16:creationId xmlns:a16="http://schemas.microsoft.com/office/drawing/2014/main" id="{2CF723D8-F25D-44D3-831E-F1A841A7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02 统计关联 / 03 重建与协同变化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895F4744-0063-44D6-89DD-4B4F9DE8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09798D43-0DBF-41D6-B2B8-7AF57246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296799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A9DBDE3-A2EB-44B5-8655-2DD451DF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638872"/>
            <a:ext cx="157353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EFEA7D70-F80B-44BF-B6AE-F7795770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02" y="1438275"/>
            <a:ext cx="100136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(t) = E</a:t>
            </a:r>
          </a:p>
        </p:txBody>
      </p:sp>
      <p:sp>
        <p:nvSpPr>
          <p:cNvPr id="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D29A7FC-62C6-4531-A24E-C42F945A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915" y="1638872"/>
            <a:ext cx="259270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Zt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3F7D55EA-9039-4513-BA40-32FF444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611" y="1438275"/>
            <a:ext cx="121444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3B2959FC-A594-4A22-8A92-D830C602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04" y="1438275"/>
            <a:ext cx="244793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1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44E1618-FFC7-4A24-8411-8608B3D4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222" y="1638872"/>
            <a:ext cx="148590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35E17BFD-6F32-43AA-9721-A5702A1D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237" y="1438275"/>
            <a:ext cx="430911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p(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05A53E8E-FBF9-402D-8D56-5F6E509B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098" y="1438275"/>
            <a:ext cx="296799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0E0063C-0838-44BE-A8E2-B7F711F2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1638872"/>
            <a:ext cx="157353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9154AC25-EC3A-4D94-82C2-003DA902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38275"/>
            <a:ext cx="663035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=a | 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249E8390-54D4-4E54-926B-C8DB686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085" y="1438275"/>
            <a:ext cx="255460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CF91544-5770-4B76-8430-34B5F52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971" y="1638872"/>
            <a:ext cx="107252" cy="41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7C39A692-9310-4AC4-A7F8-A3E2551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647" y="1438275"/>
            <a:ext cx="263652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)²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4EBF7975-B9F1-4B70-812C-BD3B42A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96269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χ(t) = 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C47DCD19-9D0B-41D9-AE44-934A0450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42" y="2476500"/>
            <a:ext cx="250317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2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D10BD29-EB7D-4520-B4D7-62BDF2C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984" y="2682240"/>
            <a:ext cx="179927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ij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19A6390C-DAB5-4E1B-ADCA-C515039A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336" y="2476500"/>
            <a:ext cx="28270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705B01B-C62C-4195-BB3C-D0147A4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463" y="2682240"/>
            <a:ext cx="179927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ij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E9253BB5-A475-4458-B1A8-FF9482C2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815" y="2476500"/>
            <a:ext cx="68456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(t) / </a:t>
            </a:r>
          </a:p>
        </p:txBody>
      </p:sp>
      <p:sp>
        <p:nvSpPr>
          <p:cNvPr id="24" name="equation">
            <a:extLst xmlns:a="http://schemas.openxmlformats.org/drawingml/2006/main">
              <a:ext uri="{FF2B5EF4-FFF2-40B4-BE49-F238E27FC236}">
                <a16:creationId xmlns:a16="http://schemas.microsoft.com/office/drawing/2014/main" id="{E482EAED-13F5-4EFF-8575-C23AF8C1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327" y="2476500"/>
            <a:ext cx="250317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2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30CE0D3-1326-4E85-A88B-21D7120B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69" y="2682240"/>
            <a:ext cx="109061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A7A7D735-E38F-41E6-B755-81CC382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555" y="2476500"/>
            <a:ext cx="28270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7E7DCCF-4A92-4611-A0E8-10B27456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682" y="2682240"/>
            <a:ext cx="179927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4FB5CF5E-6613-4680-8A9E-D34A281C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035" y="2476500"/>
            <a:ext cx="388144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(t)</a:t>
            </a:r>
          </a:p>
        </p:txBody>
      </p:sp>
      <p:graphicFrame>
        <p:nvGraphicFrame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06CC62-184D-4E01-B774-7715E9A83646}"/>
              </a:ext>
            </a:extLst>
          </p:cNvPr>
          <p:cNvGraphicFramePr/>
          <p:nvPr/>
        </p:nvGraphicFramePr>
        <p:xfrm>
          <a:off xmlns:a="http://schemas.openxmlformats.org/drawingml/2006/main" x="609600" y="3629025"/>
          <a:ext xmlns:a="http://schemas.openxmlformats.org/drawingml/2006/main" cx="10972800" cy="2076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829550"/>
              </a:tblGrid>
              <a:tr h="519113"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检验的限制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19113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训练样本 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未知字典是否被可靠估计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噪声水平 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已知字典下，当前观测还能约束哪些状态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χ=1 与 χ=B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独立单点变化与理想 B 点共同变化的区分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C_ij 先对固定 X₀ 的随机轨迹求连接协方差，再对 X₀ 平">
            <a:extLst xmlns:a="http://schemas.openxmlformats.org/drawingml/2006/main">
              <a:ext uri="{FF2B5EF4-FFF2-40B4-BE49-F238E27FC236}">
                <a16:creationId xmlns:a16="http://schemas.microsoft.com/office/drawing/2014/main" id="{C7F59ECC-D2A2-4486-A9D2-DF912C9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C_ij 先对固定 X₀ 的随机轨迹求连接协方差，再对 X₀ 平均</a:t>
            </a:r>
          </a:p>
        </p:txBody>
      </p:sp>
    </p:spTree>
    <p:extLst>
      <p:ext uri="{BB962C8B-B14F-4D97-AF65-F5344CB8AC3E}">
        <p14:creationId xmlns:p14="http://schemas.microsoft.com/office/powerpoint/2010/main" val="20322269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1156EF-6F50-4D98-B563-A82C220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边界未知时，后验还要对分割求和</a:t>
            </a:r>
          </a:p>
        </p:txBody>
      </p:sp>
      <p:sp>
        <p:nvSpPr>
          <p:cNvPr id="2" name="03 树上消息 / 04 区间后验与消歧">
            <a:extLst xmlns:a="http://schemas.openxmlformats.org/drawingml/2006/main">
              <a:ext uri="{FF2B5EF4-FFF2-40B4-BE49-F238E27FC236}">
                <a16:creationId xmlns:a16="http://schemas.microsoft.com/office/drawing/2014/main" id="{DB816E8C-2A31-4EA9-A37A-DBFFD7BF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03 树上消息 / 04 区间后验与消歧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4C8CA3C7-80A0-4240-8BD4-0D15FCD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1F865-7266-47F8-8E29-CC1235058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bc49d0fd94115"/>
          <a:stretch xmlns:a="http://schemas.openxmlformats.org/drawingml/2006/main"/>
        </p:blipFill>
        <p:spPr>
          <a:xfrm xmlns:a="http://schemas.openxmlformats.org/drawingml/2006/main">
            <a:off x="1131892" y="1276350"/>
            <a:ext cx="9928216" cy="3124200"/>
          </a:xfrm>
          <a:prstGeom xmlns:a="http://schemas.openxmlformats.org/drawingml/2006/main" prst="rect">
            <a:avLst/>
          </a:prstGeom>
        </p:spPr>
      </p:pic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A28B99D-2B47-4ABE-A736-937688DD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26873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D0F6124-AF9A-483A-B040-6827ED56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98" y="4826699"/>
            <a:ext cx="180975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EDA77B86-90A1-460F-8D2C-B0255B3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98" y="4667250"/>
            <a:ext cx="777240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(i,j) = 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A5FB12B1-60FC-4B3D-8A1E-FA4F0F0A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4667250"/>
            <a:ext cx="200406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710132C-3D7B-4EBF-A82B-DD1DC1B8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19" y="4826699"/>
            <a:ext cx="642747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A→BC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01F5C004-4E10-4FD8-A310-35F1F0AA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491" y="4667250"/>
            <a:ext cx="243840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θ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B81AC41-9585-414F-9489-E2E2CCEF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281" y="4826699"/>
            <a:ext cx="642747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A→BC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AED39A89-EAAD-4781-BDF9-7A135BD2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453" y="4667250"/>
            <a:ext cx="102394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DB1F8A32-4353-4427-B27B-BB534537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797" y="4667250"/>
            <a:ext cx="200406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1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E3192D5-6A2A-4E7C-85D2-20E31265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4826699"/>
            <a:ext cx="766858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k=i…j−1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3B90FD6C-E098-40CE-BB15-3DDBFCEB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911" y="4667250"/>
            <a:ext cx="102394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4F817AE0-1A8F-441A-AE36-F75381C1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254" y="4667250"/>
            <a:ext cx="126873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DC975A2-C931-48F3-BC84-EEDE1DDD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552" y="4826699"/>
            <a:ext cx="170021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41A62E31-256F-4019-AB08-036BF0B0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999" y="4667250"/>
            <a:ext cx="528733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(i,k)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31EA6ABD-5A80-40B5-A4E7-DBC38C24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681" y="4667250"/>
            <a:ext cx="126873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75034F2-B44C-4173-AD6F-13399D5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979" y="4826699"/>
            <a:ext cx="170021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A35C1003-52EF-4831-9A5F-92C3D4D1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426" y="4667250"/>
            <a:ext cx="842867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(k+1,j)</a:t>
            </a:r>
          </a:p>
        </p:txBody>
      </p:sp>
      <p:sp>
        <p:nvSpPr>
          <p:cNvPr id="22" name="最优表示可保留候选权重。已知语法也未必消除根类别歧义">
            <a:extLst xmlns:a="http://schemas.openxmlformats.org/drawingml/2006/main">
              <a:ext uri="{FF2B5EF4-FFF2-40B4-BE49-F238E27FC236}">
                <a16:creationId xmlns:a16="http://schemas.microsoft.com/office/drawing/2014/main" id="{2806A806-6D0A-44C0-9F3B-2B7AE3DC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rPr>
              <a:t>最优表示可保留候选权重。已知语法也未必消除根类别歧义</a:t>
            </a:r>
          </a:p>
        </p:txBody>
      </p:sp>
    </p:spTree>
    <p:extLst>
      <p:ext uri="{BB962C8B-B14F-4D97-AF65-F5344CB8AC3E}">
        <p14:creationId xmlns:p14="http://schemas.microsoft.com/office/powerpoint/2010/main" val="1455612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39B220-2908-46BB-BA2C-804C6DA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输入与预测目标一起上移，才能复用相近尺度的信号</a:t>
            </a:r>
          </a:p>
        </p:txBody>
      </p:sp>
      <p:sp>
        <p:nvSpPr>
          <p:cNvPr id="2" name="01 条件统计编码 / 02 表面衰减 / 04 隐变量预测">
            <a:extLst xmlns:a="http://schemas.openxmlformats.org/drawingml/2006/main">
              <a:ext uri="{FF2B5EF4-FFF2-40B4-BE49-F238E27FC236}">
                <a16:creationId xmlns:a16="http://schemas.microsoft.com/office/drawing/2014/main" id="{DDCF61D3-A5C8-4C9C-8B0C-CDFB3210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01 条件统计编码 / 02 表面衰减 / 04 隐变量预测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38E60DB3-9E83-4BE6-A741-2025BF22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4120B4E-5725-4E8B-A2AE-B53614EA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64985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φ</a:t>
            </a:r>
          </a:p>
        </p:txBody>
      </p:sp>
      <p:sp>
        <p:nvSpPr>
          <p:cNvPr id="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D3A6BA0-270C-4E2E-94CA-393130F1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10" y="1649921"/>
            <a:ext cx="169545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4F134D17-9446-414D-9547-F5A14B21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" y="1428750"/>
            <a:ext cx="164973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E484BAE7-F56B-4C8B-A972-FC4EC7E9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03" y="1428750"/>
            <a:ext cx="301752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88F43A8-8E13-4970-9098-38A032D9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080" y="1649921"/>
            <a:ext cx="169545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CF8AD357-6F71-4B2B-B245-F822277E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051" y="1428750"/>
            <a:ext cx="941927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= p(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2A0C7524-8556-4F95-95DD-1F35837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928" y="1428750"/>
            <a:ext cx="278797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67EB8A0-F8D4-4EC2-9CFF-27DD69EE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49" y="1649921"/>
            <a:ext cx="169545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9A065B71-71D0-4F0C-892B-0D701AB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120" y="1428750"/>
            <a:ext cx="315373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 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33334993-DF27-4461-9D35-9DB85770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42" y="1428750"/>
            <a:ext cx="301752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49F8D74-AEBB-4F5F-BEA4-731F4AF9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619" y="1649921"/>
            <a:ext cx="169545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C96A1D06-8ECD-43A9-AC23-A7AF7BAC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89" y="1428750"/>
            <a:ext cx="164973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2A1AF-FE25-4DC9-BAFB-FE62BF96CA70}"/>
              </a:ext>
            </a:extLst>
          </p:cNvPr>
          <p:cNvGraphicFramePr/>
          <p:nvPr/>
        </p:nvGraphicFramePr>
        <p:xfrm>
          <a:off xmlns:a="http://schemas.openxmlformats.org/drawingml/2006/main" x="609600" y="2543175"/>
          <a:ext xmlns:a="http://schemas.openxmlformats.org/drawingml/2006/main" cx="10972800" cy="1724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258050"/>
              </a:tblGrid>
              <a:tr h="574675">
                <a:tc>
                  <a:txBody>
                    <a:bodyPr lIns="104775" tIns="104775" rIns="104775" bIns="1047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复用方式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下一阶段仍需辨认什么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74675"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只压缩输入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高层关系怎样影响随机的表面 token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同时提升输入与目标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02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相近抽象尺度中，哪些块共享同一作用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8B6DD2E2-FDC2-4206-84A1-07018EA1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56318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DCAC1E69-FB89-4013-9D1E-BEBE6C5C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3" y="5050346"/>
            <a:ext cx="983171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non-root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CC0021E9-A1E4-4B16-A92E-1134F95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938" y="4829175"/>
            <a:ext cx="1673257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∼ Õ(vm³)</a:t>
            </a:r>
          </a:p>
        </p:txBody>
      </p:sp>
      <p:sp>
        <p:nvSpPr>
          <p:cNvPr id="20" name="特定固定树与信号条件下的非根层次恢复。根类别可从无标签分布中不可">
            <a:extLst xmlns:a="http://schemas.openxmlformats.org/drawingml/2006/main">
              <a:ext uri="{FF2B5EF4-FFF2-40B4-BE49-F238E27FC236}">
                <a16:creationId xmlns:a16="http://schemas.microsoft.com/office/drawing/2014/main" id="{DFE29E38-1C7F-457E-BAE5-4FB37A34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特定固定树与信号条件下的非根层次恢复。根类别可从无标签分布中不可辨识</a:t>
            </a:r>
          </a:p>
        </p:txBody>
      </p:sp>
    </p:spTree>
    <p:extLst>
      <p:ext uri="{BB962C8B-B14F-4D97-AF65-F5344CB8AC3E}">
        <p14:creationId xmlns:p14="http://schemas.microsoft.com/office/powerpoint/2010/main" val="14920233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05F93B-A00F-4A85-B14E-49785B24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共享高层规则，把恢复尺度接到跨语言几何</a:t>
            </a:r>
          </a:p>
        </p:txBody>
      </p:sp>
      <p:sp>
        <p:nvSpPr>
          <p:cNvPr id="2" name="02 有效恢复深度 / 03 BP 计算 / 05 共享内容">
            <a:extLst xmlns:a="http://schemas.openxmlformats.org/drawingml/2006/main">
              <a:ext uri="{FF2B5EF4-FFF2-40B4-BE49-F238E27FC236}">
                <a16:creationId xmlns:a16="http://schemas.microsoft.com/office/drawing/2014/main" id="{E2CAA6A6-E4DD-4A83-A475-46827E55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02 有效恢复深度 / 03 BP 计算 / 05 共享内容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94DEF709-84CC-4F50-BFA8-A629BA8A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EE7F634-95CD-46B6-80BB-E8CC39B0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1423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p(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FAD5998-78CF-4CC6-8651-E15B6F30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80" y="1390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6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43F86FDF-19C0-4E09-B8DA-E4F3D6F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30" y="1308354"/>
            <a:ext cx="20402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9E2FE1CA-1BC4-4BB0-8E19-5BBEC789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680" y="1390650"/>
            <a:ext cx="1143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293E2235-E05C-4B6D-AF7A-9C49E0B8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930" y="1390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9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BEDA2AF9-FBBA-4D7F-8A9A-54945DB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380" y="1308354"/>
            <a:ext cx="19135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9105E774-4AEE-43B7-B62A-650174B7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1390650"/>
            <a:ext cx="507587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= 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554E6231-CD90-4B2A-A7C1-CC5C9C71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700" y="1390650"/>
            <a:ext cx="22812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1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AD6E645-37F4-4B7A-AF9F-85B76C59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49" y="1575816"/>
            <a:ext cx="178403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2E1E29C7-55B1-4362-8720-29608F9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077" y="1390650"/>
            <a:ext cx="72361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p(Z)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7B053750-02A4-43C7-B4E4-05A99BF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641" y="1390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E60F41E-B19D-4FB0-B659-88E4F9D4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091" y="1575816"/>
            <a:ext cx="20402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30884072-8BBD-4107-AD02-B48B9798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542" y="1390650"/>
            <a:ext cx="14278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9A247A7B-B93C-4561-98AF-EE0C44AA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71" y="1390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D9A5637C-64E9-4DA3-9094-B85E7E57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721" y="1308354"/>
            <a:ext cx="20402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41A147DC-F300-4C66-A49B-656081AB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172" y="1390650"/>
            <a:ext cx="5923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 Z)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9E55DA5E-60F7-4ACA-86B1-F74AAEAA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482" y="1390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2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527DA3A-4355-4749-B23E-2D71340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932" y="1575816"/>
            <a:ext cx="19135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AB70FF4E-C0FA-4528-B13F-917D54A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714" y="1390650"/>
            <a:ext cx="14278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E5AFA6F4-970F-4C94-A9BA-25A1DB92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444" y="1390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4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46C1468B-3093-4623-AF60-2014581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894" y="1308354"/>
            <a:ext cx="19135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5" name="equation">
            <a:extLst xmlns:a="http://schemas.openxmlformats.org/drawingml/2006/main">
              <a:ext uri="{FF2B5EF4-FFF2-40B4-BE49-F238E27FC236}">
                <a16:creationId xmlns:a16="http://schemas.microsoft.com/office/drawing/2014/main" id="{55EEB967-FD18-4D76-A471-8A96FFB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676" y="1390650"/>
            <a:ext cx="5923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 Z)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89E3A687-5CB7-4A29-9207-0CAC8CB8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19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A5E2D5B9-206E-48AA-8C96-896F3903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53665"/>
            <a:ext cx="335756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FB116E39-E839-48FF-9657-B0D583A7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6485"/>
            <a:ext cx="335756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(k)</a:t>
            </a:r>
          </a:p>
        </p:txBody>
      </p:sp>
      <p:sp>
        <p:nvSpPr>
          <p:cNvPr id="29" name="equation">
            <a:extLst xmlns:a="http://schemas.openxmlformats.org/drawingml/2006/main">
              <a:ext uri="{FF2B5EF4-FFF2-40B4-BE49-F238E27FC236}">
                <a16:creationId xmlns:a16="http://schemas.microsoft.com/office/drawing/2014/main" id="{0B7A52EC-528C-411E-972C-55423595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" y="2447925"/>
            <a:ext cx="433959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= </a:t>
            </a:r>
          </a:p>
        </p:txBody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05B3F288-3C29-4155-9182-A2B17342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190" y="2447925"/>
            <a:ext cx="219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3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DB8944AB-B624-484B-B336-C64D1E6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690" y="2653665"/>
            <a:ext cx="335756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32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130248CD-6CF9-4D4C-9955-741AF2A9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690" y="2356485"/>
            <a:ext cx="335756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33" name="equation">
            <a:extLst xmlns:a="http://schemas.openxmlformats.org/drawingml/2006/main">
              <a:ext uri="{FF2B5EF4-FFF2-40B4-BE49-F238E27FC236}">
                <a16:creationId xmlns:a16="http://schemas.microsoft.com/office/drawing/2014/main" id="{F7E2B037-F6EF-4A76-A08B-B1F1B158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872" y="2447925"/>
            <a:ext cx="1341977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⊕ … ⊕ </a:t>
            </a:r>
          </a:p>
        </p:txBody>
      </p:sp>
      <p:sp>
        <p:nvSpPr>
          <p:cNvPr id="34" name="equation">
            <a:extLst xmlns:a="http://schemas.openxmlformats.org/drawingml/2006/main">
              <a:ext uri="{FF2B5EF4-FFF2-40B4-BE49-F238E27FC236}">
                <a16:creationId xmlns:a16="http://schemas.microsoft.com/office/drawing/2014/main" id="{5418B9B3-BA9D-44D8-815C-4D79CCA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799" y="2447925"/>
            <a:ext cx="219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3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7B6562D-6682-48F7-B6C4-499B5515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299" y="2653665"/>
            <a:ext cx="335756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36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C10363E5-25C7-4106-A3D3-70216FAE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299" y="2356485"/>
            <a:ext cx="335756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(k)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0729DC-1169-498F-B68A-7470C8694D95}"/>
              </a:ext>
            </a:extLst>
          </p:cNvPr>
          <p:cNvGraphicFramePr/>
          <p:nvPr/>
        </p:nvGraphicFramePr>
        <p:xfrm>
          <a:off xmlns:a="http://schemas.openxmlformats.org/drawingml/2006/main" x="609600" y="3514725"/>
          <a:ext xmlns:a="http://schemas.openxmlformats.org/drawingml/2006/main" cx="10972800" cy="2133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14700"/>
                <a:gridCol w="7658100"/>
              </a:tblGrid>
              <a:tr h="533400"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消息所处阶段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共享程度的机制解释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33400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低层聚合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语言表面规则不同，状态与消息特异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进入共享高层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共同原因产生可比较的关系结构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转回目标 token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各语言条件实现使输出附近再次特异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共同内容要在两种语言中都达到可恢复尺度，才可能进入表示">
            <a:extLst xmlns:a="http://schemas.openxmlformats.org/drawingml/2006/main">
              <a:ext uri="{FF2B5EF4-FFF2-40B4-BE49-F238E27FC236}">
                <a16:creationId xmlns:a16="http://schemas.microsoft.com/office/drawing/2014/main" id="{04CCD6A3-A96D-43EF-97BE-1870A0F4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共同内容要在两种语言中都达到可恢复尺度，才可能进入表示</a:t>
            </a:r>
          </a:p>
        </p:txBody>
      </p:sp>
    </p:spTree>
    <p:extLst>
      <p:ext uri="{BB962C8B-B14F-4D97-AF65-F5344CB8AC3E}">
        <p14:creationId xmlns:p14="http://schemas.microsoft.com/office/powerpoint/2010/main" val="2395654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E086B8-9AE6-401B-884A-52013BF2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共享关系不唯一决定跨语言读出坐标</a:t>
            </a:r>
          </a:p>
        </p:txBody>
      </p:sp>
      <p:sp>
        <p:nvSpPr>
          <p:cNvPr id="2" name="01 隐状态重命名 / 05 几何与坐标自由度">
            <a:extLst xmlns:a="http://schemas.openxmlformats.org/drawingml/2006/main">
              <a:ext uri="{FF2B5EF4-FFF2-40B4-BE49-F238E27FC236}">
                <a16:creationId xmlns:a16="http://schemas.microsoft.com/office/drawing/2014/main" id="{127CF9FA-0F73-49DB-BCCA-25EA4B8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01 隐状态重命名 / 05 几何与坐标自由度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5360905E-EC7C-4961-9D88-09F6035D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9A8241F4-8908-434C-8746-1C9CFCD3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233363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EE040E4E-F606-44F8-B0BB-267FD6C4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8" y="1397127"/>
            <a:ext cx="236315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9033432B-25FA-4709-8B05-C1A71A46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28" y="1495425"/>
            <a:ext cx="2329434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(z,0,c),       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95E20E41-7F5A-4598-9545-09DE9650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512" y="1495425"/>
            <a:ext cx="233363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E8381B47-6BB3-41AD-A7E2-16225D94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299" y="1397127"/>
            <a:ext cx="221170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73BCF557-F0C9-4D0C-A7A1-1DBC67D1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895" y="1495425"/>
            <a:ext cx="2768441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(0,z,−c),   c&gt;0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7353C061-7862-47A7-B989-E3851F66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6583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||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66243327-DEEC-4EC5-907D-326A9184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80" y="2533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9B81013-99C8-444D-BB72-709CC473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30" y="2718816"/>
            <a:ext cx="20402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3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B39593BD-541F-414B-97B5-8BDD1020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30" y="2451354"/>
            <a:ext cx="20402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C0678950-8768-4E3E-9819-40F877AA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81" y="2533650"/>
            <a:ext cx="22193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9724598D-FE56-48EB-B543-1486B0F4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163" y="2533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E43F43B-03CB-4B82-9121-191B1164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3" y="2718816"/>
            <a:ext cx="20402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17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EC2DBD44-F52A-4B9E-8B53-6B0D052C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3" y="2451354"/>
            <a:ext cx="20402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00A5F4B4-A3BA-4B91-9C03-27EB043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064" y="2533650"/>
            <a:ext cx="667988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|| = ||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A758EF53-3057-4670-9554-E56904DF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002" y="2533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F1307A2-7C6E-4B0D-B44D-19E71223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452" y="2718816"/>
            <a:ext cx="19135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1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55FE7F3C-DD15-4E8C-8856-37E2EEB7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452" y="2451354"/>
            <a:ext cx="19135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B0D38654-4221-45E2-AA97-ECF0FA9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234" y="2533650"/>
            <a:ext cx="22193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742836E2-200C-4DCC-B8D7-B5948484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117" y="253365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9C1B346-6761-473C-A822-4F0CF8D0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567" y="2718816"/>
            <a:ext cx="19135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25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B04C29CC-F019-4882-95EB-3477E4D3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567" y="2451354"/>
            <a:ext cx="19135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723AA53B-69F6-4A90-B1B8-1CB610C7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349" y="2533650"/>
            <a:ext cx="667988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|| = ||</a:t>
            </a:r>
          </a:p>
        </p:txBody>
      </p:sp>
      <p:sp>
        <p:nvSpPr>
          <p:cNvPr id="27" name="equation">
            <a:extLst xmlns:a="http://schemas.openxmlformats.org/drawingml/2006/main">
              <a:ext uri="{FF2B5EF4-FFF2-40B4-BE49-F238E27FC236}">
                <a16:creationId xmlns:a16="http://schemas.microsoft.com/office/drawing/2014/main" id="{37B3DA51-8681-4C81-BB57-6965815B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287" y="2533650"/>
            <a:ext cx="1807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2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2AAFBA1-6834-4D54-9E99-018D2D86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97" y="2718816"/>
            <a:ext cx="10191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9" name="equation">
            <a:extLst xmlns:a="http://schemas.openxmlformats.org/drawingml/2006/main">
              <a:ext uri="{FF2B5EF4-FFF2-40B4-BE49-F238E27FC236}">
                <a16:creationId xmlns:a16="http://schemas.microsoft.com/office/drawing/2014/main" id="{901C2D1A-F7DB-45E2-9933-E4555163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39" y="2533650"/>
            <a:ext cx="22193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D16BEDE2-0295-4259-BEE6-6A82F41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722" y="2533650"/>
            <a:ext cx="1807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D106911E-ECE5-483B-B9E2-F2467F8A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931" y="2718816"/>
            <a:ext cx="10191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32" name="equation">
            <a:extLst xmlns:a="http://schemas.openxmlformats.org/drawingml/2006/main">
              <a:ext uri="{FF2B5EF4-FFF2-40B4-BE49-F238E27FC236}">
                <a16:creationId xmlns:a16="http://schemas.microsoft.com/office/drawing/2014/main" id="{A809C74E-A941-4917-A605-F155256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274" y="2533650"/>
            <a:ext cx="16583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||</a:t>
            </a:r>
          </a:p>
        </p:txBody>
      </p:sp>
      <p:sp>
        <p:nvSpPr>
          <p:cNvPr id="33" name="equation">
            <a:extLst xmlns:a="http://schemas.openxmlformats.org/drawingml/2006/main">
              <a:ext uri="{FF2B5EF4-FFF2-40B4-BE49-F238E27FC236}">
                <a16:creationId xmlns:a16="http://schemas.microsoft.com/office/drawing/2014/main" id="{9335D5AA-8AC0-4BE7-A7EA-D7137156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63375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w = (u,0,0):        wᵀ</a:t>
            </a:r>
          </a:p>
        </p:txBody>
      </p:sp>
      <p:sp>
        <p:nvSpPr>
          <p:cNvPr id="34" name="equation">
            <a:extLst xmlns:a="http://schemas.openxmlformats.org/drawingml/2006/main">
              <a:ext uri="{FF2B5EF4-FFF2-40B4-BE49-F238E27FC236}">
                <a16:creationId xmlns:a16="http://schemas.microsoft.com/office/drawing/2014/main" id="{B4D44930-9D0B-445F-9F16-DE6B0ECE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308" y="35433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35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13081CC4-AAA3-4949-9743-B52FBDD6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95" y="3463290"/>
            <a:ext cx="19935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6" name="equation">
            <a:extLst xmlns:a="http://schemas.openxmlformats.org/drawingml/2006/main">
              <a:ext uri="{FF2B5EF4-FFF2-40B4-BE49-F238E27FC236}">
                <a16:creationId xmlns:a16="http://schemas.microsoft.com/office/drawing/2014/main" id="{91F24B49-8E11-47DD-BEA4-A4404020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779" y="3543300"/>
            <a:ext cx="184699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 = uᵀz,       wᵀ</a:t>
            </a:r>
          </a:p>
        </p:txBody>
      </p:sp>
      <p:sp>
        <p:nvSpPr>
          <p:cNvPr id="37" name="equation">
            <a:extLst xmlns:a="http://schemas.openxmlformats.org/drawingml/2006/main">
              <a:ext uri="{FF2B5EF4-FFF2-40B4-BE49-F238E27FC236}">
                <a16:creationId xmlns:a16="http://schemas.microsoft.com/office/drawing/2014/main" id="{083E7391-8012-4999-8F8A-868DE42B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721" y="35433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3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57C78516-5C57-4F0A-BC61-076C2105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409" y="3463290"/>
            <a:ext cx="187071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9" name="equation">
            <a:extLst xmlns:a="http://schemas.openxmlformats.org/drawingml/2006/main">
              <a:ext uri="{FF2B5EF4-FFF2-40B4-BE49-F238E27FC236}">
                <a16:creationId xmlns:a16="http://schemas.microsoft.com/office/drawing/2014/main" id="{92C66C2C-E14B-4DB2-86B4-50261864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905" y="3543300"/>
            <a:ext cx="54997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 = 0</a:t>
            </a:r>
          </a:p>
        </p:txBody>
      </p:sp>
      <p:graphicFrame>
        <p:nvGraphicFrame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F14520-80F2-4578-B50B-B64492A4AFC5}"/>
              </a:ext>
            </a:extLst>
          </p:cNvPr>
          <p:cNvGraphicFramePr/>
          <p:nvPr/>
        </p:nvGraphicFramePr>
        <p:xfrm>
          <a:off xmlns:a="http://schemas.openxmlformats.org/drawingml/2006/main" x="609600" y="4562475"/>
          <a:ext xmlns:a="http://schemas.openxmlformats.org/drawingml/2006/main" cx="10972800" cy="15906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76875"/>
                <a:gridCol w="5495925"/>
              </a:tblGrid>
              <a:tr h="397669">
                <a:tc>
                  <a:txBody>
                    <a:bodyPr lIns="104775" tIns="104775" rIns="104775" bIns="1047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已成立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仍需要额外证据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397669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相同内部邻域关系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固定探针能否直接迁移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669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两种表示都包含共享 z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共享参数是否约束相对坐标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669"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语言身份依然可读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模型是否执行同一个算法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7716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FF4DD1-4E9D-4856-A6AC-7FD55069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仿射残差显露超出线性保留的共享计算</a:t>
            </a:r>
          </a:p>
        </p:txBody>
      </p:sp>
      <p:sp>
        <p:nvSpPr>
          <p:cNvPr id="2" name="03 旧消息保留 / 05 新计算的可访问性">
            <a:extLst xmlns:a="http://schemas.openxmlformats.org/drawingml/2006/main">
              <a:ext uri="{FF2B5EF4-FFF2-40B4-BE49-F238E27FC236}">
                <a16:creationId xmlns:a16="http://schemas.microsoft.com/office/drawing/2014/main" id="{926206C3-3526-42FF-9905-30676D8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03 旧消息保留 / 05 新计算的可访问性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E1A90271-7B94-423B-B57A-EA04D2A4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9A6EB7A5-7DDD-4264-A07F-EC75EB21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49066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5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558EDE7B-4589-4332-8174-E289BDD8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" y="1218057"/>
            <a:ext cx="320897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(k)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25AFB89E-E372-4CE7-9EE8-36ABC7B9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14" y="1304925"/>
            <a:ext cx="413671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0908144F-92FE-4374-8EA9-883D9D23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034" y="1304925"/>
            <a:ext cx="209550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3D6293C6-D98B-444D-A83F-4224BC8B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009" y="1218057"/>
            <a:ext cx="320897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(k)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017C9C67-1630-4C69-8D68-32780482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332" y="1304925"/>
            <a:ext cx="534162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− [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A453C43E-A455-4AC0-B6D4-0B7631D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44" y="1304925"/>
            <a:ext cx="209550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1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C5E80033-4A1C-4A24-A79A-8CAB46D9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419" y="1218057"/>
            <a:ext cx="578929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(k−1)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4A0C19A7-E00C-4C32-BB53-1E48554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73" y="1304925"/>
            <a:ext cx="370237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A4B0A383-D5A7-4048-A51D-0C45ED48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435" y="1500378"/>
            <a:ext cx="159353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22B3C396-1776-422F-B51A-DE73EE5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213" y="1304925"/>
            <a:ext cx="413671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+ 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1D5B73C2-C07F-4993-BD44-BE7695B9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34" y="1304925"/>
            <a:ext cx="209550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3C94D171-623D-4A2F-92F3-BDC038CF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809" y="1500378"/>
            <a:ext cx="159353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90F7A7C3-ADC5-433F-BE1F-16FF5F0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587" y="1304925"/>
            <a:ext cx="149066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18" name="mKNN（越高越好）">
            <a:extLst xmlns:a="http://schemas.openxmlformats.org/drawingml/2006/main">
              <a:ext uri="{FF2B5EF4-FFF2-40B4-BE49-F238E27FC236}">
                <a16:creationId xmlns:a16="http://schemas.microsoft.com/office/drawing/2014/main" id="{C234FFDC-0F47-421D-A6F1-8238AE7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mKNN（越高越好）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BD53F78E-5353-4C6F-828F-F92F1B284F42}"/>
              </a:ext>
            </a:extLst>
          </p:cNvPr>
          <p:cNvGraphicFramePr/>
          <p:nvPr/>
        </p:nvGraphicFramePr>
        <p:xfrm>
          <a:off xmlns:a="http://schemas.openxmlformats.org/drawingml/2006/main" x="609600" y="2762250"/>
          <a:ext xmlns:a="http://schemas.openxmlformats.org/drawingml/2006/main" cx="52578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aff5b222314389"/>
          </a:graphicData>
        </a:graphic>
      </p:graphicFrame>
      <p:sp>
        <p:nvSpPr>
          <p:cNvPr id="20" name="Information Imbalance（越低越好）">
            <a:extLst xmlns:a="http://schemas.openxmlformats.org/drawingml/2006/main">
              <a:ext uri="{FF2B5EF4-FFF2-40B4-BE49-F238E27FC236}">
                <a16:creationId xmlns:a16="http://schemas.microsoft.com/office/drawing/2014/main" id="{425D40FD-78F3-40E1-9762-EAEEEB69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Information Imbalance（越低越好）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299F6D66-71C9-4E96-B00B-ECC5E7DA1860}"/>
              </a:ext>
            </a:extLst>
          </p:cNvPr>
          <p:cNvGraphicFramePr/>
          <p:nvPr/>
        </p:nvGraphicFramePr>
        <p:xfrm>
          <a:off xmlns:a="http://schemas.openxmlformats.org/drawingml/2006/main" x="6324600" y="2762250"/>
          <a:ext xmlns:a="http://schemas.openxmlformats.org/drawingml/2006/main" cx="52578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7cf6d276984dd3"/>
          </a:graphicData>
        </a:graphic>
      </p:graphicFrame>
      <p:sp>
        <p:nvSpPr>
          <p:cNvPr id="22" name="机制模型，N=600、k=10，仿射映射独立拟合。“新”指线性可">
            <a:extLst xmlns:a="http://schemas.openxmlformats.org/drawingml/2006/main">
              <a:ext uri="{FF2B5EF4-FFF2-40B4-BE49-F238E27FC236}">
                <a16:creationId xmlns:a16="http://schemas.microsoft.com/office/drawing/2014/main" id="{E04EE3C7-1674-4FE0-AD8F-FD712787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机制模型，N=600、k=10，仿射映射独立拟合。“新”指线性可访问性的变化</a:t>
            </a:r>
          </a:p>
        </p:txBody>
      </p:sp>
    </p:spTree>
    <p:extLst>
      <p:ext uri="{BB962C8B-B14F-4D97-AF65-F5344CB8AC3E}">
        <p14:creationId xmlns:p14="http://schemas.microsoft.com/office/powerpoint/2010/main" val="18512977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6DB5E0-4881-4BF0-9127-0164A780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可学习的结构需要经过不同层次的检验</a:t>
            </a:r>
          </a:p>
        </p:txBody>
      </p:sp>
      <p:sp>
        <p:nvSpPr>
          <p:cNvPr id="2" name="共同主线：可辨认关系怎样成为可复用计算">
            <a:extLst xmlns:a="http://schemas.openxmlformats.org/drawingml/2006/main">
              <a:ext uri="{FF2B5EF4-FFF2-40B4-BE49-F238E27FC236}">
                <a16:creationId xmlns:a16="http://schemas.microsoft.com/office/drawing/2014/main" id="{19A5B9DF-03E8-4305-A2BE-5433069E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共同主线：可辨认关系怎样成为可复用计算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DB864866-DE84-4D17-B1DB-525321DA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可辨认">
            <a:extLst xmlns:a="http://schemas.openxmlformats.org/drawingml/2006/main">
              <a:ext uri="{FF2B5EF4-FFF2-40B4-BE49-F238E27FC236}">
                <a16:creationId xmlns:a16="http://schemas.microsoft.com/office/drawing/2014/main" id="{D3D785E6-BC90-459F-B0DB-9061118D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rPr>
              <a:t>可辨认</a:t>
            </a:r>
          </a:p>
        </p:txBody>
      </p:sp>
      <p:sp>
        <p:nvSpPr>
          <p:cNvPr id="5" name="目标留下可分离的条件关系">
            <a:extLst xmlns:a="http://schemas.openxmlformats.org/drawingml/2006/main">
              <a:ext uri="{FF2B5EF4-FFF2-40B4-BE49-F238E27FC236}">
                <a16:creationId xmlns:a16="http://schemas.microsoft.com/office/drawing/2014/main" id="{A6A8539C-B449-45F1-9E77-620AD75B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720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目标留下可分离的条件关系</a:t>
            </a:r>
          </a:p>
        </p:txBody>
      </p:sp>
      <p:sp>
        <p:nvSpPr>
          <p:cNvPr id="6" name="可估计">
            <a:extLst xmlns:a="http://schemas.openxmlformats.org/drawingml/2006/main">
              <a:ext uri="{FF2B5EF4-FFF2-40B4-BE49-F238E27FC236}">
                <a16:creationId xmlns:a16="http://schemas.microsoft.com/office/drawing/2014/main" id="{87C4479F-367A-4F6E-8369-6980706E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rPr>
              <a:t>可估计</a:t>
            </a:r>
          </a:p>
        </p:txBody>
      </p:sp>
      <p:sp>
        <p:nvSpPr>
          <p:cNvPr id="7" name="样本与共享机制显露相应尺度">
            <a:extLst xmlns:a="http://schemas.openxmlformats.org/drawingml/2006/main">
              <a:ext uri="{FF2B5EF4-FFF2-40B4-BE49-F238E27FC236}">
                <a16:creationId xmlns:a16="http://schemas.microsoft.com/office/drawing/2014/main" id="{A7C6EE8C-7A32-422E-8829-BDDBB7AA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38425"/>
            <a:ext cx="720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样本与共享机制显露相应尺度</a:t>
            </a:r>
          </a:p>
        </p:txBody>
      </p:sp>
      <p:sp>
        <p:nvSpPr>
          <p:cNvPr id="8" name="可复用">
            <a:extLst xmlns:a="http://schemas.openxmlformats.org/drawingml/2006/main">
              <a:ext uri="{FF2B5EF4-FFF2-40B4-BE49-F238E27FC236}">
                <a16:creationId xmlns:a16="http://schemas.microsoft.com/office/drawing/2014/main" id="{BCC0EFFA-A76F-408E-BFCB-D6A6D104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A8D1EF"/>
                </a:solidFill>
                <a:latin typeface="PingFang SC"/>
                <a:ea typeface="PingFang SC"/>
                <a:cs typeface="PingFang SC"/>
              </a:rPr>
              <a:t>可复用</a:t>
            </a:r>
          </a:p>
        </p:txBody>
      </p:sp>
      <p:sp>
        <p:nvSpPr>
          <p:cNvPr id="9" name="表示保留后续任务所需的状态与依赖">
            <a:extLst xmlns:a="http://schemas.openxmlformats.org/drawingml/2006/main">
              <a:ext uri="{FF2B5EF4-FFF2-40B4-BE49-F238E27FC236}">
                <a16:creationId xmlns:a16="http://schemas.microsoft.com/office/drawing/2014/main" id="{9E032BF9-AAB9-46B3-B2B4-47327A2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00475"/>
            <a:ext cx="720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表示保留后续任务所需的状态与依赖</a:t>
            </a:r>
          </a:p>
        </p:txBody>
      </p:sp>
      <p:sp>
        <p:nvSpPr>
          <p:cNvPr id="10" name="可检验">
            <a:extLst xmlns:a="http://schemas.openxmlformats.org/drawingml/2006/main">
              <a:ext uri="{FF2B5EF4-FFF2-40B4-BE49-F238E27FC236}">
                <a16:creationId xmlns:a16="http://schemas.microsoft.com/office/drawing/2014/main" id="{DCF4AF66-CE2B-40F8-9932-C718F956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9DD8CB"/>
                </a:solidFill>
                <a:latin typeface="PingFang SC"/>
                <a:ea typeface="PingFang SC"/>
                <a:cs typeface="PingFang SC"/>
              </a:rPr>
              <a:t>可检验</a:t>
            </a:r>
          </a:p>
        </p:txBody>
      </p:sp>
      <p:sp>
        <p:nvSpPr>
          <p:cNvPr id="11" name="后验、组合生成、跨语言迁移分别验证">
            <a:extLst xmlns:a="http://schemas.openxmlformats.org/drawingml/2006/main">
              <a:ext uri="{FF2B5EF4-FFF2-40B4-BE49-F238E27FC236}">
                <a16:creationId xmlns:a16="http://schemas.microsoft.com/office/drawing/2014/main" id="{216C2423-EEF5-48C7-BB8C-C856E5DB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67300"/>
            <a:ext cx="720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后验、组合生成、跨语言迁移分别验证</a:t>
            </a:r>
          </a:p>
        </p:txBody>
      </p:sp>
    </p:spTree>
    <p:extLst>
      <p:ext uri="{BB962C8B-B14F-4D97-AF65-F5344CB8AC3E}">
        <p14:creationId xmlns:p14="http://schemas.microsoft.com/office/powerpoint/2010/main" val="245513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285F8E-4223-4F03-93EF-9840675D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备份：RHM 的完整概率结构与参数</a:t>
            </a:r>
          </a:p>
        </p:txBody>
      </p:sp>
      <p:sp>
        <p:nvSpPr>
          <p:cNvPr id="2" name="技术备份 / 01 RHM 设定">
            <a:extLst xmlns:a="http://schemas.openxmlformats.org/drawingml/2006/main">
              <a:ext uri="{FF2B5EF4-FFF2-40B4-BE49-F238E27FC236}">
                <a16:creationId xmlns:a16="http://schemas.microsoft.com/office/drawing/2014/main" id="{EA6BE83E-44A9-433A-A387-9023AA4C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01 RHM 设定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2C859A26-3307-4698-A2B1-1B741257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叶层为 0，根层为 L。字典固定，节点展开随机">
            <a:extLst xmlns:a="http://schemas.openxmlformats.org/drawingml/2006/main">
              <a:ext uri="{FF2B5EF4-FFF2-40B4-BE49-F238E27FC236}">
                <a16:creationId xmlns:a16="http://schemas.microsoft.com/office/drawing/2014/main" id="{8CAA0BED-6132-444A-84B2-0C59AB0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叶层为 0，根层为 L。字典固定，节点展开随机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1DEFC3DE-E6DF-48F8-AD79-BD82185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3803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80F44B5-B1DB-44B9-BBAF-1906E777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55" y="2204466"/>
            <a:ext cx="148114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4F0DC6F5-1119-47F6-981C-1941EE3D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93" y="2019300"/>
            <a:ext cx="290960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(b | a) = (1/m) 1{b ∈ 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8DB702F3-6FB3-4CE6-BE8B-B3E7F00B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145" y="2019300"/>
            <a:ext cx="25727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E548DBE-068C-455D-A9A5-D4E80329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841" y="2204466"/>
            <a:ext cx="148114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667BBC32-2E39-4829-88F3-CB5FECB9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379" y="2019300"/>
            <a:ext cx="573691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(a)}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3C492679-626C-47A5-A68C-05599549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787462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p(y,h,x) = (1/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8FE42DA3-A085-49FB-BF01-AFBB796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012" y="291465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2003FB6-5C77-471F-9B48-DDA3524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699" y="3094673"/>
            <a:ext cx="137255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D2B6610C-3CDE-401F-BF49-4E53EDA6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379" y="2914650"/>
            <a:ext cx="222980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5EAEEFC0-0081-4A87-A733-228FF18B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310" y="2914650"/>
            <a:ext cx="302990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∏</a:t>
            </a:r>
          </a:p>
        </p:txBody>
      </p:sp>
      <p:sp>
        <p:nvSpPr>
          <p:cNvPr id="1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1019847-84C6-4041-B162-979D0D41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725" y="3094673"/>
            <a:ext cx="312610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ℓ,u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4B7E6F71-E89D-434F-A53D-4D3493CA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760" y="2914650"/>
            <a:ext cx="11191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21937D97-700F-428B-9624-1DB8A511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629" y="2914650"/>
            <a:ext cx="23221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85B3BF0-5F1E-4794-B5FD-D6F708EB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274" y="3094673"/>
            <a:ext cx="145066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427241BC-9968-4DD1-9DA9-D7DDCF02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764" y="2914650"/>
            <a:ext cx="30632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(h</a:t>
            </a:r>
          </a:p>
        </p:txBody>
      </p:sp>
      <p:sp>
        <p:nvSpPr>
          <p:cNvPr id="2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A6D8745-53C5-4AF7-86AE-9AB72623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8" y="3094673"/>
            <a:ext cx="745141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child(u)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7CEDFFA2-4426-4DFE-9C79-6B55A991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04" y="2914650"/>
            <a:ext cx="26203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 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DD65482E-EBFB-48A8-BDA0-0B539D7D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587" y="291465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D773BD22-53B8-4B5E-AB93-B205CE45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274" y="3094673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5" name="equation">
            <a:extLst xmlns:a="http://schemas.openxmlformats.org/drawingml/2006/main">
              <a:ext uri="{FF2B5EF4-FFF2-40B4-BE49-F238E27FC236}">
                <a16:creationId xmlns:a16="http://schemas.microsoft.com/office/drawing/2014/main" id="{0AE0E0CB-495B-471E-8B9D-E751522A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28" y="2914650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45DD71-20FB-4577-8719-8448F420A96B}"/>
              </a:ext>
            </a:extLst>
          </p:cNvPr>
          <p:cNvGraphicFramePr/>
          <p:nvPr/>
        </p:nvGraphicFramePr>
        <p:xfrm>
          <a:off xmlns:a="http://schemas.openxmlformats.org/drawingml/2006/main" x="609600" y="4000500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639050"/>
              </a:tblGrid>
              <a:tr h="500063"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500063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s、m、v、L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分支数、每父规则数、词表大小、树深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 = sᴸ，P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观测长度、独立完整训练样本数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无歧义 + 固定分组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1875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完整子元组决定父状态，m ≤ vˢ⁻¹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969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00FCCA-BD8B-4129-94D4-D4EFF86F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备份：交叉熵梯度怎样读取条件统计</a:t>
            </a:r>
          </a:p>
        </p:txBody>
      </p:sp>
      <p:sp>
        <p:nvSpPr>
          <p:cNvPr id="2" name="技术备份 / 01 梯度与条件统计">
            <a:extLst xmlns:a="http://schemas.openxmlformats.org/drawingml/2006/main">
              <a:ext uri="{FF2B5EF4-FFF2-40B4-BE49-F238E27FC236}">
                <a16:creationId xmlns:a16="http://schemas.microsoft.com/office/drawing/2014/main" id="{B559ED5D-8525-4A66-8EBE-E2F4C324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01 梯度与条件统计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D4BA61F7-8A56-4D13-8D2B-3AB7AB84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80E998F-E62E-437D-A5BB-0BDDE0D5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807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7D1036E-F396-4839-9DA1-72FEF835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9" y="1547241"/>
            <a:ext cx="15849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7CCFFE0B-D892-433F-A550-884D5158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30" y="1362075"/>
            <a:ext cx="79324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(b) = 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FB9143C8-5FDD-4A8D-8466-15909D59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" y="1362075"/>
            <a:ext cx="22812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56E114C-AC42-4F07-AD80-BCDA0D66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471" y="15472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1ACB2586-AFCD-46EA-A1D5-104AABF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868" y="1362075"/>
            <a:ext cx="1143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5BE08E3D-27F1-425C-94F0-2CE2B853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118" y="1362075"/>
            <a:ext cx="1807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D2EED58-E737-4908-973E-2D68BA86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327" y="1547241"/>
            <a:ext cx="273368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hα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4625F8EE-C79A-420F-BC09-73FCB5B0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120" y="1362075"/>
            <a:ext cx="2762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AB89C68B-21FC-4EF0-B62A-7B30F9E1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770" y="1547241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32A5DAA4-7FA2-489E-874B-88D9C930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166" y="1362075"/>
            <a:ext cx="42843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D1453D9F-206C-4E05-831A-9C48AF56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2946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∂(−log 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364EE060-7310-4DDA-8E32-02F18A97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12" y="220980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A9334F0-A715-483B-B4EE-6C474E7E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462" y="2394966"/>
            <a:ext cx="152972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A225702A-086B-4473-82B3-FC5359DB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859" y="2209800"/>
            <a:ext cx="57892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/ ∂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9A9155BA-190A-4EF2-9FAC-F96D785F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738" y="2209800"/>
            <a:ext cx="1807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2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140D7644-EC92-43C6-BBD2-D3669606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2394966"/>
            <a:ext cx="15849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C7E43662-9689-45DC-958D-7990933E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869" y="2209800"/>
            <a:ext cx="39338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26B2D84B-ABD6-44F5-B402-63C7E893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201" y="2209800"/>
            <a:ext cx="2000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49206CA-3080-4A67-8BCB-A0405974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651" y="2394966"/>
            <a:ext cx="158496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24" name="equation">
            <a:extLst xmlns:a="http://schemas.openxmlformats.org/drawingml/2006/main">
              <a:ext uri="{FF2B5EF4-FFF2-40B4-BE49-F238E27FC236}">
                <a16:creationId xmlns:a16="http://schemas.microsoft.com/office/drawing/2014/main" id="{9F1ABC02-9C3F-49B2-B16A-47930AB1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572" y="2209800"/>
            <a:ext cx="1514666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− 1{Y=α}</a:t>
            </a:r>
          </a:p>
        </p:txBody>
      </p:sp>
      <p:sp>
        <p:nvSpPr>
          <p:cNvPr id="25" name="equation">
            <a:extLst xmlns:a="http://schemas.openxmlformats.org/drawingml/2006/main">
              <a:ext uri="{FF2B5EF4-FFF2-40B4-BE49-F238E27FC236}">
                <a16:creationId xmlns:a16="http://schemas.microsoft.com/office/drawing/2014/main" id="{1F41F249-290A-429F-B9B1-F9237FFE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968978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−∂L̂ / ∂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74FBC52B-01F0-4C8C-84C6-91B86A1E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28" y="3152775"/>
            <a:ext cx="262414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2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BC6D595-865D-4259-9EB7-2D48C335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367" y="3327654"/>
            <a:ext cx="146590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4EBDEE72-1DD3-48CE-92C4-4BD229FC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82" y="3152775"/>
            <a:ext cx="75076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(b) = </a:t>
            </a:r>
          </a:p>
        </p:txBody>
      </p:sp>
      <p:sp>
        <p:nvSpPr>
          <p:cNvPr id="29" name="equation">
            <a:extLst xmlns:a="http://schemas.openxmlformats.org/drawingml/2006/main">
              <a:ext uri="{FF2B5EF4-FFF2-40B4-BE49-F238E27FC236}">
                <a16:creationId xmlns:a16="http://schemas.microsoft.com/office/drawing/2014/main" id="{7E468ECB-D036-4874-ADB3-1042DCD2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092" y="3152775"/>
            <a:ext cx="217075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3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3043C2AA-3CC4-48AD-8CC9-2C485D05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92" y="3327654"/>
            <a:ext cx="151828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31" name="equation">
            <a:extLst xmlns:a="http://schemas.openxmlformats.org/drawingml/2006/main">
              <a:ext uri="{FF2B5EF4-FFF2-40B4-BE49-F238E27FC236}">
                <a16:creationId xmlns:a16="http://schemas.microsoft.com/office/drawing/2014/main" id="{7328D69B-2867-457C-AFB9-5847F5AB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846" y="3152775"/>
            <a:ext cx="109538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32" name="equation">
            <a:extLst xmlns:a="http://schemas.openxmlformats.org/drawingml/2006/main">
              <a:ext uri="{FF2B5EF4-FFF2-40B4-BE49-F238E27FC236}">
                <a16:creationId xmlns:a16="http://schemas.microsoft.com/office/drawing/2014/main" id="{7AAD40DA-5E3B-44D1-BA2B-430461E2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333" y="3152775"/>
            <a:ext cx="172307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8354D0F-1440-4D12-AECD-580BBDAE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065" y="3327654"/>
            <a:ext cx="260318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hα</a:t>
            </a:r>
          </a:p>
        </p:txBody>
      </p:sp>
      <p:sp>
        <p:nvSpPr>
          <p:cNvPr id="34" name="equation">
            <a:extLst xmlns:a="http://schemas.openxmlformats.org/drawingml/2006/main">
              <a:ext uri="{FF2B5EF4-FFF2-40B4-BE49-F238E27FC236}">
                <a16:creationId xmlns:a16="http://schemas.microsoft.com/office/drawing/2014/main" id="{DE2D6D60-1E37-40F7-8FE9-FDDCC5DE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809" y="3152775"/>
            <a:ext cx="1981676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[p̂(b,α) − p̂(b)/</a:t>
            </a:r>
          </a:p>
        </p:txBody>
      </p:sp>
      <p:sp>
        <p:nvSpPr>
          <p:cNvPr id="35" name="equation">
            <a:extLst xmlns:a="http://schemas.openxmlformats.org/drawingml/2006/main">
              <a:ext uri="{FF2B5EF4-FFF2-40B4-BE49-F238E27FC236}">
                <a16:creationId xmlns:a16="http://schemas.microsoft.com/office/drawing/2014/main" id="{4989B5D6-D362-43C5-A447-3C4CC0A7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435" y="3152775"/>
            <a:ext cx="19050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3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98C81D3-9839-451A-84BF-7BDC3BCA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360" y="3327654"/>
            <a:ext cx="134398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7" name="equation">
            <a:extLst xmlns:a="http://schemas.openxmlformats.org/drawingml/2006/main">
              <a:ext uri="{FF2B5EF4-FFF2-40B4-BE49-F238E27FC236}">
                <a16:creationId xmlns:a16="http://schemas.microsoft.com/office/drawing/2014/main" id="{640F6FF3-831E-4A78-8F17-AFA4FFCC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3" y="3152775"/>
            <a:ext cx="136398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38" name="equation">
            <a:extLst xmlns:a="http://schemas.openxmlformats.org/drawingml/2006/main">
              <a:ext uri="{FF2B5EF4-FFF2-40B4-BE49-F238E27FC236}">
                <a16:creationId xmlns:a16="http://schemas.microsoft.com/office/drawing/2014/main" id="{61DF4131-833B-4A82-89FC-C0448D2F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93868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= p̂(b) </a:t>
            </a:r>
          </a:p>
        </p:txBody>
      </p:sp>
      <p:sp>
        <p:nvSpPr>
          <p:cNvPr id="39" name="equation">
            <a:extLst xmlns:a="http://schemas.openxmlformats.org/drawingml/2006/main">
              <a:ext uri="{FF2B5EF4-FFF2-40B4-BE49-F238E27FC236}">
                <a16:creationId xmlns:a16="http://schemas.microsoft.com/office/drawing/2014/main" id="{9895878D-30CC-4245-A1B8-BB5812D6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239" y="4000500"/>
            <a:ext cx="22259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4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2950EAD-F3B2-4418-857E-180BA1F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263" y="4180523"/>
            <a:ext cx="155162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41" name="equation">
            <a:extLst xmlns:a="http://schemas.openxmlformats.org/drawingml/2006/main">
              <a:ext uri="{FF2B5EF4-FFF2-40B4-BE49-F238E27FC236}">
                <a16:creationId xmlns:a16="http://schemas.microsoft.com/office/drawing/2014/main" id="{CA22041D-9B6E-4B6C-B43A-8D3DCA6E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850" y="4000500"/>
            <a:ext cx="11191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42" name="equation">
            <a:extLst xmlns:a="http://schemas.openxmlformats.org/drawingml/2006/main">
              <a:ext uri="{FF2B5EF4-FFF2-40B4-BE49-F238E27FC236}">
                <a16:creationId xmlns:a16="http://schemas.microsoft.com/office/drawing/2014/main" id="{3B10BFA2-106A-46FF-91CE-CF9B4F19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719" y="4000500"/>
            <a:ext cx="17649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CC6EE1D-8099-472E-A225-78765962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642" y="4180523"/>
            <a:ext cx="266795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hα</a:t>
            </a:r>
          </a:p>
        </p:txBody>
      </p:sp>
      <p:sp>
        <p:nvSpPr>
          <p:cNvPr id="44" name="equation">
            <a:extLst xmlns:a="http://schemas.openxmlformats.org/drawingml/2006/main">
              <a:ext uri="{FF2B5EF4-FFF2-40B4-BE49-F238E27FC236}">
                <a16:creationId xmlns:a16="http://schemas.microsoft.com/office/drawing/2014/main" id="{53D111B6-B589-4421-95F8-4FCA19F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4000500"/>
            <a:ext cx="180041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[p̂(α | b) − 1/</a:t>
            </a:r>
          </a:p>
        </p:txBody>
      </p:sp>
      <p:sp>
        <p:nvSpPr>
          <p:cNvPr id="45" name="equation">
            <a:extLst xmlns:a="http://schemas.openxmlformats.org/drawingml/2006/main">
              <a:ext uri="{FF2B5EF4-FFF2-40B4-BE49-F238E27FC236}">
                <a16:creationId xmlns:a16="http://schemas.microsoft.com/office/drawing/2014/main" id="{DC7798CF-CC07-4C81-A819-6CEE8F8A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228" y="40005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4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E7175088-45BC-45A1-BB03-A84E48B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916" y="4180523"/>
            <a:ext cx="137255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47" name="equation">
            <a:extLst xmlns:a="http://schemas.openxmlformats.org/drawingml/2006/main">
              <a:ext uri="{FF2B5EF4-FFF2-40B4-BE49-F238E27FC236}">
                <a16:creationId xmlns:a16="http://schemas.microsoft.com/office/drawing/2014/main" id="{70FB3812-CCF2-4FA3-81B0-EECA4695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596" y="4000500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48" name="同义块的条件统计决定更新方向，出现频率决定更新幅度">
            <a:extLst xmlns:a="http://schemas.openxmlformats.org/drawingml/2006/main">
              <a:ext uri="{FF2B5EF4-FFF2-40B4-BE49-F238E27FC236}">
                <a16:creationId xmlns:a16="http://schemas.microsoft.com/office/drawing/2014/main" id="{DF8709DA-27DA-409D-AAEC-003E154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rPr>
              <a:t>同义块的条件统计决定更新方向，出现频率决定更新幅度</a:t>
            </a:r>
          </a:p>
        </p:txBody>
      </p:sp>
      <p:sp>
        <p:nvSpPr>
          <p:cNvPr id="49" name="字典输入是可解特例。多层网络还需形成完整元组特征，并控制跨层误差">
            <a:extLst xmlns:a="http://schemas.openxmlformats.org/drawingml/2006/main">
              <a:ext uri="{FF2B5EF4-FFF2-40B4-BE49-F238E27FC236}">
                <a16:creationId xmlns:a16="http://schemas.microsoft.com/office/drawing/2014/main" id="{95BD4DA6-DFE5-42EB-AC8A-6ABA189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字典输入是可解特例。多层网络还需形成完整元组特征，并控制跨层误差</a:t>
            </a:r>
          </a:p>
        </p:txBody>
      </p:sp>
    </p:spTree>
    <p:extLst>
      <p:ext uri="{BB962C8B-B14F-4D97-AF65-F5344CB8AC3E}">
        <p14:creationId xmlns:p14="http://schemas.microsoft.com/office/powerpoint/2010/main" val="2224499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4E789A-E33F-4F2A-AD63-D0467AD9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备份：逐层训练定理的完整条件</a:t>
            </a:r>
          </a:p>
        </p:txBody>
      </p:sp>
      <p:sp>
        <p:nvSpPr>
          <p:cNvPr id="2" name="技术备份 / 01 逐层串联">
            <a:extLst xmlns:a="http://schemas.openxmlformats.org/drawingml/2006/main">
              <a:ext uri="{FF2B5EF4-FFF2-40B4-BE49-F238E27FC236}">
                <a16:creationId xmlns:a16="http://schemas.microsoft.com/office/drawing/2014/main" id="{E256754E-80E6-4116-BD6C-FB6FD9E8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01 逐层串联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16008524-4535-482C-BAFA-BB22AD0E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参考位置的覆盖与信号分离">
            <a:extLst xmlns:a="http://schemas.openxmlformats.org/drawingml/2006/main">
              <a:ext uri="{FF2B5EF4-FFF2-40B4-BE49-F238E27FC236}">
                <a16:creationId xmlns:a16="http://schemas.microsoft.com/office/drawing/2014/main" id="{CB3EC0AA-F220-4F2A-88DE-E8502B73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参考位置的覆盖与信号分离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42F8EBFE-97A7-4F4B-987C-4ECD0F81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82511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p(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0442D625-D515-44B8-A534-B639BEB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1" y="1876425"/>
            <a:ext cx="231839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4D03C44-607F-4F8A-80D1-40C96918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41017"/>
            <a:ext cx="135922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3091DC97-0563-4F90-A554-B9352549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72" y="1876425"/>
            <a:ext cx="2412683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=b) ≥ 1/(κvm),      ||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0FC58BD9-781E-4CF1-8A8D-1DFC7B8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304" y="1876425"/>
            <a:ext cx="18097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A9D4964-A6C2-417D-A814-5B37E863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704" y="2041017"/>
            <a:ext cx="289084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ℓ,b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0D2DF4B7-6E75-4339-B0EA-A551DE95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213" y="1876425"/>
            <a:ext cx="200501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7DFDDE49-D6B0-4402-B24E-3042694D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664" y="1876425"/>
            <a:ext cx="18097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694C6F2-5AF1-40A9-A8A2-AA8B2A7B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064" y="2041017"/>
            <a:ext cx="333756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ℓ,b′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FCB0FA90-BE86-4521-AEAF-69D02268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245" y="1876425"/>
            <a:ext cx="47034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|| ≥ 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BC52B5FF-9D57-44C3-85EB-D25EE116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540" y="1876425"/>
            <a:ext cx="24869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7797D5D-17A9-4DF7-B95E-6801D375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2041017"/>
            <a:ext cx="276416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sig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0AFB12B2-8748-413F-8C6B-8EF46D85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03" y="1876425"/>
            <a:ext cx="265652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0C099D5A-EC4B-4454-8C51-23ADD7C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580" y="1803273"/>
            <a:ext cx="1003173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−(L−ℓ+1)/2</a:t>
            </a:r>
          </a:p>
        </p:txBody>
      </p:sp>
      <p:sp>
        <p:nvSpPr>
          <p:cNvPr id="19" name="指定的 RBF 特征、逐层 ridge 训练与独立阶段样本">
            <a:extLst xmlns:a="http://schemas.openxmlformats.org/drawingml/2006/main">
              <a:ext uri="{FF2B5EF4-FFF2-40B4-BE49-F238E27FC236}">
                <a16:creationId xmlns:a16="http://schemas.microsoft.com/office/drawing/2014/main" id="{0F934EF2-FDA8-43E3-B1AF-2D839FCB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指定的 RBF 特征、逐层 ridge 训练与独立阶段样本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2315A91D-ED23-4085-9777-B93B1E91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21402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2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BFDD185-2485-42BE-93B0-35325766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52" y="3580448"/>
            <a:ext cx="435102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total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8354C1BF-A38C-4B5E-B482-4E8327BC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9" y="3400425"/>
            <a:ext cx="366312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≤ poly(κ,m,v,s,L,log(1/δ)) 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6BD074A1-DFB0-413E-A337-512325D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653" y="3400425"/>
            <a:ext cx="26936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0825826-10C8-4191-99AA-602A6F4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445" y="3580448"/>
            <a:ext cx="298799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sig</a:t>
            </a:r>
          </a:p>
        </p:txBody>
      </p:sp>
      <p:sp>
        <p:nvSpPr>
          <p:cNvPr id="25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B8297185-5FF7-491B-9F19-4B076FBB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445" y="3320415"/>
            <a:ext cx="298799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−2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A61EC1EF-598E-4E60-83D2-C1993BBA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669" y="3400425"/>
            <a:ext cx="287845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27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DA921B0A-72A8-4B8F-AC3A-9F8D9778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3320415"/>
            <a:ext cx="17449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CBEC6E61-243F-4914-B742-3FD93863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22259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2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EE203B0-4B52-434F-86ED-675D0609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24" y="4532948"/>
            <a:ext cx="742569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ℓ=1…L</a:t>
            </a:r>
          </a:p>
        </p:txBody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F8499A86-8F2F-4D74-AAFD-B2C753B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618" y="4352925"/>
            <a:ext cx="11191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31" name="equation">
            <a:extLst xmlns:a="http://schemas.openxmlformats.org/drawingml/2006/main">
              <a:ext uri="{FF2B5EF4-FFF2-40B4-BE49-F238E27FC236}">
                <a16:creationId xmlns:a16="http://schemas.microsoft.com/office/drawing/2014/main" id="{9E8DF0D6-D794-42D5-B8F3-3DB09202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487" y="4352925"/>
            <a:ext cx="287845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32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0A0166D1-5437-4224-B930-49F307B3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57" y="4272915"/>
            <a:ext cx="6451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L−ℓ+1</a:t>
            </a:r>
          </a:p>
        </p:txBody>
      </p:sp>
      <p:sp>
        <p:nvSpPr>
          <p:cNvPr id="33" name="equation">
            <a:extLst xmlns:a="http://schemas.openxmlformats.org/drawingml/2006/main">
              <a:ext uri="{FF2B5EF4-FFF2-40B4-BE49-F238E27FC236}">
                <a16:creationId xmlns:a16="http://schemas.microsoft.com/office/drawing/2014/main" id="{B7D652CA-9143-42E7-884B-54348594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311" y="4352925"/>
            <a:ext cx="75361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m(</a:t>
            </a:r>
          </a:p>
        </p:txBody>
      </p:sp>
      <p:sp>
        <p:nvSpPr>
          <p:cNvPr id="34" name="equation">
            <a:extLst xmlns:a="http://schemas.openxmlformats.org/drawingml/2006/main">
              <a:ext uri="{FF2B5EF4-FFF2-40B4-BE49-F238E27FC236}">
                <a16:creationId xmlns:a16="http://schemas.microsoft.com/office/drawing/2014/main" id="{D98F053B-7E82-4E52-8266-D6E5DC46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879" y="4352925"/>
            <a:ext cx="287845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35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0C0EC4E8-B4A0-45C5-B63B-6635B2A5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149" y="4272915"/>
            <a:ext cx="17449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6" name="equation">
            <a:extLst xmlns:a="http://schemas.openxmlformats.org/drawingml/2006/main">
              <a:ext uri="{FF2B5EF4-FFF2-40B4-BE49-F238E27FC236}">
                <a16:creationId xmlns:a16="http://schemas.microsoft.com/office/drawing/2014/main" id="{93E3257D-D91A-4088-92FB-9751B1A4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072" y="4352925"/>
            <a:ext cx="212940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−1)/(m−1) = O(</a:t>
            </a:r>
          </a:p>
        </p:txBody>
      </p:sp>
      <p:sp>
        <p:nvSpPr>
          <p:cNvPr id="37" name="equation">
            <a:extLst xmlns:a="http://schemas.openxmlformats.org/drawingml/2006/main">
              <a:ext uri="{FF2B5EF4-FFF2-40B4-BE49-F238E27FC236}">
                <a16:creationId xmlns:a16="http://schemas.microsoft.com/office/drawing/2014/main" id="{4D02FB72-967E-436A-B366-C062DDA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431" y="4352925"/>
            <a:ext cx="287845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3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F07E4570-CE8F-4081-85E7-F3E3E956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702" y="4272915"/>
            <a:ext cx="17449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9" name="equation">
            <a:extLst xmlns:a="http://schemas.openxmlformats.org/drawingml/2006/main">
              <a:ext uri="{FF2B5EF4-FFF2-40B4-BE49-F238E27FC236}">
                <a16:creationId xmlns:a16="http://schemas.microsoft.com/office/drawing/2014/main" id="{D996F94C-B335-4760-A613-B1D32876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625" y="4352925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0" name="可辨认的标签信号 + 可复用的中间簇，支撑逐层训练保证">
            <a:extLst xmlns:a="http://schemas.openxmlformats.org/drawingml/2006/main">
              <a:ext uri="{FF2B5EF4-FFF2-40B4-BE49-F238E27FC236}">
                <a16:creationId xmlns:a16="http://schemas.microsoft.com/office/drawing/2014/main" id="{C52311EF-C53A-4BC1-8FC4-F334DDAD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877D"/>
                </a:solidFill>
                <a:latin typeface="PingFang SC"/>
                <a:ea typeface="PingFang SC"/>
                <a:cs typeface="PingFang SC"/>
              </a:rPr>
              <a:t>可辨认的标签信号 + 可复用的中间簇，支撑逐层训练保证</a:t>
            </a:r>
          </a:p>
        </p:txBody>
      </p:sp>
      <p:sp>
        <p:nvSpPr>
          <p:cNvPr id="41" name="Ren 等，COLT 2026，Theorem 7。具体参数前因">
            <a:extLst xmlns:a="http://schemas.openxmlformats.org/drawingml/2006/main">
              <a:ext uri="{FF2B5EF4-FFF2-40B4-BE49-F238E27FC236}">
                <a16:creationId xmlns:a16="http://schemas.microsoft.com/office/drawing/2014/main" id="{BCC72295-6563-43E7-BF4E-681AE8E2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Ren 等，COLT 2026，Theorem 7。具体参数前因子属于结论的一部分</a:t>
            </a:r>
          </a:p>
        </p:txBody>
      </p:sp>
    </p:spTree>
    <p:extLst>
      <p:ext uri="{BB962C8B-B14F-4D97-AF65-F5344CB8AC3E}">
        <p14:creationId xmlns:p14="http://schemas.microsoft.com/office/powerpoint/2010/main" val="15546461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C0A66A-DA18-4787-B332-93E5DAA6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备份：层次奇偶树与零局部信号</a:t>
            </a:r>
          </a:p>
        </p:txBody>
      </p:sp>
      <p:sp>
        <p:nvSpPr>
          <p:cNvPr id="2" name="技术备份 / 01 局部可辨认性">
            <a:extLst xmlns:a="http://schemas.openxmlformats.org/drawingml/2006/main">
              <a:ext uri="{FF2B5EF4-FFF2-40B4-BE49-F238E27FC236}">
                <a16:creationId xmlns:a16="http://schemas.microsoft.com/office/drawing/2014/main" id="{EC8FEA45-F68B-4C4C-92F8-132CF4DE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01 局部可辨认性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EEF244CD-B758-4790-BA0E-5E2DB1EE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对照模型：独立均匀叶节点与二叉奇偶树">
            <a:extLst xmlns:a="http://schemas.openxmlformats.org/drawingml/2006/main">
              <a:ext uri="{FF2B5EF4-FFF2-40B4-BE49-F238E27FC236}">
                <a16:creationId xmlns:a16="http://schemas.microsoft.com/office/drawing/2014/main" id="{9BB66DDD-E08B-4146-9CB0-7567DBE7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对照模型：独立均匀叶节点与二叉奇偶树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C4777D1-2542-4D9A-9532-C899CF58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0375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D221350-DC3A-4499-B833-FC42DA8D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77" y="2167890"/>
            <a:ext cx="109061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4336B26B-65C2-40B7-97B4-B8C61132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63" y="1962150"/>
            <a:ext cx="3124581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∈ {−1,+1},       Y = 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96E8BEAD-ED40-42A6-8610-FCCE8EE5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795" y="1962150"/>
            <a:ext cx="34223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∏</a:t>
            </a:r>
          </a:p>
        </p:txBody>
      </p:sp>
      <p:sp>
        <p:nvSpPr>
          <p:cNvPr id="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802423F-53B8-455E-ACD2-41B664C1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453" y="2167890"/>
            <a:ext cx="763524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i=1…d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A377C740-31B3-42DA-A1D4-F1C8F3C9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402" y="1962150"/>
            <a:ext cx="30375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F047650A-3E34-4DE8-AECC-E4B0258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579" y="2167890"/>
            <a:ext cx="109061" cy="4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A70FCC37-8877-45BB-9975-2D15B9D9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554956" cy="581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p(Y = ±1 | 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4D4CFC3F-54B3-49AD-95A2-9A7170D3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506" y="2914650"/>
            <a:ext cx="283083" cy="581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06C9A41-E740-4B2B-AF62-1C192715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014" y="3104960"/>
            <a:ext cx="169450" cy="389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6855810E-7EA0-48A6-9EAA-02EEC3EF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889" y="2914650"/>
            <a:ext cx="3465766" cy="581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= 1/2,       S ⊊ {1,…,d}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E1582ABF-3D9A-418C-93E1-DF76715C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30228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H(Y | X) = 0         H(Y | B) = log 2</a:t>
            </a:r>
          </a:p>
        </p:txBody>
      </p:sp>
      <p:sp>
        <p:nvSpPr>
          <p:cNvPr id="17" name="条件标签向量全部重合，Δ = 0，前面的分组机制失效">
            <a:extLst xmlns:a="http://schemas.openxmlformats.org/drawingml/2006/main">
              <a:ext uri="{FF2B5EF4-FFF2-40B4-BE49-F238E27FC236}">
                <a16:creationId xmlns:a16="http://schemas.microsoft.com/office/drawing/2014/main" id="{08EA6BF2-DDC2-46CF-94B6-68ADF959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BF6335"/>
                </a:solidFill>
                <a:latin typeface="PingFang SC"/>
                <a:ea typeface="PingFang SC"/>
                <a:cs typeface="PingFang SC"/>
              </a:rPr>
              <a:t>条件标签向量全部重合，Δ = 0，前面的分组机制失效</a:t>
            </a:r>
          </a:p>
        </p:txBody>
      </p:sp>
      <p:sp>
        <p:nvSpPr>
          <p:cNvPr id="18" name="层次结构、局部可辨认性与指定训练算法的可达性，需要分别证明">
            <a:extLst xmlns:a="http://schemas.openxmlformats.org/drawingml/2006/main">
              <a:ext uri="{FF2B5EF4-FFF2-40B4-BE49-F238E27FC236}">
                <a16:creationId xmlns:a16="http://schemas.microsoft.com/office/drawing/2014/main" id="{DF65E22F-AB52-45D2-8716-68C742FE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层次结构、局部可辨认性与指定训练算法的可达性，需要分别证明</a:t>
            </a:r>
          </a:p>
        </p:txBody>
      </p:sp>
    </p:spTree>
    <p:extLst>
      <p:ext uri="{BB962C8B-B14F-4D97-AF65-F5344CB8AC3E}">
        <p14:creationId xmlns:p14="http://schemas.microsoft.com/office/powerpoint/2010/main" val="13969459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66C7E3-7C2E-4E87-9035-B68B5601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备份：长尾与层次怎样共同影响学习曲线</a:t>
            </a:r>
          </a:p>
        </p:txBody>
      </p:sp>
      <p:sp>
        <p:nvSpPr>
          <p:cNvPr id="2" name="技术备份 / 02 长尾学习曲线">
            <a:extLst xmlns:a="http://schemas.openxmlformats.org/drawingml/2006/main">
              <a:ext uri="{FF2B5EF4-FFF2-40B4-BE49-F238E27FC236}">
                <a16:creationId xmlns:a16="http://schemas.microsoft.com/office/drawing/2014/main" id="{42AAA41D-3D57-43C9-B99E-CF6A4C8E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02 长尾学习曲线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C2B5D470-BFFB-418D-A0EC-F181BE86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C0204FA-4554-48C4-BFF5-42DA6EE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C598D63E-F617-41AE-AF57-68904016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61" y="161829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BFC011F9-752E-4B65-BD82-FFD8B958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5" y="1438275"/>
            <a:ext cx="61455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c 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712340E9-9B48-436A-9840-B0C223F4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418" y="1438275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8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BD552A98-5244-4A89-A520-C5C0FF9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105" y="1358265"/>
            <a:ext cx="275749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07EF9B51-FA24-4527-A1EC-D7C974B9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279" y="1438275"/>
            <a:ext cx="2446211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, q&gt;1;       M(P) ≈ 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548B403A-AB5B-4E1A-A935-35789DF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440" y="1438275"/>
            <a:ext cx="22259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ABE8C890-6783-4C97-B694-29A595A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464" y="161829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1C928913-AB12-41E1-9233-FA515B7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717" y="1438275"/>
            <a:ext cx="111919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8AA8B536-FDE3-488C-8947-43614C35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586" y="1438275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4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2A9E187-6402-4912-8D78-E9A33F1E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647" y="161829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41E9866E-278B-48B5-BFBB-143E7BBE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901" y="1438275"/>
            <a:ext cx="107765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exp(−P</a:t>
            </a:r>
          </a:p>
        </p:txBody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7CE03053-B410-4184-B29B-D1E1AD3E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509" y="1438275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4316F28-5939-4CCE-82E0-3C24B738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571" y="1618298"/>
            <a:ext cx="149828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F3016C31-4647-4B78-83EF-8839DC29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4" y="1438275"/>
            <a:ext cx="13963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3C7106E8-DD72-4131-A3F9-393A3C20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82135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M(P) ≈ 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6C20F679-ED3D-4AF9-949B-25D2DA57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685" y="2362200"/>
            <a:ext cx="119920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∫</a:t>
            </a:r>
          </a:p>
        </p:txBody>
      </p:sp>
      <p:sp>
        <p:nvSpPr>
          <p:cNvPr id="2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77C1C9C-2CC1-45C7-BD75-505720B1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" y="2542223"/>
            <a:ext cx="532352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1…∞</a:t>
            </a:r>
          </a:p>
        </p:txBody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B3972E83-03CC-41A8-9F3B-E15C8DC2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807" y="2362200"/>
            <a:ext cx="34318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c 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95E8B1F8-8BB8-4CD8-A24C-CF1D641C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943" y="23622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4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29AA9EC9-8CE1-48BE-9EBD-A1E41B7E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630" y="2282190"/>
            <a:ext cx="275749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sp>
        <p:nvSpPr>
          <p:cNvPr id="25" name="equation">
            <a:extLst xmlns:a="http://schemas.openxmlformats.org/drawingml/2006/main">
              <a:ext uri="{FF2B5EF4-FFF2-40B4-BE49-F238E27FC236}">
                <a16:creationId xmlns:a16="http://schemas.microsoft.com/office/drawing/2014/main" id="{06E1C164-E2EB-4770-A30B-9D5B1B1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804" y="2362200"/>
            <a:ext cx="122567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exp(−Pc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4107BF97-39D3-428E-A7E3-0E00C3BE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31" y="2362200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7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2D9A731F-E840-4511-96D6-1FD0003B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119" y="2282190"/>
            <a:ext cx="275749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sp>
        <p:nvSpPr>
          <p:cNvPr id="28" name="equation">
            <a:extLst xmlns:a="http://schemas.openxmlformats.org/drawingml/2006/main">
              <a:ext uri="{FF2B5EF4-FFF2-40B4-BE49-F238E27FC236}">
                <a16:creationId xmlns:a16="http://schemas.microsoft.com/office/drawing/2014/main" id="{1E77E939-9023-4926-9709-DECA2002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293" y="2362200"/>
            <a:ext cx="556355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) dk</a:t>
            </a:r>
          </a:p>
        </p:txBody>
      </p:sp>
      <p:sp>
        <p:nvSpPr>
          <p:cNvPr id="29" name="equation">
            <a:extLst xmlns:a="http://schemas.openxmlformats.org/drawingml/2006/main">
              <a:ext uri="{FF2B5EF4-FFF2-40B4-BE49-F238E27FC236}">
                <a16:creationId xmlns:a16="http://schemas.microsoft.com/office/drawing/2014/main" id="{4A0925F5-EDAB-409F-8B24-439BC2D3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88334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u = Pc</a:t>
            </a:r>
          </a:p>
        </p:txBody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F5DE895D-26B4-4B7C-A3C2-B455C08A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898" y="3305175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31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8D5FC1B7-AB7E-40F8-AB5E-0A40F872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586" y="3225165"/>
            <a:ext cx="275749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sp>
        <p:nvSpPr>
          <p:cNvPr id="32" name="equation">
            <a:extLst xmlns:a="http://schemas.openxmlformats.org/drawingml/2006/main">
              <a:ext uri="{FF2B5EF4-FFF2-40B4-BE49-F238E27FC236}">
                <a16:creationId xmlns:a16="http://schemas.microsoft.com/office/drawing/2014/main" id="{8A1035B5-F3A7-4CF7-A316-5ECF2888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760" y="3305175"/>
            <a:ext cx="216331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   ⇒    M(P) ∼ [</a:t>
            </a:r>
          </a:p>
        </p:txBody>
      </p:sp>
      <p:sp>
        <p:nvSpPr>
          <p:cNvPr id="33" name="equation">
            <a:extLst xmlns:a="http://schemas.openxmlformats.org/drawingml/2006/main">
              <a:ext uri="{FF2B5EF4-FFF2-40B4-BE49-F238E27FC236}">
                <a16:creationId xmlns:a16="http://schemas.microsoft.com/office/drawing/2014/main" id="{A17B9FE1-D552-4B47-8F72-D4AF6E3E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28" y="3305175"/>
            <a:ext cx="176498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4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82552169-048B-44BF-A370-40AF48D8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951" y="3225165"/>
            <a:ext cx="323564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1/q</a:t>
            </a:r>
          </a:p>
        </p:txBody>
      </p:sp>
      <p:sp>
        <p:nvSpPr>
          <p:cNvPr id="35" name="equation">
            <a:extLst xmlns:a="http://schemas.openxmlformats.org/drawingml/2006/main">
              <a:ext uri="{FF2B5EF4-FFF2-40B4-BE49-F238E27FC236}">
                <a16:creationId xmlns:a16="http://schemas.microsoft.com/office/drawing/2014/main" id="{E3D208CA-1135-48B8-A15F-53D8D9B2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940" y="3305175"/>
            <a:ext cx="176107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/q] Γ(1−1/q) </a:t>
            </a:r>
          </a:p>
        </p:txBody>
      </p:sp>
      <p:sp>
        <p:nvSpPr>
          <p:cNvPr id="36" name="equation">
            <a:extLst xmlns:a="http://schemas.openxmlformats.org/drawingml/2006/main">
              <a:ext uri="{FF2B5EF4-FFF2-40B4-BE49-F238E27FC236}">
                <a16:creationId xmlns:a16="http://schemas.microsoft.com/office/drawing/2014/main" id="{F349621F-C694-45F1-88F1-E24EEC52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967" y="3305175"/>
            <a:ext cx="214027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37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66A2AF16-B03E-4B9D-B5F1-AC39F5BB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419" y="3225165"/>
            <a:ext cx="835914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−(q−1)/q</a:t>
            </a:r>
          </a:p>
        </p:txBody>
      </p:sp>
      <p:sp>
        <p:nvSpPr>
          <p:cNvPr id="38" name="equation">
            <a:extLst xmlns:a="http://schemas.openxmlformats.org/drawingml/2006/main">
              <a:ext uri="{FF2B5EF4-FFF2-40B4-BE49-F238E27FC236}">
                <a16:creationId xmlns:a16="http://schemas.microsoft.com/office/drawing/2014/main" id="{648F557C-9B17-464C-B8AF-58EF913A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98281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ε(P) ≈ 1−G(P)</a:t>
            </a:r>
          </a:p>
        </p:txBody>
      </p:sp>
      <p:sp>
        <p:nvSpPr>
          <p:cNvPr id="39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95A48CD1-9382-4918-A0AB-912AFEC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369" y="4261104"/>
            <a:ext cx="191357" cy="379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0" name="equation">
            <a:extLst xmlns:a="http://schemas.openxmlformats.org/drawingml/2006/main">
              <a:ext uri="{FF2B5EF4-FFF2-40B4-BE49-F238E27FC236}">
                <a16:creationId xmlns:a16="http://schemas.microsoft.com/office/drawing/2014/main" id="{1EA7D5A0-255E-40BA-997F-2103A69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151" y="4343400"/>
            <a:ext cx="1876806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≈ B[1−G(P)]</a:t>
            </a:r>
          </a:p>
        </p:txBody>
      </p:sp>
      <p:sp>
        <p:nvSpPr>
          <p:cNvPr id="41" name="层次识别成本 A = vmᴸ⁻¹，错误机会数 B = sᴸ⁻¹。">
            <a:extLst xmlns:a="http://schemas.openxmlformats.org/drawingml/2006/main">
              <a:ext uri="{FF2B5EF4-FFF2-40B4-BE49-F238E27FC236}">
                <a16:creationId xmlns:a16="http://schemas.microsoft.com/office/drawing/2014/main" id="{0762E7B8-C572-4FBF-BE97-21C54F71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层次识别成本 A = vmᴸ⁻¹，错误机会数 B = sᴸ⁻¹。线性化要求 B(1−G) ≪ 1</a:t>
            </a:r>
          </a:p>
        </p:txBody>
      </p:sp>
    </p:spTree>
    <p:extLst>
      <p:ext uri="{BB962C8B-B14F-4D97-AF65-F5344CB8AC3E}">
        <p14:creationId xmlns:p14="http://schemas.microsoft.com/office/powerpoint/2010/main" val="21403558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ACD98-35C3-4BA1-8360-6CC3E624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备份：精确边缘仍不能独立生成</a:t>
            </a:r>
          </a:p>
        </p:txBody>
      </p:sp>
      <p:sp>
        <p:nvSpPr>
          <p:cNvPr id="2" name="技术备份 / 03 联合后验">
            <a:extLst xmlns:a="http://schemas.openxmlformats.org/drawingml/2006/main">
              <a:ext uri="{FF2B5EF4-FFF2-40B4-BE49-F238E27FC236}">
                <a16:creationId xmlns:a16="http://schemas.microsoft.com/office/drawing/2014/main" id="{1FC44F6E-FC6C-412F-8C62-14B93F60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03 联合后验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59BE9206-099B-42DA-92BB-063B3D6D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35AE8893-2E2B-4068-A6D0-9C573F28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9050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E3699989-8079-45F6-B4FC-FE56A109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36954"/>
            <a:ext cx="327184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left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6444AA96-30E0-4B1F-A60A-98A4BB0E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4" y="1362075"/>
            <a:ext cx="2612898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(0.6,0.3,0.1),       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17034444-15FC-4625-857A-AAADD1D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982" y="1362075"/>
            <a:ext cx="190500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381D1F31-D00B-430E-8774-FAF85757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907" y="1536954"/>
            <a:ext cx="447866" cy="35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9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right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AFCC7193-BA4B-4D2A-9A9A-95941B1F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197" y="1362075"/>
            <a:ext cx="1965198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(0.1,0.2,0.7)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49DC8-AC80-49C5-A687-C48B1F61CE46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1438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1981200"/>
                <a:gridCol w="1981200"/>
                <a:gridCol w="1981200"/>
                <a:gridCol w="1981200"/>
              </a:tblGrid>
              <a:tr h="719138">
                <a:tc>
                  <a:txBody>
                    <a:bodyPr lIns="104775" tIns="104775" rIns="104775" bIns="10477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合法规则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T w="9525">
                      <a:solidFill>
                        <a:srgbClr val="E1E7ED"/>
                      </a:solidFill>
                      <a:prstDash val="solid"/>
                    </a:lnT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172F49"/>
                    </a:solidFill>
                  </a:tcPr>
                </a:tc>
              </a:tr>
              <a:tr h="719138">
                <a:tc>
                  <a:txBody>
                    <a:bodyPr lIns="104775" tIns="104775" rIns="104775" bIns="104775"/>
                    <a:lstStyle/>
                    <a:p>
                      <a:r>
                        <a:rPr sz="21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7ED"/>
                      </a:solidFill>
                      <a:prstDash val="solid"/>
                    </a:lnL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1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6/35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1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6/35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1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21/35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/>
                    <a:lstStyle/>
                    <a:p>
                      <a:r>
                        <a:rPr sz="2100" b="0">
                          <a:solidFill>
                            <a:srgbClr val="24374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2/35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7ED"/>
                      </a:solidFill>
                      <a:prstDash val="solid"/>
                    </a:lnR>
                    <a:lnB w="9525">
                      <a:solidFill>
                        <a:srgbClr val="E1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C5C422D7-B496-4561-BB31-D370971B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0632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p(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986BECC7-96BB-46CF-A26D-47D467C1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" y="4391025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8D324CC-FE19-4AE1-B54C-D0879C58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61" y="4571048"/>
            <a:ext cx="335756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left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BCA2BC68-C23C-42B9-98CE-C156CB2A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743" y="4391025"/>
            <a:ext cx="1236726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=0 | z) p(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62DCD7FF-BA84-4209-9D8F-951CBDAC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419" y="4391025"/>
            <a:ext cx="195263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4532C27B-ADE0-442A-B43C-7615BA45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106" y="4571048"/>
            <a:ext cx="459962" cy="368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9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right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93D82766-2DCF-4241-AEC1-4DBF84E2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493" y="4391025"/>
            <a:ext cx="3011234" cy="55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BF6335"/>
                </a:solidFill>
                <a:latin typeface="Times New Roman"/>
                <a:ea typeface="Times New Roman"/>
                <a:cs typeface="Times New Roman"/>
              </a:rPr>
              <a:t>=2 | z) = 126/1225 &gt; 0</a:t>
            </a:r>
          </a:p>
        </p:txBody>
      </p:sp>
      <p:sp>
        <p:nvSpPr>
          <p:cNvPr id="18" name="独立拼接产生非法的 02。联合采样必须保留规则级依赖">
            <a:extLst xmlns:a="http://schemas.openxmlformats.org/drawingml/2006/main">
              <a:ext uri="{FF2B5EF4-FFF2-40B4-BE49-F238E27FC236}">
                <a16:creationId xmlns:a16="http://schemas.microsoft.com/office/drawing/2014/main" id="{BB5E341D-BB7B-466E-9C32-9A2B7E2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6335"/>
                </a:solidFill>
                <a:latin typeface="PingFang SC"/>
                <a:ea typeface="PingFang SC"/>
                <a:cs typeface="PingFang SC"/>
              </a:rPr>
              <a:t>独立拼接产生非法的 02。联合采样必须保留规则级依赖</a:t>
            </a:r>
          </a:p>
        </p:txBody>
      </p:sp>
    </p:spTree>
    <p:extLst>
      <p:ext uri="{BB962C8B-B14F-4D97-AF65-F5344CB8AC3E}">
        <p14:creationId xmlns:p14="http://schemas.microsoft.com/office/powerpoint/2010/main" val="4545493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6D066A-1DF8-43E7-96BE-98543AA4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备份：均场固定点与噪声重建转变</a:t>
            </a:r>
          </a:p>
        </p:txBody>
      </p:sp>
      <p:sp>
        <p:nvSpPr>
          <p:cNvPr id="2" name="技术备份 / 03 均场转变">
            <a:extLst xmlns:a="http://schemas.openxmlformats.org/drawingml/2006/main">
              <a:ext uri="{FF2B5EF4-FFF2-40B4-BE49-F238E27FC236}">
                <a16:creationId xmlns:a16="http://schemas.microsoft.com/office/drawing/2014/main" id="{979EED80-6055-483D-9FF5-49D2DDDD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03 均场转变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45108EF5-71DD-49EF-9FC7-81F0B3BC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7ACCDFED-6127-42D0-9B52-EFDA2CBA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275261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F(p) = [pˢ + (m−1)(1−pˢ)/(vˢ−1)] / [pˢ + (mv−1)(1−pˢ)/(vˢ−1)]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D3BBE-B635-430C-B05B-E0F70D3B5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e8221f1904621"/>
          <a:stretch xmlns:a="http://schemas.openxmlformats.org/drawingml/2006/main"/>
        </p:blipFill>
        <p:spPr>
          <a:xfrm xmlns:a="http://schemas.openxmlformats.org/drawingml/2006/main">
            <a:off x="610796" y="2143125"/>
            <a:ext cx="10970407" cy="408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917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16730F-6562-4D4E-BABD-C6AB13D7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备份：表示相似性的置换校准</a:t>
            </a:r>
          </a:p>
        </p:txBody>
      </p:sp>
      <p:sp>
        <p:nvSpPr>
          <p:cNvPr id="2" name="技术备份 / 05 相似性校准">
            <a:extLst xmlns:a="http://schemas.openxmlformats.org/drawingml/2006/main">
              <a:ext uri="{FF2B5EF4-FFF2-40B4-BE49-F238E27FC236}">
                <a16:creationId xmlns:a16="http://schemas.microsoft.com/office/drawing/2014/main" id="{EF9E7707-D012-45C0-AC32-6DD1BC00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05 相似性校准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DA7D0830-0EE3-4D72-AF62-970F4802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1859FE4-8F07-4BA4-9BF4-38755C48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4232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mKNN</a:t>
            </a:r>
          </a:p>
        </p:txBody>
      </p:sp>
      <p:sp>
        <p:nvSpPr>
          <p:cNvPr id="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5723D34B-D8C5-4335-8F48-94BC2084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57" y="1633728"/>
            <a:ext cx="159353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7139220B-B10C-4A61-8568-3B36E906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035" y="1438275"/>
            <a:ext cx="1197673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= (1/N)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402FAD63-F3D6-48D7-9757-A7C6534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659" y="1438275"/>
            <a:ext cx="239268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78EA21C-A615-4335-B37B-12B6FA2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352" y="1633728"/>
            <a:ext cx="105442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21639664-8D4A-4F80-973B-C70301D8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218" y="1438275"/>
            <a:ext cx="191548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 |</a:t>
            </a:r>
          </a:p>
        </p:txBody>
      </p:sp>
      <p:sp>
        <p:nvSpPr>
          <p:cNvPr id="10" name="equation">
            <a:extLst xmlns:a="http://schemas.openxmlformats.org/drawingml/2006/main">
              <a:ext uri="{FF2B5EF4-FFF2-40B4-BE49-F238E27FC236}">
                <a16:creationId xmlns:a16="http://schemas.microsoft.com/office/drawing/2014/main" id="{15D79AFD-8C5E-41DC-A3D2-40CE29DD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716" y="1438275"/>
            <a:ext cx="289941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1514B06-587A-470F-8909-AC4DF7FB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082" y="1633728"/>
            <a:ext cx="213265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2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A90AE280-2043-46EB-9229-DC6B2F11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082" y="1351407"/>
            <a:ext cx="213265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27C589F0-7902-4C0A-B8F6-984D860B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772" y="1438275"/>
            <a:ext cx="812578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(i) ∩ 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1570A810-7F4E-478B-A01B-D378D46F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300" y="1438275"/>
            <a:ext cx="289941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BEE5D5A-62F6-4FDB-B445-15A6C7D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666" y="1633728"/>
            <a:ext cx="199834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6" name="equation-superscript">
            <a:extLst xmlns:a="http://schemas.openxmlformats.org/drawingml/2006/main">
              <a:ext uri="{FF2B5EF4-FFF2-40B4-BE49-F238E27FC236}">
                <a16:creationId xmlns:a16="http://schemas.microsoft.com/office/drawing/2014/main" id="{B150A80D-03F2-4BB7-A68F-348DDFD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666" y="1351407"/>
            <a:ext cx="199834" cy="40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F956EE88-E461-4114-B839-2EE32171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925" y="1438275"/>
            <a:ext cx="724186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66AA"/>
                </a:solidFill>
                <a:latin typeface="Times New Roman"/>
                <a:ea typeface="Times New Roman"/>
                <a:cs typeface="Times New Roman"/>
              </a:rPr>
              <a:t>(i)|/k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3A637F96-0F9A-40D7-9AA3-57C6E68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15195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E[</a:t>
            </a:r>
          </a:p>
        </p:txBody>
      </p:sp>
      <p:sp>
        <p:nvSpPr>
          <p:cNvPr id="19" name="equation">
            <a:extLst xmlns:a="http://schemas.openxmlformats.org/drawingml/2006/main">
              <a:ext uri="{FF2B5EF4-FFF2-40B4-BE49-F238E27FC236}">
                <a16:creationId xmlns:a16="http://schemas.microsoft.com/office/drawing/2014/main" id="{E05217DF-7B1C-4DCA-8209-68CC31FE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45" y="2524125"/>
            <a:ext cx="1234535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mKNN</a:t>
            </a:r>
          </a:p>
        </p:txBody>
      </p:sp>
      <p:sp>
        <p:nvSpPr>
          <p:cNvPr id="2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2F749B22-278A-4286-8243-C6E375F2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705" y="2745296"/>
            <a:ext cx="175260" cy="452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0CB4F3F8-438F-4AE7-BFF9-0256796F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90" y="2524125"/>
            <a:ext cx="1923669" cy="675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] = k/(N−1)</a:t>
            </a:r>
          </a:p>
        </p:txBody>
      </p:sp>
      <p:sp>
        <p:nvSpPr>
          <p:cNvPr id="22" name="固定句对、样本数 N、邻域数 k、距离定义和归一化">
            <a:extLst xmlns:a="http://schemas.openxmlformats.org/drawingml/2006/main">
              <a:ext uri="{FF2B5EF4-FFF2-40B4-BE49-F238E27FC236}">
                <a16:creationId xmlns:a16="http://schemas.microsoft.com/office/drawing/2014/main" id="{837A6020-5834-4F3C-89DD-3185D763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固定句对、样本数 N、邻域数 k、距离定义和归一化</a:t>
            </a:r>
          </a:p>
        </p:txBody>
      </p:sp>
      <p:sp>
        <p:nvSpPr>
          <p:cNvPr id="23" name="置换跨空间对应，保留各空间内部的几何">
            <a:extLst xmlns:a="http://schemas.openxmlformats.org/drawingml/2006/main">
              <a:ext uri="{FF2B5EF4-FFF2-40B4-BE49-F238E27FC236}">
                <a16:creationId xmlns:a16="http://schemas.microsoft.com/office/drawing/2014/main" id="{C53B7E38-9322-49BF-A37A-FC23E34A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置换跨空间对应，保留各空间内部的几何</a:t>
            </a:r>
          </a:p>
        </p:txBody>
      </p:sp>
      <p:sp>
        <p:nvSpPr>
          <p:cNvPr id="24" name="最高分选层过程，也必须进入同一套置换空模型">
            <a:extLst xmlns:a="http://schemas.openxmlformats.org/drawingml/2006/main">
              <a:ext uri="{FF2B5EF4-FFF2-40B4-BE49-F238E27FC236}">
                <a16:creationId xmlns:a16="http://schemas.microsoft.com/office/drawing/2014/main" id="{9872FD3E-7FB6-47A5-9759-3E698A48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4374B"/>
                </a:solidFill>
                <a:latin typeface="PingFang SC"/>
                <a:ea typeface="PingFang SC"/>
                <a:cs typeface="PingFang SC"/>
              </a:rPr>
              <a:t>最高分选层过程，也必须进入同一套置换空模型</a:t>
            </a:r>
          </a:p>
        </p:txBody>
      </p:sp>
    </p:spTree>
    <p:extLst>
      <p:ext uri="{BB962C8B-B14F-4D97-AF65-F5344CB8AC3E}">
        <p14:creationId xmlns:p14="http://schemas.microsoft.com/office/powerpoint/2010/main" val="15462926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307BC7-AADE-42FD-AFF2-0C2DB183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备份：共现谱也能产生层次几何</a:t>
            </a:r>
          </a:p>
        </p:txBody>
      </p:sp>
      <p:sp>
        <p:nvSpPr>
          <p:cNvPr id="2" name="技术备份 / 05 共现几何">
            <a:extLst xmlns:a="http://schemas.openxmlformats.org/drawingml/2006/main">
              <a:ext uri="{FF2B5EF4-FFF2-40B4-BE49-F238E27FC236}">
                <a16:creationId xmlns:a16="http://schemas.microsoft.com/office/drawing/2014/main" id="{754F17F9-FE6E-4EF7-BF91-FA4EFF9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技术备份 / 05 共现几何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88BF9DEB-C8A8-4454-83A7-C3D67FA9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D0552-0025-4155-92D3-43101F63B8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b348bd1a0415b"/>
          <a:stretch xmlns:a="http://schemas.openxmlformats.org/drawingml/2006/main"/>
        </p:blipFill>
        <p:spPr>
          <a:xfrm xmlns:a="http://schemas.openxmlformats.org/drawingml/2006/main">
            <a:off x="1036202" y="1362075"/>
            <a:ext cx="10119597" cy="3914775"/>
          </a:xfrm>
          <a:prstGeom xmlns:a="http://schemas.openxmlformats.org/drawingml/2006/main" prst="rect">
            <a:avLst/>
          </a:prstGeom>
        </p:spPr>
      </p:pic>
      <p:sp>
        <p:nvSpPr>
          <p:cNvPr id="5" name="正块核的八叶分类树特例，a₁、a₂、a₃ &gt; 0">
            <a:extLst xmlns:a="http://schemas.openxmlformats.org/drawingml/2006/main">
              <a:ext uri="{FF2B5EF4-FFF2-40B4-BE49-F238E27FC236}">
                <a16:creationId xmlns:a16="http://schemas.microsoft.com/office/drawing/2014/main" id="{5178481B-E547-4E01-8993-442227BD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正块核的八叶分类树特例，a₁、a₂、a₃ &gt; 0</a:t>
            </a:r>
          </a:p>
        </p:txBody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7FE371E3-7B6D-42C6-B416-C4699212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71736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λ</a:t>
            </a:r>
          </a:p>
        </p:txBody>
      </p:sp>
      <p:sp>
        <p:nvSpPr>
          <p:cNvPr id="7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77198335-89AC-4209-B5CA-0F1C467D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61" y="5922074"/>
            <a:ext cx="543306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coarse</a:t>
            </a:r>
          </a:p>
        </p:txBody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F7D1432E-4073-4A10-8B27-59D5093D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492" y="5762625"/>
            <a:ext cx="490347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= 4</a:t>
            </a:r>
          </a:p>
        </p:txBody>
      </p:sp>
      <p:sp>
        <p:nvSpPr>
          <p:cNvPr id="9" name="equation">
            <a:extLst xmlns:a="http://schemas.openxmlformats.org/drawingml/2006/main">
              <a:ext uri="{FF2B5EF4-FFF2-40B4-BE49-F238E27FC236}">
                <a16:creationId xmlns:a16="http://schemas.microsoft.com/office/drawing/2014/main" id="{C3DEA299-3DAA-496E-9AB0-36528D01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789" y="5762625"/>
            <a:ext cx="15963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68E06CDA-9C2F-4DF5-9D3D-D85E2B2F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53" y="5922074"/>
            <a:ext cx="136970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F151CDAD-62E4-4AB0-B5B4-9A2ABF5C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47" y="5762625"/>
            <a:ext cx="34270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+2</a:t>
            </a:r>
          </a:p>
        </p:txBody>
      </p:sp>
      <p:sp>
        <p:nvSpPr>
          <p:cNvPr id="12" name="equation">
            <a:extLst xmlns:a="http://schemas.openxmlformats.org/drawingml/2006/main">
              <a:ext uri="{FF2B5EF4-FFF2-40B4-BE49-F238E27FC236}">
                <a16:creationId xmlns:a16="http://schemas.microsoft.com/office/drawing/2014/main" id="{747FB250-304F-4F02-A6AF-A42B5A38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907" y="5762625"/>
            <a:ext cx="15963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3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51562BD-603F-4E98-B66D-1090E2F3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71" y="5922074"/>
            <a:ext cx="136970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equation">
            <a:extLst xmlns:a="http://schemas.openxmlformats.org/drawingml/2006/main">
              <a:ext uri="{FF2B5EF4-FFF2-40B4-BE49-F238E27FC236}">
                <a16:creationId xmlns:a16="http://schemas.microsoft.com/office/drawing/2014/main" id="{6C61B6FE-508F-4109-801F-0D5CF93A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365" y="5762625"/>
            <a:ext cx="195072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equation">
            <a:extLst xmlns:a="http://schemas.openxmlformats.org/drawingml/2006/main">
              <a:ext uri="{FF2B5EF4-FFF2-40B4-BE49-F238E27FC236}">
                <a16:creationId xmlns:a16="http://schemas.microsoft.com/office/drawing/2014/main" id="{680643EE-77D2-495A-898C-1C825C86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87" y="5762625"/>
            <a:ext cx="15963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6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93014D9F-49E7-44C9-A5AA-08B29A52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51" y="5922074"/>
            <a:ext cx="136970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7" name="equation">
            <a:extLst xmlns:a="http://schemas.openxmlformats.org/drawingml/2006/main">
              <a:ext uri="{FF2B5EF4-FFF2-40B4-BE49-F238E27FC236}">
                <a16:creationId xmlns:a16="http://schemas.microsoft.com/office/drawing/2014/main" id="{D5D4636A-D015-453A-AEFB-FD0FE0E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846" y="5762625"/>
            <a:ext cx="34270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&gt; </a:t>
            </a:r>
          </a:p>
        </p:txBody>
      </p:sp>
      <p:sp>
        <p:nvSpPr>
          <p:cNvPr id="18" name="equation">
            <a:extLst xmlns:a="http://schemas.openxmlformats.org/drawingml/2006/main">
              <a:ext uri="{FF2B5EF4-FFF2-40B4-BE49-F238E27FC236}">
                <a16:creationId xmlns:a16="http://schemas.microsoft.com/office/drawing/2014/main" id="{907D53E4-4A91-4ED3-AA06-D0206492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505" y="5762625"/>
            <a:ext cx="171736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λ</a:t>
            </a:r>
          </a:p>
        </p:txBody>
      </p:sp>
      <p:sp>
        <p:nvSpPr>
          <p:cNvPr id="19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DC72BCF-FFFA-4D50-AE84-D4C27D1C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666" y="5922074"/>
            <a:ext cx="587597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middle</a:t>
            </a:r>
          </a:p>
        </p:txBody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706D68CD-A310-4D17-A5BD-12B0D8E5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688" y="5762625"/>
            <a:ext cx="490347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= 2</a:t>
            </a:r>
          </a:p>
        </p:txBody>
      </p:sp>
      <p:sp>
        <p:nvSpPr>
          <p:cNvPr id="21" name="equation">
            <a:extLst xmlns:a="http://schemas.openxmlformats.org/drawingml/2006/main">
              <a:ext uri="{FF2B5EF4-FFF2-40B4-BE49-F238E27FC236}">
                <a16:creationId xmlns:a16="http://schemas.microsoft.com/office/drawing/2014/main" id="{0F77065D-4032-4767-81F9-F1890B60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985" y="5762625"/>
            <a:ext cx="15963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2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00DFCAF7-9C39-48CB-ABF0-DA38F1E1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049" y="5922074"/>
            <a:ext cx="136970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FA8E15FD-AAF3-41A2-B05D-D738FDE0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444" y="5762625"/>
            <a:ext cx="195072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4" name="equation">
            <a:extLst xmlns:a="http://schemas.openxmlformats.org/drawingml/2006/main">
              <a:ext uri="{FF2B5EF4-FFF2-40B4-BE49-F238E27FC236}">
                <a16:creationId xmlns:a16="http://schemas.microsoft.com/office/drawing/2014/main" id="{21F81CEB-7338-43A9-818C-49910DB8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466" y="5762625"/>
            <a:ext cx="15963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5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902FE5B-600E-4C14-A8CA-A0FE23E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530" y="5922074"/>
            <a:ext cx="136970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6" name="equation">
            <a:extLst xmlns:a="http://schemas.openxmlformats.org/drawingml/2006/main">
              <a:ext uri="{FF2B5EF4-FFF2-40B4-BE49-F238E27FC236}">
                <a16:creationId xmlns:a16="http://schemas.microsoft.com/office/drawing/2014/main" id="{0B003E1E-B053-4535-83BC-9DAEF033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924" y="5762625"/>
            <a:ext cx="34270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&gt; </a:t>
            </a:r>
          </a:p>
        </p:txBody>
      </p:sp>
      <p:sp>
        <p:nvSpPr>
          <p:cNvPr id="27" name="equation">
            <a:extLst xmlns:a="http://schemas.openxmlformats.org/drawingml/2006/main">
              <a:ext uri="{FF2B5EF4-FFF2-40B4-BE49-F238E27FC236}">
                <a16:creationId xmlns:a16="http://schemas.microsoft.com/office/drawing/2014/main" id="{36DD70F1-FF27-46D6-B375-747F8D33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584" y="5762625"/>
            <a:ext cx="171736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λ</a:t>
            </a:r>
          </a:p>
        </p:txBody>
      </p:sp>
      <p:sp>
        <p:nvSpPr>
          <p:cNvPr id="28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B4AAD74C-08B9-403A-81A8-53DEEF65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44" y="5922074"/>
            <a:ext cx="345662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fine</a:t>
            </a:r>
          </a:p>
        </p:txBody>
      </p:sp>
      <p:sp>
        <p:nvSpPr>
          <p:cNvPr id="29" name="equation">
            <a:extLst xmlns:a="http://schemas.openxmlformats.org/drawingml/2006/main">
              <a:ext uri="{FF2B5EF4-FFF2-40B4-BE49-F238E27FC236}">
                <a16:creationId xmlns:a16="http://schemas.microsoft.com/office/drawing/2014/main" id="{FCDEF58F-1AD3-4489-9552-AC2E2FFB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32" y="5762625"/>
            <a:ext cx="34270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 = </a:t>
            </a:r>
          </a:p>
        </p:txBody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F69D89B1-E5FE-4763-9142-7C322C3E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491" y="5762625"/>
            <a:ext cx="159639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1" name="equation-subscript">
            <a:extLst xmlns:a="http://schemas.openxmlformats.org/drawingml/2006/main">
              <a:ext uri="{FF2B5EF4-FFF2-40B4-BE49-F238E27FC236}">
                <a16:creationId xmlns:a16="http://schemas.microsoft.com/office/drawing/2014/main" id="{8FA13EE9-F3CB-498B-8B36-0848C2CE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555" y="5922074"/>
            <a:ext cx="136970" cy="3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>
                <a:solidFill>
                  <a:srgbClr val="24877D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660962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3A3CF2-0C06-4E6C-B247-BFD59470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主要文献：生成、统计与训练机制</a:t>
            </a:r>
          </a:p>
        </p:txBody>
      </p:sp>
      <p:sp>
        <p:nvSpPr>
          <p:cNvPr id="2" name="参考文献">
            <a:extLst xmlns:a="http://schemas.openxmlformats.org/drawingml/2006/main">
              <a:ext uri="{FF2B5EF4-FFF2-40B4-BE49-F238E27FC236}">
                <a16:creationId xmlns:a16="http://schemas.microsoft.com/office/drawing/2014/main" id="{E5ED6C87-9726-4D7D-B19B-338D8769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参考文献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1D7234D7-29A9-427A-94A5-B087E955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4" name="Cagnetta 等，PRX 2024">
            <a:extLst xmlns:a="http://schemas.openxmlformats.org/drawingml/2006/main">
              <a:ext uri="{FF2B5EF4-FFF2-40B4-BE49-F238E27FC236}">
                <a16:creationId xmlns:a16="http://schemas.microsoft.com/office/drawing/2014/main" id="{83AB2764-2269-4795-9125-B1BD464C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3857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rPr>
              <a:t>Cagnetta 等，PRX 2024</a:t>
            </a:r>
          </a:p>
        </p:txBody>
      </p:sp>
      <p:sp>
        <p:nvSpPr>
          <p:cNvPr id="5" name="How Deep Neural Networks Learn C">
            <a:extLst xmlns:a="http://schemas.openxmlformats.org/drawingml/2006/main">
              <a:ext uri="{FF2B5EF4-FFF2-40B4-BE49-F238E27FC236}">
                <a16:creationId xmlns:a16="http://schemas.microsoft.com/office/drawing/2014/main" id="{732EBC65-832A-4FC3-82E9-9F3566D6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38275"/>
            <a:ext cx="681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562baa8f16f44de"/>
              </a:rPr>
              <a:t>How Deep Neural Networks Learn Compositional Data:</a:t>
            </a:r>
          </a:p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c4e77d2faaa4c58"/>
              </a:rPr>
              <a:t>The Random Hierarchy Model</a:t>
            </a:r>
          </a:p>
        </p:txBody>
      </p:sp>
      <p:sp>
        <p:nvSpPr>
          <p:cNvPr id="6" name="Ren 等，COLT 2026">
            <a:extLst xmlns:a="http://schemas.openxmlformats.org/drawingml/2006/main">
              <a:ext uri="{FF2B5EF4-FFF2-40B4-BE49-F238E27FC236}">
                <a16:creationId xmlns:a16="http://schemas.microsoft.com/office/drawing/2014/main" id="{6BA30301-0559-4682-A378-1892052F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857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rPr>
              <a:t>Ren 等，COLT 2026</a:t>
            </a:r>
          </a:p>
        </p:txBody>
      </p:sp>
      <p:sp>
        <p:nvSpPr>
          <p:cNvPr id="7" name="Provable Learning of Random Hier">
            <a:extLst xmlns:a="http://schemas.openxmlformats.org/drawingml/2006/main">
              <a:ext uri="{FF2B5EF4-FFF2-40B4-BE49-F238E27FC236}">
                <a16:creationId xmlns:a16="http://schemas.microsoft.com/office/drawing/2014/main" id="{F075CE97-0166-48C0-B656-33EA42E3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81275"/>
            <a:ext cx="681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9ef05a7e1774176"/>
              </a:rPr>
              <a:t>Provable Learning of Random Hierarchy Models</a:t>
            </a:r>
          </a:p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f8cb63045e64cb9"/>
              </a:rPr>
              <a:t>and Hierarchical Shallow-to-Deep Chaining</a:t>
            </a:r>
          </a:p>
        </p:txBody>
      </p:sp>
      <p:sp>
        <p:nvSpPr>
          <p:cNvPr id="8" name="Cagnetta 与 Wyart，NeurIPS 2024">
            <a:extLst xmlns:a="http://schemas.openxmlformats.org/drawingml/2006/main">
              <a:ext uri="{FF2B5EF4-FFF2-40B4-BE49-F238E27FC236}">
                <a16:creationId xmlns:a16="http://schemas.microsoft.com/office/drawing/2014/main" id="{38684F45-5577-44AD-8A8C-76FC3E13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3857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rPr>
              <a:t>Cagnetta 与 Wyart，NeurIPS 2024</a:t>
            </a:r>
          </a:p>
        </p:txBody>
      </p:sp>
      <p:sp>
        <p:nvSpPr>
          <p:cNvPr id="9" name="Towards a Theory of How the Stru">
            <a:extLst xmlns:a="http://schemas.openxmlformats.org/drawingml/2006/main">
              <a:ext uri="{FF2B5EF4-FFF2-40B4-BE49-F238E27FC236}">
                <a16:creationId xmlns:a16="http://schemas.microsoft.com/office/drawing/2014/main" id="{3C4BA3F9-7BC6-40FB-8E11-A0C154C7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24275"/>
            <a:ext cx="681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d32b289972d4817"/>
              </a:rPr>
              <a:t>Towards a Theory of How the Structure of Language</a:t>
            </a:r>
          </a:p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e5bd48400ea443c"/>
              </a:rPr>
              <a:t>Is Acquired by Deep Neural Networks</a:t>
            </a:r>
          </a:p>
        </p:txBody>
      </p:sp>
      <p:sp>
        <p:nvSpPr>
          <p:cNvPr id="10" name="Cagnetta、Kang、Wyart，ICML 2025">
            <a:extLst xmlns:a="http://schemas.openxmlformats.org/drawingml/2006/main">
              <a:ext uri="{FF2B5EF4-FFF2-40B4-BE49-F238E27FC236}">
                <a16:creationId xmlns:a16="http://schemas.microsoft.com/office/drawing/2014/main" id="{9E5D7353-6BD5-4D9A-94D2-405A0EA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3857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rPr>
              <a:t>Cagnetta、Kang、Wyart，ICML 2025</a:t>
            </a:r>
          </a:p>
        </p:txBody>
      </p:sp>
      <p:sp>
        <p:nvSpPr>
          <p:cNvPr id="11" name="Learning Curves Theory for Hiera">
            <a:extLst xmlns:a="http://schemas.openxmlformats.org/drawingml/2006/main">
              <a:ext uri="{FF2B5EF4-FFF2-40B4-BE49-F238E27FC236}">
                <a16:creationId xmlns:a16="http://schemas.microsoft.com/office/drawing/2014/main" id="{192660C0-5BD3-4105-AE8F-FCDBFD5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67275"/>
            <a:ext cx="681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36f0743189b4006"/>
              </a:rPr>
              <a:t>Learning Curves Theory for Hierarchically Compositional</a:t>
            </a:r>
          </a:p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60c7581266d49c6"/>
              </a:rPr>
              <a:t>Data with Power-Law Distributed Features</a:t>
            </a:r>
          </a:p>
        </p:txBody>
      </p:sp>
    </p:spTree>
    <p:extLst>
      <p:ext uri="{BB962C8B-B14F-4D97-AF65-F5344CB8AC3E}">
        <p14:creationId xmlns:p14="http://schemas.microsoft.com/office/powerpoint/2010/main" val="7632172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887959-77D0-41D7-9B84-4F5939F8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F49"/>
                </a:solidFill>
                <a:latin typeface="PingFang SC"/>
                <a:ea typeface="PingFang SC"/>
                <a:cs typeface="PingFang SC"/>
              </a:rPr>
              <a:t>主要文献：推断、隐变量与共享表示</a:t>
            </a:r>
          </a:p>
        </p:txBody>
      </p:sp>
      <p:sp>
        <p:nvSpPr>
          <p:cNvPr id="2" name="参考文献">
            <a:extLst xmlns:a="http://schemas.openxmlformats.org/drawingml/2006/main">
              <a:ext uri="{FF2B5EF4-FFF2-40B4-BE49-F238E27FC236}">
                <a16:creationId xmlns:a16="http://schemas.microsoft.com/office/drawing/2014/main" id="{5A95A736-8002-4B5C-BFAE-CD38B5E3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参考文献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39AD5E2F-62CF-4853-A6A7-12DB69B2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88A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4" name="Mei，2024">
            <a:extLst xmlns:a="http://schemas.openxmlformats.org/drawingml/2006/main">
              <a:ext uri="{FF2B5EF4-FFF2-40B4-BE49-F238E27FC236}">
                <a16:creationId xmlns:a16="http://schemas.microsoft.com/office/drawing/2014/main" id="{005D6768-F16D-4278-A3B1-3F7B2740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rPr>
              <a:t>Mei，2024</a:t>
            </a:r>
          </a:p>
        </p:txBody>
      </p:sp>
      <p:sp>
        <p:nvSpPr>
          <p:cNvPr id="5" name="U-Nets as Belief Propagation">
            <a:extLst xmlns:a="http://schemas.openxmlformats.org/drawingml/2006/main">
              <a:ext uri="{FF2B5EF4-FFF2-40B4-BE49-F238E27FC236}">
                <a16:creationId xmlns:a16="http://schemas.microsoft.com/office/drawing/2014/main" id="{75DE1BFB-264A-4D31-B5A2-8E9B0342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00175"/>
            <a:ext cx="6438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329abe5e01e4af5"/>
              </a:rPr>
              <a:t>U-Nets as Belief Propagation</a:t>
            </a:r>
          </a:p>
        </p:txBody>
      </p:sp>
      <p:sp>
        <p:nvSpPr>
          <p:cNvPr id="6" name="Parley、Cagnetta、Wyart，2026 预印本">
            <a:extLst xmlns:a="http://schemas.openxmlformats.org/drawingml/2006/main">
              <a:ext uri="{FF2B5EF4-FFF2-40B4-BE49-F238E27FC236}">
                <a16:creationId xmlns:a16="http://schemas.microsoft.com/office/drawing/2014/main" id="{49091E54-9E59-4483-B453-2057C2A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rPr>
              <a:t>Parley、Cagnetta、Wyart，2026 预印本</a:t>
            </a:r>
          </a:p>
        </p:txBody>
      </p:sp>
      <p:sp>
        <p:nvSpPr>
          <p:cNvPr id="7" name="Deep Networks Learn to Parse Uni">
            <a:extLst xmlns:a="http://schemas.openxmlformats.org/drawingml/2006/main">
              <a:ext uri="{FF2B5EF4-FFF2-40B4-BE49-F238E27FC236}">
                <a16:creationId xmlns:a16="http://schemas.microsoft.com/office/drawing/2014/main" id="{FEA9F5D3-8197-4EBB-AFA6-55CC6609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6438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13ae35273ec4f20"/>
              </a:rPr>
              <a:t>Deep Networks Learn to Parse Uniform-Depth</a:t>
            </a:r>
          </a:p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b78983fb5bb4195"/>
              </a:rPr>
              <a:t>Context-Free Languages from Local Statistics</a:t>
            </a:r>
          </a:p>
        </p:txBody>
      </p:sp>
      <p:sp>
        <p:nvSpPr>
          <p:cNvPr id="8" name="Korchinski、Favero、Wyart，2026 预印本">
            <a:extLst xmlns:a="http://schemas.openxmlformats.org/drawingml/2006/main">
              <a:ext uri="{FF2B5EF4-FFF2-40B4-BE49-F238E27FC236}">
                <a16:creationId xmlns:a16="http://schemas.microsoft.com/office/drawing/2014/main" id="{68E37605-A3F4-489B-9DD7-32167832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rPr>
              <a:t>Korchinski、Favero、Wyart，2026 预印本</a:t>
            </a:r>
          </a:p>
        </p:txBody>
      </p:sp>
      <p:sp>
        <p:nvSpPr>
          <p:cNvPr id="9" name="Learn from Your Own Latents and ">
            <a:extLst xmlns:a="http://schemas.openxmlformats.org/drawingml/2006/main">
              <a:ext uri="{FF2B5EF4-FFF2-40B4-BE49-F238E27FC236}">
                <a16:creationId xmlns:a16="http://schemas.microsoft.com/office/drawing/2014/main" id="{B89FE590-DF86-49BB-9665-40A6AAA9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6438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fa9004f6969406a"/>
              </a:rPr>
              <a:t>Learn from Your Own Latents and Not from Tokens:</a:t>
            </a:r>
          </a:p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253fa616a604b6f"/>
              </a:rPr>
              <a:t>A Sample-Complexity Theory</a:t>
            </a:r>
          </a:p>
        </p:txBody>
      </p:sp>
      <p:sp>
        <p:nvSpPr>
          <p:cNvPr id="10" name="Doshi 等，2026 年 10 月预印本">
            <a:extLst xmlns:a="http://schemas.openxmlformats.org/drawingml/2006/main">
              <a:ext uri="{FF2B5EF4-FFF2-40B4-BE49-F238E27FC236}">
                <a16:creationId xmlns:a16="http://schemas.microsoft.com/office/drawing/2014/main" id="{A36DAF50-FCD4-4C60-BC17-69514DA9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6AA"/>
                </a:solidFill>
                <a:latin typeface="PingFang SC"/>
                <a:ea typeface="PingFang SC"/>
                <a:cs typeface="PingFang SC"/>
              </a:rPr>
              <a:t>Doshi 等，2026 年 10 月预印本</a:t>
            </a:r>
          </a:p>
        </p:txBody>
      </p:sp>
      <p:sp>
        <p:nvSpPr>
          <p:cNvPr id="11" name="A Theory of Platonic Representat">
            <a:extLst xmlns:a="http://schemas.openxmlformats.org/drawingml/2006/main">
              <a:ext uri="{FF2B5EF4-FFF2-40B4-BE49-F238E27FC236}">
                <a16:creationId xmlns:a16="http://schemas.microsoft.com/office/drawing/2014/main" id="{3C300697-02E7-49E6-8503-ECCC75E1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6438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cfef973fbb84ac0"/>
              </a:rPr>
              <a:t>A Theory of Platonic Representations</a:t>
            </a:r>
          </a:p>
          <a:p xmlns:a="http://schemas.openxmlformats.org/drawingml/2006/main">
            <a:pPr>
              <a:def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374B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4904aaf0d9b405d"/>
              </a:rPr>
              <a:t>in Language Models</a:t>
            </a:r>
          </a:p>
        </p:txBody>
      </p:sp>
      <p:sp>
        <p:nvSpPr>
          <p:cNvPr id="12" name="笔记专题与完整参考文献">
            <a:extLst xmlns:a="http://schemas.openxmlformats.org/drawingml/2006/main">
              <a:ext uri="{FF2B5EF4-FFF2-40B4-BE49-F238E27FC236}">
                <a16:creationId xmlns:a16="http://schemas.microsoft.com/office/drawing/2014/main" id="{5D7BFE59-060B-4F63-8ED5-74810A53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877D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f058a000b594ffc"/>
              </a:rPr>
              <a:t>笔记专题与完整参考文献</a:t>
            </a:r>
          </a:p>
        </p:txBody>
      </p:sp>
    </p:spTree>
    <p:extLst>
      <p:ext uri="{BB962C8B-B14F-4D97-AF65-F5344CB8AC3E}">
        <p14:creationId xmlns:p14="http://schemas.microsoft.com/office/powerpoint/2010/main" val="1649811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2026-10-24T17:27:31.9810000Z</dcterms:created>
  <dcterms:modified xsi:type="dcterms:W3CDTF">2026-10-24T17:27:31.9810000Z</dcterms:modified>
</coreProperties>
</file>