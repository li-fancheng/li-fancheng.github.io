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941e6a4914c99" /><Relationship Type="http://schemas.openxmlformats.org/officeDocument/2006/relationships/extended-properties" Target="/docProps/app.xml" Id="Ra2e826461f884961" /><Relationship Type="http://schemas.openxmlformats.org/officeDocument/2006/relationships/officeDocument" Target="/ppt/presentation.xml" Id="Rdeb68e71c92f4f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1920d0f491457f"/>
  </p:sldMasterIdLst>
  <p:notesMasterIdLst>
    <p:notesMasterId xmlns:r="http://schemas.openxmlformats.org/officeDocument/2006/relationships" r:id="Ra533a455b73b4dec"/>
  </p:notesMasterIdLst>
  <p:sldIdLst>
    <p:sldId xmlns:r="http://schemas.openxmlformats.org/officeDocument/2006/relationships" id="256" r:id="Rcd7dff04be6c403e"/>
    <p:sldId xmlns:r="http://schemas.openxmlformats.org/officeDocument/2006/relationships" id="257" r:id="R570f0c0a49ed4519"/>
    <p:sldId xmlns:r="http://schemas.openxmlformats.org/officeDocument/2006/relationships" id="258" r:id="R81b5ee6d9b534df9"/>
    <p:sldId xmlns:r="http://schemas.openxmlformats.org/officeDocument/2006/relationships" id="259" r:id="Rb49cc14097304d87"/>
    <p:sldId xmlns:r="http://schemas.openxmlformats.org/officeDocument/2006/relationships" id="260" r:id="R3c9469b55ab34518"/>
    <p:sldId xmlns:r="http://schemas.openxmlformats.org/officeDocument/2006/relationships" id="261" r:id="R2039a58eb7094459"/>
    <p:sldId xmlns:r="http://schemas.openxmlformats.org/officeDocument/2006/relationships" id="262" r:id="R20d1b42b9c324f76"/>
    <p:sldId xmlns:r="http://schemas.openxmlformats.org/officeDocument/2006/relationships" id="263" r:id="Re7b929bbfca14740"/>
    <p:sldId xmlns:r="http://schemas.openxmlformats.org/officeDocument/2006/relationships" id="264" r:id="Ra31c9ec780b8489c"/>
    <p:sldId xmlns:r="http://schemas.openxmlformats.org/officeDocument/2006/relationships" id="265" r:id="R52103f8b873c4603"/>
    <p:sldId xmlns:r="http://schemas.openxmlformats.org/officeDocument/2006/relationships" id="266" r:id="R5adc7d14b1b24973"/>
    <p:sldId xmlns:r="http://schemas.openxmlformats.org/officeDocument/2006/relationships" id="267" r:id="R3276a134cea44476"/>
    <p:sldId xmlns:r="http://schemas.openxmlformats.org/officeDocument/2006/relationships" id="268" r:id="R51b2bea10e484ce1"/>
    <p:sldId xmlns:r="http://schemas.openxmlformats.org/officeDocument/2006/relationships" id="269" r:id="R0889d4db1f144d1d"/>
    <p:sldId xmlns:r="http://schemas.openxmlformats.org/officeDocument/2006/relationships" id="270" r:id="R961883e0a64b4739"/>
    <p:sldId xmlns:r="http://schemas.openxmlformats.org/officeDocument/2006/relationships" id="271" r:id="Ra0d359b52e9b4749"/>
    <p:sldId xmlns:r="http://schemas.openxmlformats.org/officeDocument/2006/relationships" id="272" r:id="Rdd311c6949d2448a"/>
    <p:sldId xmlns:r="http://schemas.openxmlformats.org/officeDocument/2006/relationships" id="273" r:id="Rdd16d98651344ce4"/>
    <p:sldId xmlns:r="http://schemas.openxmlformats.org/officeDocument/2006/relationships" id="274" r:id="R4c31274ae61a41f5"/>
    <p:sldId xmlns:r="http://schemas.openxmlformats.org/officeDocument/2006/relationships" id="275" r:id="R207c2c7b9e254b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382d1d98974954" /><Relationship Type="http://schemas.openxmlformats.org/officeDocument/2006/relationships/slideMaster" Target="/ppt/slideMasters/slideMaster1.xml" Id="R9d1920d0f491457f" /><Relationship Type="http://schemas.openxmlformats.org/officeDocument/2006/relationships/notesMaster" Target="/ppt/notesMasters/notesMaster1.xml" Id="Ra533a455b73b4dec" /><Relationship Type="http://schemas.openxmlformats.org/officeDocument/2006/relationships/presProps" Target="/ppt/presProps.xml" Id="Rc1228dfd655d47e8" /><Relationship Type="http://schemas.openxmlformats.org/officeDocument/2006/relationships/tableStyles" Target="/ppt/tableStyles.xml" Id="R78bc55d460af4a8f" /><Relationship Type="http://schemas.openxmlformats.org/officeDocument/2006/relationships/slide" Target="/ppt/slides/slide1.xml" Id="Rcd7dff04be6c403e" /><Relationship Type="http://schemas.openxmlformats.org/officeDocument/2006/relationships/slide" Target="/ppt/slides/slide2.xml" Id="R570f0c0a49ed4519" /><Relationship Type="http://schemas.openxmlformats.org/officeDocument/2006/relationships/slide" Target="/ppt/slides/slide3.xml" Id="R81b5ee6d9b534df9" /><Relationship Type="http://schemas.openxmlformats.org/officeDocument/2006/relationships/slide" Target="/ppt/slides/slide4.xml" Id="Rb49cc14097304d87" /><Relationship Type="http://schemas.openxmlformats.org/officeDocument/2006/relationships/slide" Target="/ppt/slides/slide5.xml" Id="R3c9469b55ab34518" /><Relationship Type="http://schemas.openxmlformats.org/officeDocument/2006/relationships/slide" Target="/ppt/slides/slide6.xml" Id="R2039a58eb7094459" /><Relationship Type="http://schemas.openxmlformats.org/officeDocument/2006/relationships/slide" Target="/ppt/slides/slide7.xml" Id="R20d1b42b9c324f76" /><Relationship Type="http://schemas.openxmlformats.org/officeDocument/2006/relationships/slide" Target="/ppt/slides/slide8.xml" Id="Re7b929bbfca14740" /><Relationship Type="http://schemas.openxmlformats.org/officeDocument/2006/relationships/slide" Target="/ppt/slides/slide9.xml" Id="Ra31c9ec780b8489c" /><Relationship Type="http://schemas.openxmlformats.org/officeDocument/2006/relationships/slide" Target="/ppt/slides/slide10.xml" Id="R52103f8b873c4603" /><Relationship Type="http://schemas.openxmlformats.org/officeDocument/2006/relationships/slide" Target="/ppt/slides/slide11.xml" Id="R5adc7d14b1b24973" /><Relationship Type="http://schemas.openxmlformats.org/officeDocument/2006/relationships/slide" Target="/ppt/slides/slide12.xml" Id="R3276a134cea44476" /><Relationship Type="http://schemas.openxmlformats.org/officeDocument/2006/relationships/slide" Target="/ppt/slides/slide13.xml" Id="R51b2bea10e484ce1" /><Relationship Type="http://schemas.openxmlformats.org/officeDocument/2006/relationships/slide" Target="/ppt/slides/slide14.xml" Id="R0889d4db1f144d1d" /><Relationship Type="http://schemas.openxmlformats.org/officeDocument/2006/relationships/slide" Target="/ppt/slides/slide15.xml" Id="R961883e0a64b4739" /><Relationship Type="http://schemas.openxmlformats.org/officeDocument/2006/relationships/slide" Target="/ppt/slides/slide16.xml" Id="Ra0d359b52e9b4749" /><Relationship Type="http://schemas.openxmlformats.org/officeDocument/2006/relationships/slide" Target="/ppt/slides/slide17.xml" Id="Rdd311c6949d2448a" /><Relationship Type="http://schemas.openxmlformats.org/officeDocument/2006/relationships/slide" Target="/ppt/slides/slide18.xml" Id="Rdd16d98651344ce4" /><Relationship Type="http://schemas.openxmlformats.org/officeDocument/2006/relationships/slide" Target="/ppt/slides/slide19.xml" Id="R4c31274ae61a41f5" /><Relationship Type="http://schemas.openxmlformats.org/officeDocument/2006/relationships/slide" Target="/ppt/slides/slide20.xml" Id="R207c2c7b9e254b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2d0bc6cd1441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4b9cdfa2e4625" /><Relationship Type="http://schemas.openxmlformats.org/officeDocument/2006/relationships/notesMaster" Target="/ppt/notesMasters/notesMaster1.xml" Id="R3b0e90736bdd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cf4d056574876" /><Relationship Type="http://schemas.openxmlformats.org/officeDocument/2006/relationships/notesMaster" Target="/ppt/notesMasters/notesMaster1.xml" Id="R503091537789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4b7a591c549b6" /><Relationship Type="http://schemas.openxmlformats.org/officeDocument/2006/relationships/notesMaster" Target="/ppt/notesMasters/notesMaster1.xml" Id="R4802a2000bd740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0ea6844184a23" /><Relationship Type="http://schemas.openxmlformats.org/officeDocument/2006/relationships/notesMaster" Target="/ppt/notesMasters/notesMaster1.xml" Id="R0922da6c89ef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1af09d8254bf1" /><Relationship Type="http://schemas.openxmlformats.org/officeDocument/2006/relationships/notesMaster" Target="/ppt/notesMasters/notesMaster1.xml" Id="R68a40780c553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87a92e1bfc41c2" /><Relationship Type="http://schemas.openxmlformats.org/officeDocument/2006/relationships/notesMaster" Target="/ppt/notesMasters/notesMaster1.xml" Id="R023b24f6bb9841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fce87511d4e0a" /><Relationship Type="http://schemas.openxmlformats.org/officeDocument/2006/relationships/notesMaster" Target="/ppt/notesMasters/notesMaster1.xml" Id="R929a9bc47e4642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2767743a8449b3" /><Relationship Type="http://schemas.openxmlformats.org/officeDocument/2006/relationships/notesMaster" Target="/ppt/notesMasters/notesMaster1.xml" Id="Ra630cf0a6a434c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5b371f96a47d2" /><Relationship Type="http://schemas.openxmlformats.org/officeDocument/2006/relationships/notesMaster" Target="/ppt/notesMasters/notesMaster1.xml" Id="R70de08f088b84b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29d516c0545ea" /><Relationship Type="http://schemas.openxmlformats.org/officeDocument/2006/relationships/notesMaster" Target="/ppt/notesMasters/notesMaster1.xml" Id="R75b67c30794b49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0e7cfd35344662" /><Relationship Type="http://schemas.openxmlformats.org/officeDocument/2006/relationships/notesMaster" Target="/ppt/notesMasters/notesMaster1.xml" Id="R1d142dce5b384c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102ee1712542ef" /><Relationship Type="http://schemas.openxmlformats.org/officeDocument/2006/relationships/notesMaster" Target="/ppt/notesMasters/notesMaster1.xml" Id="R31a460f4a4db4a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4f1448826b4d4e" /><Relationship Type="http://schemas.openxmlformats.org/officeDocument/2006/relationships/notesMaster" Target="/ppt/notesMasters/notesMaster1.xml" Id="Rf48e53c087274e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3525d29c61468e" /><Relationship Type="http://schemas.openxmlformats.org/officeDocument/2006/relationships/notesMaster" Target="/ppt/notesMasters/notesMaster1.xml" Id="R9982e0c7ad4641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840160291345a6" /><Relationship Type="http://schemas.openxmlformats.org/officeDocument/2006/relationships/notesMaster" Target="/ppt/notesMasters/notesMaster1.xml" Id="Rcf741b7d150a43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c74c26e6ff4344" /><Relationship Type="http://schemas.openxmlformats.org/officeDocument/2006/relationships/notesMaster" Target="/ppt/notesMasters/notesMaster1.xml" Id="R2ea5fb6d2f6141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dac6505a454b6c" /><Relationship Type="http://schemas.openxmlformats.org/officeDocument/2006/relationships/notesMaster" Target="/ppt/notesMasters/notesMaster1.xml" Id="R59b590a8d79748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7a74b4beb8425e" /><Relationship Type="http://schemas.openxmlformats.org/officeDocument/2006/relationships/notesMaster" Target="/ppt/notesMasters/notesMaster1.xml" Id="Rdb5c55df7d4a4e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b33a6733594c32" /><Relationship Type="http://schemas.openxmlformats.org/officeDocument/2006/relationships/notesMaster" Target="/ppt/notesMasters/notesMaster1.xml" Id="R5d00b5b2ffc740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208279cb9b416e" /><Relationship Type="http://schemas.openxmlformats.org/officeDocument/2006/relationships/notesMaster" Target="/ppt/notesMasters/notesMaster1.xml" Id="Rdedbfd8218ef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以线虫为可重复的受限主动集体试验场，目标是理解驱动方式与几何条件怎样选择集体重排路径、稳定性和可达构型。今天不按全部发育阶段平均分配篇幅，而选择三类物理条件作比较。画面提供胚胎形态发生的直观背景，后面分别讨论受限堆积、定向基底推进以及周期负载与结构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封面为原始 DIC 影片，不是模型模拟。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9；影像 E. Cox，Pettitt 等（2003）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https://uwmadison.box.com/index.php?rm=box_download_shared_file&amp;shared_name=72fh2l6x9ss84qxuss6qx1n3pnlfdtw3&amp;file_id=f_2149903324703</a:t>
            </a:r>
          </a:p>
          <a:p xmlns:a="http://schemas.openxmlformats.org/drawingml/2006/main">
            <a:r>
              <a:t>野生型胚胎的侧面 DIC 影像，前端在左，原始采样间隔为 60 s。前半段适合观察身体变细、轴向变长；影片还延续到后期，出现弯曲后，应沿身体轮廓追踪长度。</a:t>
            </a:r>
          </a:p>
          <a:p xmlns:a="http://schemas.openxmlformats.org/drawingml/2006/main">
            <a:r>
              <a:t>嵌入 GIF：67 帧，约 10.72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里直接给出研究定位。选择线虫过程的原因，是它提供了可以辨认和比较的特殊驱动与几何约束，而不是因为要把发育过程逐章综述。构型包括细胞位置、形状和接触网络；必要时还要保留顶底差异与内部材料状态。重排关心路径与协同性，稳定性关心给定条件下的扰动响应，可达性则还依赖初态、驱动协议和观察时间。一个构型可以稳定却从当前初态到不了，也可以作为短暂状态被访问。普遍性要通过跨条件甚至跨体系预测来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https://li-fancheng.github.io/notes/celegans/embryonic_morphogenesis/active_matter_packing_topology/</a:t>
            </a:r>
          </a:p>
          <a:p xmlns:a="http://schemas.openxmlformats.org/drawingml/2006/main">
            <a:r>
              <a:t>https://li-fancheng.github.io/notes/vertex_model/morphogenesis/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用户给出的研究主线在此完整保留。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个案例围绕不同的控制条件。第一类利用卵壳、接触差异和分裂形成的几何条件，研究哪些排列稳定，以及细胞怎样在邻居让位中进入内部。第二类利用基底外侧的定向推进，研究同样的活动量放在不同位置、方向或时间上，会不会选择不同邻居交换路径。第三类利用周期肌肉输入和方向性骨架，研究循环加载能否通过内部状态更新保留新形状。它们为共同物理机制提供比较，而不是预设可以用一个完全相同的细胞模型解释所有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此表是基于本地笔记的研究选题框架，不是新增实验结果。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用 X 概括位置、形状和邻接，g 表示边界几何，m 表示连接或参考状态等内部变量。方程是示意性的过阻尼结构，约束可以通过允许坐标、投影或约束力实现。固定 m 的被动平衡附近，可用 Hessian 的非平凡模态判断局部能量稳定；它不能独自决定有限幅度路径上的能垒。对非保守主动运动或周期驱动，应沿实际轨道检验扰动的增长，不能只看某一帧 Hessian。有限时间可达又包含初态、协议与噪声或个体差异。后面用这四个判断分开看每个案例，避免从出现某个形状直接推断它是最低能态，或从一个稳定态推断它一定可达。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/Users/ldepression/Desktop/Li-Fancheng.github.io/notes/vertex_model/rigidity/body.md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https://li-fancheng.github.io/notes/vertex_model/linear_response/</a:t>
            </a:r>
          </a:p>
          <a:p xmlns:a="http://schemas.openxmlformats.org/drawingml/2006/main">
            <a:r>
              <a:t>https://li-fancheng.github.io/notes/vertex_model/rearrangements/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统一方程与周期稳定性的操作性定义是研究框架。未假定全部主动作用都来自同一个有效能量。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这是几何选择的起点。左上为四细胞界面随细胞周期变化的成像，不是改变卵壳长宽比的一组实验照片。左下和右侧是 Yamamoto 与 Kimura 的模型壳形扫描。细胞对的相互作用并不相同，EMS–P2 与其他接触采用不同有效稳定距离；这使模型可以在较宽壳形范围保留 diamond，也得到仅排斥模型遗漏的 T 形排列。物理问题是边界和作用差异怎样共同改变可行排列、稳定范围与到达概率。模型中的构型占比还依赖初态和分裂协议，不能直接叫作平衡相图。由此可建立跨壳形预测，而不只在正常卵壳里复现一次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Yamamoto &amp; Kimura (2017), https://doi.org/10.1242/dev.154609</a:t>
            </a:r>
          </a:p>
          <a:p xmlns:a="http://schemas.openxmlformats.org/drawingml/2006/main">
            <a:r>
              <a:t>Yamamoto et al. (2026), https://doi.org/10.1016/j.devcel.2026.04.013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上方裁取 2026 Fig. 5E 的实验行，下方与右侧分别是 2017 Fig. 5B/C 模型结果。不同来源、实验与模拟均明确标注。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左侧原始内移影像展示细胞从表面进入内部。右侧沿内移坐标 q 的双势阱只是候选地形，帮助区分内部状态更有利与当前状态是否已经失稳。细胞数、尺寸及壳形可改变周围排列的代价，局部驱动则偏置路径。即使内侧谷更低，中间仍可能有能垒，外侧状态仍局部稳定。足够驱动也可能使外侧谷与鞍点相遇，但图中临界数只由选定多项式产生，不能解释成线虫阈值。Miao 的受限堆积路线属于预印本和机制候选，Ea/Ep 的直接实验还要求考虑 actomyosin 与传力。下一页把几何松弛和有效驱动分开。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Roh-Johnson et al. (2012), https://doi.org/10.1126/science.1217869</a:t>
            </a:r>
          </a:p>
          <a:p xmlns:a="http://schemas.openxmlformats.org/drawingml/2006/main">
            <a:r>
              <a:t>Miao et al. (2021/2022), preprint, https://arxiv.org/abs/2105.05795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右侧裁取笔记 25_worm_ingression.png A。U/E₀=(x²−1)²/4−fx，曲线是简化算例，未拟合胚胎。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Bob Goldstein，UNC Chapel Hill；NIGMS 影片 3334，相关研究 Roh-Johnson 等（2012）</a:t>
            </a:r>
          </a:p>
          <a:p xmlns:a="http://schemas.openxmlformats.org/drawingml/2006/main">
            <a:r>
              <a:t>https://nigms.nih.gov/image-gallery/3334</a:t>
            </a:r>
          </a:p>
          <a:p xmlns:a="http://schemas.openxmlformats.org/drawingml/2006/main">
            <a:r>
              <a:t>https://nigms.nih.gov/sites/nigms/files/image-and-video-gallery/Four_timepoints_in_gastrulation.mp4</a:t>
            </a:r>
          </a:p>
          <a:p xmlns:a="http://schemas.openxmlformats.org/drawingml/2006/main">
            <a:r>
              <a:t>绿色为 myosin，红色为细胞膜，蓝色伪彩标出内移细胞。留意顶面轮廓怎样缩小、邻居怎样覆盖原来的位置；蓝色标注用于定位细胞，不是另一种分子信号。</a:t>
            </a:r>
          </a:p>
          <a:p xmlns:a="http://schemas.openxmlformats.org/drawingml/2006/main">
            <a:r>
              <a:t>嵌入 GIF：143 帧，约 22.88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局部位移 q 会牵动邻居 y。排除刚体模式并假设邻居刚度子块正定后，允许邻居松弛会给出 Schur 补形式的有效刚度，它不高于冻结邻居时的刚度。因此集体软模式可能降低局部形变代价，但小形变刚度并不直接等于整条路径能垒。右图又说明同样马达活动经过不同耦合，传到边界的驱动不同，甚至可能无法克服反向负载。这将一个受困细胞能否移动分成几何代价、集体松弛和传力三个层次。可检验的输出包括邻居位移模式、边界与皮层相对速度，以及改变分裂时序或耦合后的首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Slabodnick et al. (2023), https://doi.org/10.1371/journal.pgen.1010319</a:t>
            </a:r>
          </a:p>
          <a:p xmlns:a="http://schemas.openxmlformats.org/drawingml/2006/main">
            <a:r>
              <a:t>https://li-fancheng.github.io/notes/vertex_model/linear_response/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裁取笔记 25_worm_ingression.png B/C，均为无量纲简化算例，不是实验数据。局部 Schur 补关系需要邻居子块正定及一致约束。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 DIC 显示背侧细胞逐渐相互插入，右侧实验把突出定位到基底外侧。这个过程的特殊性在于驱动具有明确的高度和极性，而邻居更新却常从顶面轮廓读取。研究问题因此是：在相近输入做功或位移尺度下，将活动施加在不同位置和方向，是否会改变哪个邻居先交换、路径是否逆转和最终接触图。实验已经支持基底突出对过程的重要性，跨驱动协议的比较则是这里提出的研究方案。不能把所有活动简单替换成各向同性随机力，也不能从最终 T1 推断旧边必然主动收缩。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Walck-Shannon et al. (2015), https://doi.org/10.1242/dev.127597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DIC 与 Fig. 1B/C 为原始实验。输入做功匹配和不同驱动协议比较属于研究设想。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2；影像 E. Williams-Masson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https://uwmadison.box.com/index.php?rm=box_download_shared_file&amp;shared_name=haqk54pdl7e9ut5qo26n7f9mem02yzsj&amp;file_id=f_2149902455545</a:t>
            </a:r>
          </a:p>
          <a:p xmlns:a="http://schemas.openxmlformats.org/drawingml/2006/main">
            <a:r>
              <a:t>野生型胚胎的背侧 DIC 影像，前端在左，原始采样间隔为 30 s。细胞先形成楔形，随后左右交错，逐渐排成横跨中线的一列。可以先追踪尖端，再比较细胞主体何时跟上。</a:t>
            </a:r>
          </a:p>
          <a:p xmlns:a="http://schemas.openxmlformats.org/drawingml/2006/main">
            <a:r>
              <a:t>嵌入 GIF：96 帧，约 15.36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建议用时：1.6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这个算例把四个细胞的轮廓与能量放在同一条路径上，q 为有符号的交界长度。能量来自实际多边形的面积、周长和额外旧边张力，不是预先规定双势阱。改变旧边张力会改变保守地形和到共同顶点的势垒。但这条固定外框、对称路径只是候选路径，允许更多邻居松弛或增加其他自由度后，最低路径可能不同。还要把这种保守线张力与实际基底推进区分：一般非保守驱动不能全部装进静态 E，做功取决于路径和协议。研究应同时比较事件的空间方向、旧边长度、新边方向以及首次通过时间，检验结构化驱动怎样选择通道。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Farhadifar et al. (2007), https://doi.org/10.1016/j.cub.2007.11.049</a:t>
            </a:r>
          </a:p>
          <a:p xmlns:a="http://schemas.openxmlformats.org/drawingml/2006/main">
            <a:r>
              <a:t>Bi et al. (2015), https://doi.org/10.1038/nphys3471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笔记 30_four_cell_rearrangement.png，固定外框 [-1,1]²，A₀=1、P₀=3.8、K_A=1、K_P=.5。只改变 Λ_AB，不把它当作实际基底突出力的完整模型。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建议用时：1.1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两幅来自相同基底活动和初态，只改变顶底耦合。弱耦合允许基底先走、顶端滞后，强耦合使两层更同步并增加推进负载。它说明隐藏自由度不只是给某个速率加修正，还可能改变投影里出现的路径。真实三维细胞的侧壁、体积和接触会进一步排除某些过大的顶底错位。因此几何可行性必须在模型保留的维度上检验。双层图是相场算例，不能改称顶点模型的实验验证。可推广的问题是：哪些隐含耦合限制了表观二维组织能访问的构型与通道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https://li-fancheng.github.io/notes/celegans/embryonic_morphogenesis/epithelial_morphogenesis/#basal-apical-model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图为笔记 29_basal_apical_fields 的 t=12 末态，固定邻居，k_ab=.1/.8，属于简化相场模型。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肌肉提供随时间变化的外源负载，表皮网络与连接负责传力和保持。右侧连接影像显示周期内快速往返，左侧长度曲线显示某些骨架扰动下已获得的长度仍会丢失。这些是区分驱动与保持的实验依据，不等于已经证明所有周期训练机制。研究重点是相同瞬时输入经过多轮后，构型分布是否随内部状态变化，以及卸载后哪些形状稳定保留。比较时需要同时记录周期内峰值、周期末残余和输入的幅度与相位。两幅图来自不同研究和条件，不能逐帧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Lardennois et al. (2019), https://doi.org/10.1038/s41586-019-1509-4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长度曲线为公开作者稿 Fig. 2d，右侧为 Yang Video S4。周期训练的跨协议比较属于研究设想。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Yang 等（2025），Video S4，Developmental Cell，CC BY-NC 4.0</a:t>
            </a:r>
          </a:p>
          <a:p xmlns:a="http://schemas.openxmlformats.org/drawingml/2006/main">
            <a:r>
              <a:t>https://pmc.ncbi.nlm.nih.gov/articles/PMC12549353/#mmc6</a:t>
            </a:r>
          </a:p>
          <a:p xmlns:a="http://schemas.openxmlformats.org/drawingml/2006/main">
            <a:r>
              <a:t>https://ars.els-cdn.com/content/image/1-s2.0-S1534580725003673-mmc6.mp4</a:t>
            </a:r>
          </a:p>
          <a:p xmlns:a="http://schemas.openxmlformats.org/drawingml/2006/main">
            <a:r>
              <a:t>光片成像中的 DLG-1::RFP 标记表皮连接。观察肌肉抽动时连接的反复伸展与回缩，再比较较长时间内细胞群长度的变化；单次脉动和长期伸长叠加在同一段影像中。</a:t>
            </a:r>
          </a:p>
          <a:p xmlns:a="http://schemas.openxmlformats.org/drawingml/2006/main">
            <a:r>
              <a:t>嵌入 GIF：125 帧，约 20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左侧切割释放响应帮助约束方向性受力和材料响应，它不能单独给出绝对张力。右侧是封闭体积的均匀圆柱模式，e 为轴向对数应变，周向为 -e/2。相同周向主动作用，在轴向主动缩短或更大轴向抵抗下产生不同末态。这是几何约束和材料方向共同选择模式的最小演示。系数已按模式归一化，图未求解 seam 与背腹区域异质性，也不能据此推断真实线虫增加周向纤维刚度必然促进或抑制伸长。物理目标是识别哪些局部驱动能投影到全身模式，以及约束如何改变这种投影。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Vuong-Brender et al. (2017), https://doi.org/10.7554/eLife.23866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右侧裁取笔记 38_closed_volume_elongation 三个 t=6 末态，任意单位，非胚胎形状拟合。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Vuong-Brender et al. (2017), Video 1, eLife, CC BY 4.0</a:t>
            </a:r>
          </a:p>
          <a:p xmlns:a="http://schemas.openxmlformats.org/drawingml/2006/main">
            <a:r>
              <a:t>https://doi.org/10.7554/eLife.23866.007</a:t>
            </a:r>
          </a:p>
          <a:p xmlns:a="http://schemas.openxmlformats.org/drawingml/2006/main">
            <a:r>
              <a:t>https://static-movie-usa.glencoesoftware.com/mp4/10.7554/672/626a302e3b0f99d57a9b3a50c24ae0475f59fc50/elife-23866-media1.mp4</a:t>
            </a:r>
          </a:p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嵌入 GIF：81 帧，约 12.96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建议用时：1.7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这一页将稳定性问题扩展到历史。总应变 e 与参考状态 p 分开，弹性部分是 e-p；候选规则只在超过阈值时更新 p。相同周期有效输入下，固定 p 的系统卸载后回到原状态，允许更新的系统保留残余形变。因而驱动不仅推动体系访问原有地形，也可能通过结构改变重写卸载后的稳定构型。这里采用单向阈值规则，不能仅由耗散或周期性本身推出。下一步研究应改变幅度、周期和恢复时间，并检验残余形状、滞回及跨周期记忆。Q_eff 是对伸长模式的有效负载，尚需解释肌肉、方向性骨架和几何怎样生成它。不同本构可能产生不同频率依赖，不能预设存在通用最优频率。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https://li-fancheng.github.io/notes/celegans/embryonic_morphogenesis/subcellular_cortex_and_flows/#network-memory</a:t>
            </a:r>
          </a:p>
          <a:p xmlns:a="http://schemas.openxmlformats.org/drawingml/2006/main">
            <a:r>
              <a:t>Lardennois et al. (2019) correction, https://doi.org/10.1038/s41586-019-1562-z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保留笔记 39_cyclic_network_shape 两行形态与对应候选方程。图为无量纲算例，输入在 t=16 停止，不模拟真实 actin 切断或肌肉带。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三类现象不需要被强行归成同一种流化。壳内堆积首先改变允许几何和机械地形，定向推进强调路径选择与隐藏耦合，周期重塑还会改变系统的内部状态和卸载后稳定性。可比较的是输出层次：从局部事件到集体模式，再到构型分布和历史响应。形状指数、T1 数量或最终长度中的任一个，都不能独自替代这些判断。这个比较框架的作用，是寻找哪些控制参数与响应可以迁移，同时保留不同机制之间真正重要的差别。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原生表格，属于研究比较框架，不宣称已经获得统一相图。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建议用时：1.6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这页是可以直接推进的研究方案。第一组扫描几何和相互作用差异，明确分裂协议及初态，让边界选择与参数补偿能够区分。第二组改变驱动的位置、方向和持续性，必须说明选择匹配做功、位移还是其他输入量，通常不能同时匹配所有特征，因此还要记录峰值和速率。第三组扫描周期协议，并在内部状态固定与可更新模型之间比较。输出都采用同样观察时间和事件定义。概率可以来自实验个体差异，也可以来自明确给定的初态集合或噪声模型，不能默认等价于热平衡有效温度。目标是用模型消融与受控条件改变来确定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https://li-fancheng.github.io/notes/vertex_model/morphogenesis/</a:t>
            </a:r>
          </a:p>
          <a:p xmlns:a="http://schemas.openxmlformats.org/drawingml/2006/main">
            <a:r>
              <a:t>https://li-fancheng.github.io/notes/celegans/embryonic_morphogenesis/active_matter_packing_topology/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研究方案，不是已有实验结果。匹配输入做功等方案需要测量或模型标定，尚不假定实验上可以独立操纵所有变量。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普遍性应该变成可被否证的预测。候选一是几何和接触条件选择与事件相耦合的集体软路径；需要预测新壳形中在哪里重排，而不只解释已经发生的事件。候选二是结构化驱动与目标运动模式的耦合决定通道选择；需要在明确可比的输入尺度下检验方向和位置的作用。候选三是内部更新时间与驱动历史决定可保持构型；要在新周期和材料参数下预测残余与失稳边界。只有这些关系在不同几何、驱动或体系中保持，并且适用与失败条件明确，才逐步支持普遍物理机制。现阶段这些是研究命题，不能把一张成功拟合图作为普遍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本页为研究设想与证据标准，不新增或假称任何实验发现。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最后回到研究目标。选择线虫中的特殊驱动和几何条件，是为了让集体重排、稳定性与可达构型成为可控制、可测量、可预测的问题。研究的产出应是可迁移的机制与适用条件，具体模型分辨率由问题决定。今天的三个案例提供了比较起点，后续通过对照和跨条件预测判断哪些物理关系真正具有普遍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研究目标，沿用用户给出的完整定位。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本页供讨论和延伸阅读，不计入正式二十分钟。正文以三个物理问题组织，备份页保留自由边界接合和三维投影的补充讨论。各页备注区分实验、文献模型、本地算例与本报告提出的研究方案。全部七段 GIF 均嵌入 PPTX。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/Users/ldepression/Desktop/Li-Fancheng.github.io/notes/celegans/embryonic_morphogenesis/gastrulation/body.md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/Users/ldepression/Desktop/Li-Fancheng.github.io/notes/celegans/embryonic_morphogenesis/early_elongation/body.md</a:t>
            </a:r>
          </a:p>
          <a:p xmlns:a="http://schemas.openxmlformats.org/drawingml/2006/main">
            <a:r>
              <a:t>/Users/ldepression/Desktop/Li-Fancheng.github.io/notes/celegans/embryonic_morphogenesis/late_elongation/body.md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>/Users/ldepression/Desktop/Li-Fancheng.github.io/notes/vertex_model/foundations/body.md</a:t>
            </a:r>
          </a:p>
          <a:p xmlns:a="http://schemas.openxmlformats.org/drawingml/2006/main">
            <a:r>
              <a:t>/Users/ldepression/Desktop/Li-Fancheng.github.io/notes/vertex_model/linear_response/body.md</a:t>
            </a:r>
          </a:p>
          <a:p xmlns:a="http://schemas.openxmlformats.org/drawingml/2006/main">
            <a:r>
              <a:t>/Users/ldepression/Desktop/Li-Fancheng.github.io/notes/vertex_model/rearrangements/body.md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/Users/ldepression/Desktop/Li-Fancheng.github.io/notes/vertex_model/morphogenesis/body.md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https://li-fancheng.github.io/notes/celegans/embryonic_morphogenesis/</a:t>
            </a:r>
          </a:p>
          <a:p xmlns:a="http://schemas.openxmlformats.org/drawingml/2006/main">
            <a:r>
              <a:t>https://li-fancheng.github.io/notes/vertex_model/</a:t>
            </a:r>
          </a:p>
          <a:p xmlns:a="http://schemas.openxmlformats.org/drawingml/2006/main">
            <a:r>
              <a:t>Yamamoto &amp; Kimura (2017), Development https://doi.org/10.1242/dev.154609</a:t>
            </a:r>
          </a:p>
          <a:p xmlns:a="http://schemas.openxmlformats.org/drawingml/2006/main">
            <a:r>
              <a:t>Yamamoto et al. (2026), Developmental Cell https://doi.org/10.1016/j.devcel.2026.04.013</a:t>
            </a:r>
          </a:p>
          <a:p xmlns:a="http://schemas.openxmlformats.org/drawingml/2006/main">
            <a:r>
              <a:t>Roh-Johnson et al. (2012), Science https://doi.org/10.1126/science.1217869</a:t>
            </a:r>
          </a:p>
          <a:p xmlns:a="http://schemas.openxmlformats.org/drawingml/2006/main">
            <a:r>
              <a:t>Walck-Shannon et al. (2015), Development https://doi.org/10.1242/dev.127597</a:t>
            </a:r>
          </a:p>
          <a:p xmlns:a="http://schemas.openxmlformats.org/drawingml/2006/main">
            <a:r>
              <a:t>Vuong-Brender et al. (2017), eLife https://doi.org/10.7554/eLife.23866</a:t>
            </a:r>
          </a:p>
          <a:p xmlns:a="http://schemas.openxmlformats.org/drawingml/2006/main">
            <a:r>
              <a:t>Lardennois et al. (2019), Nature https://doi.org/10.1038/s41586-019-1509-4</a:t>
            </a:r>
          </a:p>
          <a:p xmlns:a="http://schemas.openxmlformats.org/drawingml/2006/main">
            <a:r>
              <a:t>Farhadifar et al. (2007), Current Biology https://doi.org/10.1016/j.cub.2007.11.049</a:t>
            </a:r>
          </a:p>
          <a:p xmlns:a="http://schemas.openxmlformats.org/drawingml/2006/main">
            <a:r>
              <a:t>Bi et al. (2015), Nature Physics https://doi.org/10.1038/nphys3471</a:t>
            </a:r>
          </a:p>
          <a:p xmlns:a="http://schemas.openxmlformats.org/drawingml/2006/main">
            <a:r>
              <a:t>Slabodnick et al. (2023), https://doi.org/10.1371/journal.pgen.1010319</a:t>
            </a:r>
          </a:p>
          <a:p xmlns:a="http://schemas.openxmlformats.org/drawingml/2006/main">
            <a:r>
              <a:t>Miao et al. preprint, https://arxiv.org/abs/2105.05795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原始视频由本地笔记的 media_sources.json 登记。GIF 在桌面版 PowerPoint 放映中播放，静态预览显示单帧。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分钟。备份页，默认在放映中隐藏。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保留原先腹侧闭合的实验和模型，用于讨论自由边界转成内部界面时的拓扑与承载变化。相遇与稳定接合应分别记录，首次相遇后重新开裂对连接成熟、受力与周转提供约束。这是正文三个案例之外的候选比较体系，不自动等同于 T1 或组织整体流化。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/Users/ldepression/Desktop/Li-Fancheng.github.io/notes/celegans/embryonic_morphogenesis/epithelial_morphogenesis/body.md</a:t>
            </a:r>
          </a:p>
          <a:p xmlns:a="http://schemas.openxmlformats.org/drawingml/2006/main">
            <a:r>
              <a:t>/Users/ldepression/Desktop/Li-Fancheng.github.io/notes/celegans/embryonic_morphogenesis/active_matter_packing_topology/body.md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Raich et al. (1999), https://doi.org/10.1016/S0960-9822(00)80015-9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右侧为笔记 31_enclosure_and_adhesion 算例，未拟合实验。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Hardin Lab，WormBook Movie 5；影像 Mathias Koeppen</a:t>
            </a:r>
          </a:p>
          <a:p xmlns:a="http://schemas.openxmlformats.org/drawingml/2006/main">
            <a:r>
              <a:t>https://worms.biology.wisc.edu/galleries/wormbook/</a:t>
            </a:r>
          </a:p>
          <a:p xmlns:a="http://schemas.openxmlformats.org/drawingml/2006/main">
            <a:r>
              <a:t>https://uwmadison.box.com/index.php?rm=box_download_shared_file&amp;shared_name=gkwn64id9h6k4161ymkb42y0hkst5ny0&amp;file_id=f_2149905153555</a:t>
            </a:r>
          </a:p>
          <a:p xmlns:a="http://schemas.openxmlformats.org/drawingml/2006/main">
            <a:r>
              <a:t>野生型胚胎的腹侧 DIC 影像，前端在左，原始采样间隔为 2 min。先看两侧前缘如何接近，再看初次接触以后，后方剩余开口怎样继续封闭。</a:t>
            </a:r>
          </a:p>
          <a:p xmlns:a="http://schemas.openxmlformats.org/drawingml/2006/main">
            <a:r>
              <a:t>嵌入 GIF：105 帧，约 16.8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建议用时：0.0 分钟。备份页，默认在放映中隐藏。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研究主线</a:t>
            </a:r>
          </a:p>
          <a:p xmlns:a="http://schemas.openxmlformats.org/drawingml/2006/main">
            <a:r>
              <a:t>从 C. elegans 胚胎中选择具有特殊驱动方式或几何约束的形态发生过程，研究这些条件怎样影响细胞集体重排、稳定性和可达构型，进而寻找具有普遍意义的物理机制。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本页保留三维运动影像与中心线示意。二维投影的缩短可能来自整体转动或弯曲，不能直接等同于材料回缩。对可达构型分布和稳定性比较，应统一身体坐标、三维弧长与材料点追踪，并考虑卵壳接触。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本地笔记与章节</a:t>
            </a:r>
          </a:p>
          <a:p xmlns:a="http://schemas.openxmlformats.org/drawingml/2006/main">
            <a:r>
              <a:t>/Users/ldepression/Desktop/Li-Fancheng.github.io/notes/celegans/embryonic_morphogenesis/geometry_and_inference/body.md</a:t>
            </a:r>
          </a:p>
          <a:p xmlns:a="http://schemas.openxmlformats.org/drawingml/2006/main">
            <a:r>
              <a:t>/Users/ldepression/Desktop/Li-Fancheng.github.io/notes/vertex_model/geometry_3d/body.md</a:t>
            </a:r>
          </a:p>
          <a:p xmlns:a="http://schemas.openxmlformats.org/drawingml/2006/main">
            <a:r>
              <a:t>/Users/ldepression/Desktop/Li-Fancheng.github.io/notes/celegans/embryonic_morphogenesis/subcellular_cortex_and_flows/body.md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</a:t>
            </a:r>
          </a:p>
          <a:p xmlns:a="http://schemas.openxmlformats.org/drawingml/2006/main">
            <a:r>
              <a:t>Yang et al. (2025), https://doi.org/10.1016/j.devcel.2025.06.012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图像、证据与模型适用范围</a:t>
            </a:r>
          </a:p>
          <a:p xmlns:a="http://schemas.openxmlformats.org/drawingml/2006/main">
            <a:r>
              <a:t>中心线为几何示意，不是对影片的拟合。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动态影像</a:t>
            </a:r>
          </a:p>
          <a:p xmlns:a="http://schemas.openxmlformats.org/drawingml/2006/main">
            <a:r>
              <a:t>Yang 等（2025），Video S1，Developmental Cell，CC BY-NC 4.0</a:t>
            </a:r>
          </a:p>
          <a:p xmlns:a="http://schemas.openxmlformats.org/drawingml/2006/main">
            <a:r>
              <a:t>https://pmc.ncbi.nlm.nih.gov/articles/PMC12549353/#mmc3</a:t>
            </a:r>
          </a:p>
          <a:p xmlns:a="http://schemas.openxmlformats.org/drawingml/2006/main">
            <a:r>
              <a:t>https://ars.els-cdn.com/content/image/1-s2.0-S1534580725003673-mmc3.mp4</a:t>
            </a:r>
          </a:p>
          <a:p xmlns:a="http://schemas.openxmlformats.org/drawingml/2006/main">
            <a:r>
              <a:t>DLG-1::RFP 显示表皮连接，影片追踪胚胎在卵壳内的旋转。留意同一身体区域怎样进入和离开视野：二维投影中的缩短，可能来自弯曲和转动，不能直接当作材料回缩。</a:t>
            </a:r>
          </a:p>
          <a:p xmlns:a="http://schemas.openxmlformats.org/drawingml/2006/main">
            <a:r>
              <a:t>嵌入 GIF：88 帧，约 14.08 s，循环。只重采样时间、等比例缩放和转换调色板，保留原片整体节奏。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实验现象、文献模型、本地简化算例和研究设想分别标明。可推广的物理机制是研究目标，不能把一个算例或单一线虫表型直接称为已建立的普遍规律。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0adacd7c749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dab0942240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71d94894246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80679f22d4a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513eb210b48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00aac9b5c45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7F94A7-73BF-4D83-A293-AA5D22446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2B568-238A-4CF2-A8E8-A159787A74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0427A2-7C94-4FD2-A56F-5A2830665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D77C9-D9CF-4950-B0AD-1F2286AFF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23861B-03F1-439C-8EC8-E0CA14DC8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5166C8-495A-4BF8-BDCA-99A9D81D4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3714B-E4DB-4E85-9DCD-3442E3432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07B610-4C89-4EDA-BCB9-B47C6B1326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F9AADD-24DC-485F-BF00-D8D1CC731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618B66-93D1-4511-9729-59B804CF8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1de1cfa274981" /><Relationship Type="http://schemas.openxmlformats.org/officeDocument/2006/relationships/slideLayout" Target="/ppt/slideLayouts/slideLayout1.xml" Id="R5cbf5732574a485d" /><Relationship Type="http://schemas.openxmlformats.org/officeDocument/2006/relationships/slideLayout" Target="/ppt/slideLayouts/slideLayout2.xml" Id="Ra35669bb18d04c2f" /><Relationship Type="http://schemas.openxmlformats.org/officeDocument/2006/relationships/slideLayout" Target="/ppt/slideLayouts/slideLayout3.xml" Id="Recf05be8a2984d83" /><Relationship Type="http://schemas.openxmlformats.org/officeDocument/2006/relationships/slideLayout" Target="/ppt/slideLayouts/slideLayout4.xml" Id="Rf45123f38c09432a" /><Relationship Type="http://schemas.openxmlformats.org/officeDocument/2006/relationships/slideLayout" Target="/ppt/slideLayouts/slideLayout5.xml" Id="Rb6f6f321afd74483" /><Relationship Type="http://schemas.openxmlformats.org/officeDocument/2006/relationships/slideLayout" Target="/ppt/slideLayouts/slideLayout6.xml" Id="Rb8d008d17436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f5732574a485d"/>
    <p:sldLayoutId xmlns:r="http://schemas.openxmlformats.org/officeDocument/2006/relationships" id="2147483650" r:id="Ra35669bb18d04c2f"/>
    <p:sldLayoutId xmlns:r="http://schemas.openxmlformats.org/officeDocument/2006/relationships" id="2147483651" r:id="Recf05be8a2984d83"/>
    <p:sldLayoutId xmlns:r="http://schemas.openxmlformats.org/officeDocument/2006/relationships" id="2147483652" r:id="Rf45123f38c09432a"/>
    <p:sldLayoutId xmlns:r="http://schemas.openxmlformats.org/officeDocument/2006/relationships" id="2147483653" r:id="Rb6f6f321afd74483"/>
    <p:sldLayoutId xmlns:r="http://schemas.openxmlformats.org/officeDocument/2006/relationships" id="2147483654" r:id="Rb8d008d17436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133df0e864cd0" /><Relationship Type="http://schemas.openxmlformats.org/officeDocument/2006/relationships/image" Target="/ppt/media/image.gif" Id="Rd75503f1be644498" /><Relationship Type="http://schemas.openxmlformats.org/officeDocument/2006/relationships/notesSlide" Target="/ppt/notesSlides/notesSlide1.xml" Id="Rb4607a97e85340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7eb32b10643ec" /><Relationship Type="http://schemas.openxmlformats.org/officeDocument/2006/relationships/notesSlide" Target="/ppt/notesSlides/notesSlide2.xml" Id="R4cd1896764524e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ad161507243e8" /><Relationship Type="http://schemas.openxmlformats.org/officeDocument/2006/relationships/notesSlide" Target="/ppt/notesSlides/notesSlide3.xml" Id="R868655108243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92eeaef3f4ac5" /><Relationship Type="http://schemas.openxmlformats.org/officeDocument/2006/relationships/notesSlide" Target="/ppt/notesSlides/notesSlide4.xml" Id="Rac4cc27f0266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f3847638f454c" /><Relationship Type="http://schemas.openxmlformats.org/officeDocument/2006/relationships/image" Target="/ppt/media/image.jpeg" Id="R5f2c965d1257494a" /><Relationship Type="http://schemas.openxmlformats.org/officeDocument/2006/relationships/image" Target="/ppt/media/image2.jpeg" Id="R0bca3c3953554534" /><Relationship Type="http://schemas.openxmlformats.org/officeDocument/2006/relationships/image" Target="/ppt/media/image3.jpeg" Id="R4b0f025bd23444f1" /><Relationship Type="http://schemas.openxmlformats.org/officeDocument/2006/relationships/notesSlide" Target="/ppt/notesSlides/notesSlide5.xml" Id="R46b3f56878ce46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55106a32847a2" /><Relationship Type="http://schemas.openxmlformats.org/officeDocument/2006/relationships/image" Target="/ppt/media/image2.gif" Id="Rf16ff9c3f4fd4c3d" /><Relationship Type="http://schemas.openxmlformats.org/officeDocument/2006/relationships/image" Target="/ppt/media/image.png" Id="Rb13efcb103284211" /><Relationship Type="http://schemas.openxmlformats.org/officeDocument/2006/relationships/notesSlide" Target="/ppt/notesSlides/notesSlide6.xml" Id="R7c19393370174b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0741ae73f47a1" /><Relationship Type="http://schemas.openxmlformats.org/officeDocument/2006/relationships/image" Target="/ppt/media/image2.png" Id="R8bba189400fe4b79" /><Relationship Type="http://schemas.openxmlformats.org/officeDocument/2006/relationships/image" Target="/ppt/media/image3.png" Id="R0a0701ece1284f03" /><Relationship Type="http://schemas.openxmlformats.org/officeDocument/2006/relationships/notesSlide" Target="/ppt/notesSlides/notesSlide7.xml" Id="R6de6d426d1a6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492e8babe4763" /><Relationship Type="http://schemas.openxmlformats.org/officeDocument/2006/relationships/image" Target="/ppt/media/image3.gif" Id="Ra8d77c035cf44128" /><Relationship Type="http://schemas.openxmlformats.org/officeDocument/2006/relationships/image" Target="/ppt/media/image4.jpeg" Id="R684842629aa24561" /><Relationship Type="http://schemas.openxmlformats.org/officeDocument/2006/relationships/notesSlide" Target="/ppt/notesSlides/notesSlide8.xml" Id="Rff7434b4d55146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8c9c3afc2417e" /><Relationship Type="http://schemas.openxmlformats.org/officeDocument/2006/relationships/image" Target="/ppt/media/image4.png" Id="R3dd21247b1ce4166" /><Relationship Type="http://schemas.openxmlformats.org/officeDocument/2006/relationships/notesSlide" Target="/ppt/notesSlides/notesSlide9.xml" Id="Ra7e9659f9b794d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748c328bf4255" /><Relationship Type="http://schemas.openxmlformats.org/officeDocument/2006/relationships/image" Target="/ppt/media/image5.png" Id="R9c8543fc6df0466f" /><Relationship Type="http://schemas.openxmlformats.org/officeDocument/2006/relationships/image" Target="/ppt/media/image6.png" Id="R7b7fcaa555714016" /><Relationship Type="http://schemas.openxmlformats.org/officeDocument/2006/relationships/notesSlide" Target="/ppt/notesSlides/notesSlide10.xml" Id="R5ce8eede8f5e4b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0eb96842e4e08" /><Relationship Type="http://schemas.openxmlformats.org/officeDocument/2006/relationships/image" Target="/ppt/media/image5.jpeg" Id="Rfdfb5ed825f74899" /><Relationship Type="http://schemas.openxmlformats.org/officeDocument/2006/relationships/image" Target="/ppt/media/image4.gif" Id="R924263b6725742b9" /><Relationship Type="http://schemas.openxmlformats.org/officeDocument/2006/relationships/notesSlide" Target="/ppt/notesSlides/notesSlide11.xml" Id="R58c7af007cf6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690bc6ac74dfa" /><Relationship Type="http://schemas.openxmlformats.org/officeDocument/2006/relationships/image" Target="/ppt/media/image5.gif" Id="R4242a8ca00e74fae" /><Relationship Type="http://schemas.openxmlformats.org/officeDocument/2006/relationships/image" Target="/ppt/media/image7.png" Id="R2f3f7ce3c3fd448f" /><Relationship Type="http://schemas.openxmlformats.org/officeDocument/2006/relationships/image" Target="/ppt/media/image8.png" Id="R80e4bfa47d654b41" /><Relationship Type="http://schemas.openxmlformats.org/officeDocument/2006/relationships/image" Target="/ppt/media/image9.png" Id="R4ea6d7eb9be14931" /><Relationship Type="http://schemas.openxmlformats.org/officeDocument/2006/relationships/notesSlide" Target="/ppt/notesSlides/notesSlide12.xml" Id="R4ced9586527c48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2a067379f4ef1" /><Relationship Type="http://schemas.openxmlformats.org/officeDocument/2006/relationships/image" Target="/ppt/media/image10.png" Id="Rbf2e5dbbed524b3a" /><Relationship Type="http://schemas.openxmlformats.org/officeDocument/2006/relationships/notesSlide" Target="/ppt/notesSlides/notesSlide13.xml" Id="R1921eb7d6f414b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253950d2a4a40" /><Relationship Type="http://schemas.openxmlformats.org/officeDocument/2006/relationships/notesSlide" Target="/ppt/notesSlides/notesSlide14.xml" Id="R2023dde6842748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430c24c9846ad" /><Relationship Type="http://schemas.openxmlformats.org/officeDocument/2006/relationships/notesSlide" Target="/ppt/notesSlides/notesSlide15.xml" Id="Ra213938459124a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26c36e93b447b" /><Relationship Type="http://schemas.openxmlformats.org/officeDocument/2006/relationships/notesSlide" Target="/ppt/notesSlides/notesSlide16.xml" Id="Rda8900b0cb5a4a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dd4e164b14580" /><Relationship Type="http://schemas.openxmlformats.org/officeDocument/2006/relationships/notesSlide" Target="/ppt/notesSlides/notesSlide17.xml" Id="R1c3013381ed84b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5ab2c406e44cf" /><Relationship Type="http://schemas.openxmlformats.org/officeDocument/2006/relationships/hyperlink" Target="https://li-fancheng.github.io/notes/celegans/embryonic_morphogenesis/" TargetMode="External" Id="R737c9b3a8c124f5e" /><Relationship Type="http://schemas.openxmlformats.org/officeDocument/2006/relationships/hyperlink" Target="https://li-fancheng.github.io/notes/vertex_model/" TargetMode="External" Id="R92df731a024446d5" /><Relationship Type="http://schemas.openxmlformats.org/officeDocument/2006/relationships/hyperlink" Target="https://doi.org/10.1242/dev.154609" TargetMode="External" Id="Ree3ba583099a4e13" /><Relationship Type="http://schemas.openxmlformats.org/officeDocument/2006/relationships/hyperlink" Target="https://doi.org/10.1016/j.devcel.2026.04.013" TargetMode="External" Id="Reb0ecdf2c98c4d43" /><Relationship Type="http://schemas.openxmlformats.org/officeDocument/2006/relationships/hyperlink" Target="https://doi.org/10.1126/science.1217869" TargetMode="External" Id="Rcde4c2bda1ee4afe" /><Relationship Type="http://schemas.openxmlformats.org/officeDocument/2006/relationships/hyperlink" Target="https://doi.org/10.1242/dev.127597" TargetMode="External" Id="Rdbe106768ee94131" /><Relationship Type="http://schemas.openxmlformats.org/officeDocument/2006/relationships/hyperlink" Target="https://doi.org/10.7554/eLife.23866" TargetMode="External" Id="Rfd473fe47d654b62" /><Relationship Type="http://schemas.openxmlformats.org/officeDocument/2006/relationships/hyperlink" Target="https://doi.org/10.1038/s41586-019-1509-4" TargetMode="External" Id="R1407555393984e47" /><Relationship Type="http://schemas.openxmlformats.org/officeDocument/2006/relationships/hyperlink" Target="https://doi.org/10.1016/j.cub.2007.11.049" TargetMode="External" Id="Ra60fa74482414428" /><Relationship Type="http://schemas.openxmlformats.org/officeDocument/2006/relationships/hyperlink" Target="https://doi.org/10.1038/nphys3471" TargetMode="External" Id="R4d5ee18993de4c04" /><Relationship Type="http://schemas.openxmlformats.org/officeDocument/2006/relationships/notesSlide" Target="/ppt/notesSlides/notesSlide18.xml" Id="Rc28ed1fa5a814a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40f9f564945da" /><Relationship Type="http://schemas.openxmlformats.org/officeDocument/2006/relationships/image" Target="/ppt/media/image6.gif" Id="R2ed7f7504f9d4cfd" /><Relationship Type="http://schemas.openxmlformats.org/officeDocument/2006/relationships/image" Target="/ppt/media/image11.png" Id="Ra0996ea37e504582" /><Relationship Type="http://schemas.openxmlformats.org/officeDocument/2006/relationships/notesSlide" Target="/ppt/notesSlides/notesSlide19.xml" Id="R238f90b344544f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1db961f444744" /><Relationship Type="http://schemas.openxmlformats.org/officeDocument/2006/relationships/image" Target="/ppt/media/image7.gif" Id="Rc0f8be3ff8c147c7" /><Relationship Type="http://schemas.openxmlformats.org/officeDocument/2006/relationships/image" Target="/ppt/media/image12.png" Id="Rf143bb920f9344c0" /><Relationship Type="http://schemas.openxmlformats.org/officeDocument/2006/relationships/notesSlide" Target="/ppt/notesSlides/notesSlide20.xml" Id="Rfbcba46eee1e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受限主动细胞集体的&#10;重排与稳定性">
            <a:extLst xmlns:a="http://schemas.openxmlformats.org/drawingml/2006/main">
              <a:ext uri="{FF2B5EF4-FFF2-40B4-BE49-F238E27FC236}">
                <a16:creationId xmlns:a16="http://schemas.microsoft.com/office/drawing/2014/main" id="{D83AE12B-0330-4E53-9678-4276E2B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81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受限主动细胞集体的</a:t>
            </a:r>
          </a:p>
          <a:p xmlns:a="http://schemas.openxmlformats.org/drawingml/2006/main">
            <a:pPr>
              <a:def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重排与稳定性</a:t>
            </a:r>
          </a:p>
        </p:txBody>
      </p:sp>
      <p:sp>
        <p:nvSpPr>
          <p:cNvPr id="2" name="C. elegans 胚胎中的驱动、约束与构型选择">
            <a:extLst xmlns:a="http://schemas.openxmlformats.org/drawingml/2006/main">
              <a:ext uri="{FF2B5EF4-FFF2-40B4-BE49-F238E27FC236}">
                <a16:creationId xmlns:a16="http://schemas.microsoft.com/office/drawing/2014/main" id="{04D29B34-B57D-4143-8510-B3D70BC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C. elegans 胚胎中的驱动、约束与构型选择</a:t>
            </a:r>
          </a:p>
        </p:txBody>
      </p:sp>
      <p:sp>
        <p:nvSpPr>
          <p:cNvPr id="3" name="特殊条件怎样改变集体运动的路径，&#10;又怎样选择并保留新的构型">
            <a:extLst xmlns:a="http://schemas.openxmlformats.org/drawingml/2006/main">
              <a:ext uri="{FF2B5EF4-FFF2-40B4-BE49-F238E27FC236}">
                <a16:creationId xmlns:a16="http://schemas.microsoft.com/office/drawing/2014/main" id="{99712CCD-8000-4091-A2D8-A18C153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810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特殊条件怎样改变集体运动的路径，</a:t>
            </a:r>
          </a:p>
          <a:p xmlns:a="http://schemas.openxmlformats.org/drawingml/2006/main">
            <a:pPr>
              <a:def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又怎样选择并保留新的构型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74191-5E66-43EA-A573-09E9BB586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503f1be644498"/>
          <a:stretch xmlns:a="http://schemas.openxmlformats.org/drawingml/2006/main"/>
        </p:blipFill>
        <p:spPr>
          <a:xfrm xmlns:a="http://schemas.openxmlformats.org/drawingml/2006/main">
            <a:off x="6802606" y="2266950"/>
            <a:ext cx="4758988" cy="2647950"/>
          </a:xfrm>
          <a:prstGeom xmlns:a="http://schemas.openxmlformats.org/drawingml/2006/main" prst="rect">
            <a:avLst/>
          </a:prstGeom>
        </p:spPr>
      </p:pic>
      <p:sp>
        <p:nvSpPr>
          <p:cNvPr id="5" name="野生型胚胎伸长，侧面 DIC">
            <a:extLst xmlns:a="http://schemas.openxmlformats.org/drawingml/2006/main">
              <a:ext uri="{FF2B5EF4-FFF2-40B4-BE49-F238E27FC236}">
                <a16:creationId xmlns:a16="http://schemas.microsoft.com/office/drawing/2014/main" id="{BB108509-EB07-4322-8F5F-76808CE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72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野生型胚胎伸长，侧面 DIC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4DEEF935-C4A9-4986-AD02-DCB3240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6312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线虫胚胎形态发生的过程与尺度">
            <a:extLst xmlns:a="http://schemas.openxmlformats.org/drawingml/2006/main">
              <a:ext uri="{FF2B5EF4-FFF2-40B4-BE49-F238E27FC236}">
                <a16:creationId xmlns:a16="http://schemas.microsoft.com/office/drawing/2014/main" id="{12FD1120-4B66-4315-B478-862B415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研究问题：驱动与约束怎样选择细胞集体构型</a:t>
            </a:r>
          </a:p>
        </p:txBody>
      </p:sp>
      <p:sp>
        <p:nvSpPr>
          <p:cNvPr id="2" name="发育顺序示意，条长不表示持续时间">
            <a:extLst xmlns:a="http://schemas.openxmlformats.org/drawingml/2006/main">
              <a:ext uri="{FF2B5EF4-FFF2-40B4-BE49-F238E27FC236}">
                <a16:creationId xmlns:a16="http://schemas.microsoft.com/office/drawing/2014/main" id="{3FAC3C56-8C7B-4502-B9F4-DAF100F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研究目标与问题定义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D30FA338-B40F-4E10-916E-E859878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从 C. elegans 胚胎中选择具有特殊驱动方式&#10;或几何约束的形态发生过程，研究这些条">
            <a:extLst xmlns:a="http://schemas.openxmlformats.org/drawingml/2006/main">
              <a:ext uri="{FF2B5EF4-FFF2-40B4-BE49-F238E27FC236}">
                <a16:creationId xmlns:a16="http://schemas.microsoft.com/office/drawing/2014/main" id="{8D068828-F062-49BE-92BA-7BBA263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从 C. elegans 胚胎中选择具有特殊驱动方式</a:t>
            </a:r>
          </a:p>
          <a:p xmlns:a="http://schemas.openxmlformats.org/drawingml/2006/main">
            <a: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或几何约束的形态发生过程，研究这些条件</a:t>
            </a:r>
          </a:p>
          <a:p xmlns:a="http://schemas.openxmlformats.org/drawingml/2006/main">
            <a: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怎样影响细胞集体重排、稳定性和可达构型，</a:t>
            </a:r>
          </a:p>
          <a:p xmlns:a="http://schemas.openxmlformats.org/drawingml/2006/main">
            <a:pPr>
              <a:def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进而寻找具有普遍意义的物理机制。</a:t>
            </a:r>
          </a:p>
        </p:txBody>
      </p:sp>
      <p:sp>
        <p:nvSpPr>
          <p:cNvPr id="13" name="重排：局部挤压，还是邻居协同让位？">
            <a:extLst xmlns:a="http://schemas.openxmlformats.org/drawingml/2006/main">
              <a:ext uri="{FF2B5EF4-FFF2-40B4-BE49-F238E27FC236}">
                <a16:creationId xmlns:a16="http://schemas.microsoft.com/office/drawing/2014/main" id="{63BB3934-9351-4177-99A7-51F2FAD3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重排：局部挤压，还是邻居协同让位？</a:t>
            </a:r>
          </a:p>
        </p:txBody>
      </p:sp>
      <p:sp>
        <p:nvSpPr>
          <p:cNvPr id="14" name="稳定性：扰动后恢复、失稳，还是进入另一种运动？">
            <a:extLst xmlns:a="http://schemas.openxmlformats.org/drawingml/2006/main">
              <a:ext uri="{FF2B5EF4-FFF2-40B4-BE49-F238E27FC236}">
                <a16:creationId xmlns:a16="http://schemas.microsoft.com/office/drawing/2014/main" id="{BF141CC6-3242-4CF1-814D-C2ADF001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稳定性：扰动后恢复、失稳，还是进入另一种运动？</a:t>
            </a:r>
          </a:p>
        </p:txBody>
      </p:sp>
      <p:sp>
        <p:nvSpPr>
          <p:cNvPr id="15" name="可达性：从相同初态，在给定驱动与时间内能到达哪里？">
            <a:extLst xmlns:a="http://schemas.openxmlformats.org/drawingml/2006/main">
              <a:ext uri="{FF2B5EF4-FFF2-40B4-BE49-F238E27FC236}">
                <a16:creationId xmlns:a16="http://schemas.microsoft.com/office/drawing/2014/main" id="{69201FBA-94D4-45E6-8559-B6191FFB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可达性：从相同初态，在给定驱动与时间内能到达哪里？</a:t>
            </a:r>
          </a:p>
        </p:txBody>
      </p:sp>
      <p:sp>
        <p:nvSpPr>
          <p:cNvPr id="16" name="少量细胞、可重复谱系与可追踪界面，使线虫适合连接控制条件和集体结果">
            <a:extLst xmlns:a="http://schemas.openxmlformats.org/drawingml/2006/main">
              <a:ext uri="{FF2B5EF4-FFF2-40B4-BE49-F238E27FC236}">
                <a16:creationId xmlns:a16="http://schemas.microsoft.com/office/drawing/2014/main" id="{77FCD01A-2455-49DB-A6B9-9D2DBA5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少量细胞、可重复谱系与可追踪界面，使线虫适合连接控制条件和集体结果</a:t>
            </a:r>
          </a:p>
        </p:txBody>
      </p:sp>
    </p:spTree>
    <p:extLst>
      <p:ext uri="{BB962C8B-B14F-4D97-AF65-F5344CB8AC3E}">
        <p14:creationId xmlns:p14="http://schemas.microsoft.com/office/powerpoint/2010/main" val="2092340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顶点模型的几何自由度">
            <a:extLst xmlns:a="http://schemas.openxmlformats.org/drawingml/2006/main">
              <a:ext uri="{FF2B5EF4-FFF2-40B4-BE49-F238E27FC236}">
                <a16:creationId xmlns:a16="http://schemas.microsoft.com/office/drawing/2014/main" id="{3B21C6FB-F2BA-4B2C-A962-415C7FA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三个案例对应三类特殊物理条件</a:t>
            </a:r>
          </a:p>
        </p:txBody>
      </p:sp>
      <p:sp>
        <p:nvSpPr>
          <p:cNvPr id="2" name="Barton et al., 2017, Fig. 1，CC BY">
            <a:extLst xmlns:a="http://schemas.openxmlformats.org/drawingml/2006/main">
              <a:ext uri="{FF2B5EF4-FFF2-40B4-BE49-F238E27FC236}">
                <a16:creationId xmlns:a16="http://schemas.microsoft.com/office/drawing/2014/main" id="{D98AB422-F5F1-4248-991E-7A2E476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案例选择：几何约束、定向驱动与周期历史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BC2646AA-E744-4F4E-AD66-37134E5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05083-3BEE-46C5-A4EC-D6A608E337F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905250"/>
                <a:gridCol w="44958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所选过程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特殊驱动或约束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希望辨识的物理问题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受限堆积与细胞内移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卵壳形状、非均一接触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分裂改变细胞数与空间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几何怎样改变构型范围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稳定盆地和集体让位路径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背侧表皮插入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推进集中在基底外侧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具有明确方向和顶底时序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结构化驱动怎样选择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邻居交换的路径与方向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430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肌肉参与的持续伸长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周期负载、方向性骨架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封闭体积与结构重塑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循环怎样改变材料状态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并稳定卸载后的新构型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选择依据：条件可辨认，输出可追踪，并能设计区分机制的对照">
            <a:extLst xmlns:a="http://schemas.openxmlformats.org/drawingml/2006/main">
              <a:ext uri="{FF2B5EF4-FFF2-40B4-BE49-F238E27FC236}">
                <a16:creationId xmlns:a16="http://schemas.microsoft.com/office/drawing/2014/main" id="{46553D4E-21D2-4D7F-B27F-957D81D8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选择依据：条件可辨认，输出可追踪，并能设计区分机制的对照</a:t>
            </a:r>
          </a:p>
        </p:txBody>
      </p:sp>
    </p:spTree>
    <p:extLst>
      <p:ext uri="{BB962C8B-B14F-4D97-AF65-F5344CB8AC3E}">
        <p14:creationId xmlns:p14="http://schemas.microsoft.com/office/powerpoint/2010/main" val="362508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几何允许、稳定与有限时间可达需要分别判断">
            <a:extLst xmlns:a="http://schemas.openxmlformats.org/drawingml/2006/main">
              <a:ext uri="{FF2B5EF4-FFF2-40B4-BE49-F238E27FC236}">
                <a16:creationId xmlns:a16="http://schemas.microsoft.com/office/drawing/2014/main" id="{0B39AB1C-5FCD-447F-8513-8A87D6D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几何允许、稳定与有限时间可达需要分别判断</a:t>
            </a:r>
          </a:p>
        </p:txBody>
      </p:sp>
      <p:sp>
        <p:nvSpPr>
          <p:cNvPr id="2" name="理论框架与操作性定义">
            <a:extLst xmlns:a="http://schemas.openxmlformats.org/drawingml/2006/main">
              <a:ext uri="{FF2B5EF4-FFF2-40B4-BE49-F238E27FC236}">
                <a16:creationId xmlns:a16="http://schemas.microsoft.com/office/drawing/2014/main" id="{1C139D47-9121-4D93-8A53-3C117F6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理论框架与操作性定义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E5CC0055-8DE8-4261-A413-EA17290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Γ dX/dt = −∇ₓ E(X; g, m) + f_act(X, t)">
            <a:extLst xmlns:a="http://schemas.openxmlformats.org/drawingml/2006/main">
              <a:ext uri="{FF2B5EF4-FFF2-40B4-BE49-F238E27FC236}">
                <a16:creationId xmlns:a16="http://schemas.microsoft.com/office/drawing/2014/main" id="{5047139F-2499-4DDD-A17D-D542471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Γ dX/dt = −∇ₓ E(X; g, m) + f_act(X, t)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26C61-404B-4DB4-B8E8-4B850869F61E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判断对象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需要回答的问题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几何可行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位置、形状、体积与接触能否满足边界和不穿透约束？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静态局部稳定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给定内部状态时，允许的非平凡小扰动会恢复还是增长？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持续驱动下稳定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相位对齐后，小扰动能否在运动或周期之间衰减？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有限时间可达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从指定初态按给定协议演化，能访问哪些构型，概率和首达时间如何？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6" name="可达构型可以是瞬态，稳定构型也可能因路径受阻而无法到达">
            <a:extLst xmlns:a="http://schemas.openxmlformats.org/drawingml/2006/main">
              <a:ext uri="{FF2B5EF4-FFF2-40B4-BE49-F238E27FC236}">
                <a16:creationId xmlns:a16="http://schemas.microsoft.com/office/drawing/2014/main" id="{14D33944-E457-4370-9ED0-79BDCDE9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可达构型可以是瞬态，稳定构型也可能因路径受阻而无法到达</a:t>
            </a:r>
          </a:p>
        </p:txBody>
      </p:sp>
    </p:spTree>
    <p:extLst>
      <p:ext uri="{BB962C8B-B14F-4D97-AF65-F5344CB8AC3E}">
        <p14:creationId xmlns:p14="http://schemas.microsoft.com/office/powerpoint/2010/main" val="130495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伸长：周向收缩与轴向伸展">
            <a:extLst xmlns:a="http://schemas.openxmlformats.org/drawingml/2006/main">
              <a:ext uri="{FF2B5EF4-FFF2-40B4-BE49-F238E27FC236}">
                <a16:creationId xmlns:a16="http://schemas.microsoft.com/office/drawing/2014/main" id="{22E46529-1741-480B-9FDB-63A7FFA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卵壳形状与非均一相互作用共同选择排列</a:t>
            </a:r>
          </a:p>
        </p:txBody>
      </p:sp>
      <p:sp>
        <p:nvSpPr>
          <p:cNvPr id="2" name="圆柱与总体积近似用于解释几何约束">
            <a:extLst xmlns:a="http://schemas.openxmlformats.org/drawingml/2006/main">
              <a:ext uri="{FF2B5EF4-FFF2-40B4-BE49-F238E27FC236}">
                <a16:creationId xmlns:a16="http://schemas.microsoft.com/office/drawing/2014/main" id="{FE37EFAA-E598-45E4-B664-AB57F0B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Yamamoto &amp; Kimura, 2017, Fig. 5；Yamamoto et al., 2026, Fig. 5E；线虫 Note 06 §8.1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D37E99D-97AB-4518-A75E-3643C4A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实验：四细胞界面随细胞周期演化">
            <a:extLst xmlns:a="http://schemas.openxmlformats.org/drawingml/2006/main">
              <a:ext uri="{FF2B5EF4-FFF2-40B4-BE49-F238E27FC236}">
                <a16:creationId xmlns:a16="http://schemas.microsoft.com/office/drawing/2014/main" id="{36804823-C9D0-4946-B586-787499EA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实验：四细胞界面随细胞周期演化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3119C-2BBF-444B-BC0B-F0D956A0D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c965d1257494a"/>
          <a:stretch xmlns:a="http://schemas.openxmlformats.org/drawingml/2006/main"/>
        </p:blipFill>
        <p:spPr>
          <a:xfrm xmlns:a="http://schemas.openxmlformats.org/drawingml/2006/main">
            <a:off x="609600" y="1895526"/>
            <a:ext cx="7239000" cy="1647724"/>
          </a:xfrm>
          <a:prstGeom xmlns:a="http://schemas.openxmlformats.org/drawingml/2006/main" prst="rect">
            <a:avLst/>
          </a:prstGeom>
        </p:spPr>
      </p:pic>
      <p:sp>
        <p:nvSpPr>
          <p:cNvPr id="10" name="文献模型：改变卵壳长宽比">
            <a:extLst xmlns:a="http://schemas.openxmlformats.org/drawingml/2006/main">
              <a:ext uri="{FF2B5EF4-FFF2-40B4-BE49-F238E27FC236}">
                <a16:creationId xmlns:a16="http://schemas.microsoft.com/office/drawing/2014/main" id="{92AE9DF2-EFDF-4EC9-AB56-BCBDC8F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文献模型：改变卵壳长宽比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F356-0CB1-48A8-80A9-C7FA67D02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a3c3953554534"/>
          <a:stretch xmlns:a="http://schemas.openxmlformats.org/drawingml/2006/main"/>
        </p:blipFill>
        <p:spPr>
          <a:xfrm xmlns:a="http://schemas.openxmlformats.org/drawingml/2006/main">
            <a:off x="609600" y="4517501"/>
            <a:ext cx="7239000" cy="1604422"/>
          </a:xfrm>
          <a:prstGeom xmlns:a="http://schemas.openxmlformats.org/drawingml/2006/main" prst="rect">
            <a:avLst/>
          </a:prstGeom>
        </p:spPr>
      </p:pic>
      <p:sp>
        <p:nvSpPr>
          <p:cNvPr id="12" name="模型排列的出现比例">
            <a:extLst xmlns:a="http://schemas.openxmlformats.org/drawingml/2006/main">
              <a:ext uri="{FF2B5EF4-FFF2-40B4-BE49-F238E27FC236}">
                <a16:creationId xmlns:a16="http://schemas.microsoft.com/office/drawing/2014/main" id="{34185D3D-2048-4638-96D9-93F1A30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0492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模型排列的出现比例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BA31C-C5DC-4E14-9458-E6DB3BAA6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f025bd23444f1"/>
          <a:stretch xmlns:a="http://schemas.openxmlformats.org/drawingml/2006/main"/>
        </p:blipFill>
        <p:spPr>
          <a:xfrm xmlns:a="http://schemas.openxmlformats.org/drawingml/2006/main">
            <a:off x="8229600" y="2145590"/>
            <a:ext cx="3352800" cy="1804820"/>
          </a:xfrm>
          <a:prstGeom xmlns:a="http://schemas.openxmlformats.org/drawingml/2006/main" prst="rect">
            <a:avLst/>
          </a:prstGeom>
        </p:spPr>
      </p:pic>
      <p:sp>
        <p:nvSpPr>
          <p:cNvPr id="14" name="壳形改变排列分布&#10;&#10;接触差异改变&#10;构型的稳健范围">
            <a:extLst xmlns:a="http://schemas.openxmlformats.org/drawingml/2006/main">
              <a:ext uri="{FF2B5EF4-FFF2-40B4-BE49-F238E27FC236}">
                <a16:creationId xmlns:a16="http://schemas.microsoft.com/office/drawing/2014/main" id="{8A1BCC9D-4758-4251-B57F-E51D0C9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33528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壳形改变排列分布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接触差异改变</a:t>
            </a:r>
          </a:p>
          <a:p xmlns:a="http://schemas.openxmlformats.org/drawingml/2006/main">
            <a: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构型的稳健范围</a:t>
            </a:r>
          </a:p>
        </p:txBody>
      </p:sp>
    </p:spTree>
    <p:extLst>
      <p:ext uri="{BB962C8B-B14F-4D97-AF65-F5344CB8AC3E}">
        <p14:creationId xmlns:p14="http://schemas.microsoft.com/office/powerpoint/2010/main" val="727762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a/Ep 内移：收缩与边界运动的耦合">
            <a:extLst xmlns:a="http://schemas.openxmlformats.org/drawingml/2006/main">
              <a:ext uri="{FF2B5EF4-FFF2-40B4-BE49-F238E27FC236}">
                <a16:creationId xmlns:a16="http://schemas.microsoft.com/office/drawing/2014/main" id="{62B89738-213D-47C5-858A-B8DFC82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内移：内部构型有利，也可能被能垒隔开</a:t>
            </a:r>
          </a:p>
        </p:txBody>
      </p:sp>
      <p:sp>
        <p:nvSpPr>
          <p:cNvPr id="2" name="Goldstein &amp; Nance, 2020, Fig. 3；Roh-Johnson e">
            <a:extLst xmlns:a="http://schemas.openxmlformats.org/drawingml/2006/main">
              <a:ext uri="{FF2B5EF4-FFF2-40B4-BE49-F238E27FC236}">
                <a16:creationId xmlns:a16="http://schemas.microsoft.com/office/drawing/2014/main" id="{5B9EA3C8-A5D7-4E4B-AF39-230E4954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Roh-Johnson et al., 2012；线虫 Note 01 §2、Note 06 §8.2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6096D7BC-7270-4547-B24D-411F67C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1" name="实验：Ea/Ep 从表面进入内部">
            <a:extLst xmlns:a="http://schemas.openxmlformats.org/drawingml/2006/main">
              <a:ext uri="{FF2B5EF4-FFF2-40B4-BE49-F238E27FC236}">
                <a16:creationId xmlns:a16="http://schemas.microsoft.com/office/drawing/2014/main" id="{DAFF5A08-598B-465C-A417-2E6A5E3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实验：Ea/Ep 从表面进入内部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0908C-B989-4981-9FE4-9927CC7D4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ff9c3f4fd4c3d"/>
          <a:stretch xmlns:a="http://schemas.openxmlformats.org/drawingml/2006/main"/>
        </p:blipFill>
        <p:spPr>
          <a:xfrm xmlns:a="http://schemas.openxmlformats.org/drawingml/2006/main">
            <a:off x="909638" y="1819275"/>
            <a:ext cx="4400550" cy="4191000"/>
          </a:xfrm>
          <a:prstGeom xmlns:a="http://schemas.openxmlformats.org/drawingml/2006/main" prst="rect">
            <a:avLst/>
          </a:prstGeom>
        </p:spPr>
      </p:pic>
      <p:sp>
        <p:nvSpPr>
          <p:cNvPr id="13" name="候选能量地形：几何与驱动共同改变">
            <a:extLst xmlns:a="http://schemas.openxmlformats.org/drawingml/2006/main">
              <a:ext uri="{FF2B5EF4-FFF2-40B4-BE49-F238E27FC236}">
                <a16:creationId xmlns:a16="http://schemas.microsoft.com/office/drawing/2014/main" id="{0689536A-78EE-4AAA-BAB7-CC83982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539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候选能量地形：几何与驱动共同改变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BB070-D460-4FC5-AC30-85DFFE310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efcb103284211"/>
          <a:stretch xmlns:a="http://schemas.openxmlformats.org/drawingml/2006/main"/>
        </p:blipFill>
        <p:spPr>
          <a:xfrm xmlns:a="http://schemas.openxmlformats.org/drawingml/2006/main">
            <a:off x="6877103" y="2076450"/>
            <a:ext cx="4019445" cy="3829050"/>
          </a:xfrm>
          <a:prstGeom xmlns:a="http://schemas.openxmlformats.org/drawingml/2006/main" prst="rect">
            <a:avLst/>
          </a:prstGeom>
        </p:spPr>
      </p:pic>
      <p:sp>
        <p:nvSpPr>
          <p:cNvPr id="15" name="较低能构型、局部稳定态与实际到达，属于不同判断">
            <a:extLst xmlns:a="http://schemas.openxmlformats.org/drawingml/2006/main">
              <a:ext uri="{FF2B5EF4-FFF2-40B4-BE49-F238E27FC236}">
                <a16:creationId xmlns:a16="http://schemas.microsoft.com/office/drawing/2014/main" id="{F050B1DD-5412-46E5-B9C4-CAE95FB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较低能构型、局部稳定态与实际到达，属于不同判断</a:t>
            </a:r>
          </a:p>
        </p:txBody>
      </p:sp>
    </p:spTree>
    <p:extLst>
      <p:ext uri="{BB962C8B-B14F-4D97-AF65-F5344CB8AC3E}">
        <p14:creationId xmlns:p14="http://schemas.microsoft.com/office/powerpoint/2010/main" val="1823704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最小能量：面积、周长与界面作用">
            <a:extLst xmlns:a="http://schemas.openxmlformats.org/drawingml/2006/main">
              <a:ext uri="{FF2B5EF4-FFF2-40B4-BE49-F238E27FC236}">
                <a16:creationId xmlns:a16="http://schemas.microsoft.com/office/drawing/2014/main" id="{9A109660-BD41-41FC-AA9E-F68DE2D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集体让位与界面耦合改变内移的可达性</a:t>
            </a:r>
          </a:p>
        </p:txBody>
      </p:sp>
      <p:sp>
        <p:nvSpPr>
          <p:cNvPr id="2" name="目标面积和目标周长形式；额外界面项按建模需要加入">
            <a:extLst xmlns:a="http://schemas.openxmlformats.org/drawingml/2006/main">
              <a:ext uri="{FF2B5EF4-FFF2-40B4-BE49-F238E27FC236}">
                <a16:creationId xmlns:a16="http://schemas.microsoft.com/office/drawing/2014/main" id="{5CF11C94-02A4-41AB-BCF7-C60F560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06 §8.2；Vertex Note 02 的内部松弛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523FC711-78CC-45A0-A2C7-1FD99000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2" name="H_eff = H_qq − H_qy H_yy⁻¹ H_yq">
            <a:extLst xmlns:a="http://schemas.openxmlformats.org/drawingml/2006/main">
              <a:ext uri="{FF2B5EF4-FFF2-40B4-BE49-F238E27FC236}">
                <a16:creationId xmlns:a16="http://schemas.microsoft.com/office/drawing/2014/main" id="{5B76173D-AA9F-42B9-ACBD-8C1A349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H_eff = H_qq − H_qy H_yy⁻¹ H_yq</a:t>
            </a:r>
          </a:p>
        </p:txBody>
      </p:sp>
      <p:sp>
        <p:nvSpPr>
          <p:cNvPr id="13" name="邻居松弛：改变局部恢复代价">
            <a:extLst xmlns:a="http://schemas.openxmlformats.org/drawingml/2006/main">
              <a:ext uri="{FF2B5EF4-FFF2-40B4-BE49-F238E27FC236}">
                <a16:creationId xmlns:a16="http://schemas.microsoft.com/office/drawing/2014/main" id="{2B0341DD-C276-4404-9BCE-03780DD9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邻居松弛：改变局部恢复代价</a:t>
            </a:r>
          </a:p>
        </p:txBody>
      </p:sp>
      <p:sp>
        <p:nvSpPr>
          <p:cNvPr id="14" name="传力耦合：改变有效驱动">
            <a:extLst xmlns:a="http://schemas.openxmlformats.org/drawingml/2006/main">
              <a:ext uri="{FF2B5EF4-FFF2-40B4-BE49-F238E27FC236}">
                <a16:creationId xmlns:a16="http://schemas.microsoft.com/office/drawing/2014/main" id="{43EDE507-91BC-4640-861A-017B6367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传力耦合：改变有效驱动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38DF7-4A20-4EB8-85BD-3887E51C57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a189400fe4b79"/>
          <a:stretch xmlns:a="http://schemas.openxmlformats.org/drawingml/2006/main"/>
        </p:blipFill>
        <p:spPr>
          <a:xfrm xmlns:a="http://schemas.openxmlformats.org/drawingml/2006/main">
            <a:off x="1466587" y="2505075"/>
            <a:ext cx="3429526" cy="326707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30174-5C41-4F49-A776-2203FC6287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701ece1284f03"/>
          <a:stretch xmlns:a="http://schemas.openxmlformats.org/drawingml/2006/main"/>
        </p:blipFill>
        <p:spPr>
          <a:xfrm xmlns:a="http://schemas.openxmlformats.org/drawingml/2006/main">
            <a:off x="7286862" y="2505075"/>
            <a:ext cx="3447576" cy="3267075"/>
          </a:xfrm>
          <a:prstGeom xmlns:a="http://schemas.openxmlformats.org/drawingml/2006/main" prst="rect">
            <a:avLst/>
          </a:prstGeom>
        </p:spPr>
      </p:pic>
      <p:sp>
        <p:nvSpPr>
          <p:cNvPr id="17" name="低代价集体路径与有效产力需要共同确定，单看拥挤程度或马达强度都不足够">
            <a:extLst xmlns:a="http://schemas.openxmlformats.org/drawingml/2006/main">
              <a:ext uri="{FF2B5EF4-FFF2-40B4-BE49-F238E27FC236}">
                <a16:creationId xmlns:a16="http://schemas.microsoft.com/office/drawing/2014/main" id="{FBECDC71-FFD0-4F49-A3D5-9730B02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低代价集体路径与有效产力需要共同确定，单看拥挤程度或马达强度都不足够</a:t>
            </a:r>
          </a:p>
        </p:txBody>
      </p:sp>
    </p:spTree>
    <p:extLst>
      <p:ext uri="{BB962C8B-B14F-4D97-AF65-F5344CB8AC3E}">
        <p14:creationId xmlns:p14="http://schemas.microsoft.com/office/powerpoint/2010/main" val="750631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背侧插入：基底外侧突起与邻居重排">
            <a:extLst xmlns:a="http://schemas.openxmlformats.org/drawingml/2006/main">
              <a:ext uri="{FF2B5EF4-FFF2-40B4-BE49-F238E27FC236}">
                <a16:creationId xmlns:a16="http://schemas.microsoft.com/office/drawing/2014/main" id="{481CB7AC-9AC8-4F10-8A19-62D3D52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定向基底推进怎样选择集体邻居交换的路径</a:t>
            </a:r>
          </a:p>
        </p:txBody>
      </p:sp>
      <p:sp>
        <p:nvSpPr>
          <p:cNvPr id="2" name="Walck-Shannon et al., 2015, Fig. 1">
            <a:extLst xmlns:a="http://schemas.openxmlformats.org/drawingml/2006/main">
              <a:ext uri="{FF2B5EF4-FFF2-40B4-BE49-F238E27FC236}">
                <a16:creationId xmlns:a16="http://schemas.microsoft.com/office/drawing/2014/main" id="{7371E7AB-BF26-4B8A-90A2-635A9B7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Walck-Shannon et al., 2015；线虫 Note 02 §1、§4；Vertex Note 04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C87B9A7-743F-42D2-AD70-517823E9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1" name="DIC：两列细胞逐渐交错">
            <a:extLst xmlns:a="http://schemas.openxmlformats.org/drawingml/2006/main">
              <a:ext uri="{FF2B5EF4-FFF2-40B4-BE49-F238E27FC236}">
                <a16:creationId xmlns:a16="http://schemas.microsoft.com/office/drawing/2014/main" id="{DFE201C3-A66E-44A2-8531-98004E2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DIC：两列细胞逐渐交错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F3972-47DE-48CC-84C8-6BB2B04AF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77c035cf44128"/>
          <a:stretch xmlns:a="http://schemas.openxmlformats.org/drawingml/2006/main"/>
        </p:blipFill>
        <p:spPr>
          <a:xfrm xmlns:a="http://schemas.openxmlformats.org/drawingml/2006/main">
            <a:off x="609600" y="1963889"/>
            <a:ext cx="5334000" cy="3120722"/>
          </a:xfrm>
          <a:prstGeom xmlns:a="http://schemas.openxmlformats.org/drawingml/2006/main" prst="rect">
            <a:avLst/>
          </a:prstGeom>
        </p:spPr>
      </p:pic>
      <p:sp>
        <p:nvSpPr>
          <p:cNvPr id="13" name="F-actin：基底外侧突起">
            <a:extLst xmlns:a="http://schemas.openxmlformats.org/drawingml/2006/main">
              <a:ext uri="{FF2B5EF4-FFF2-40B4-BE49-F238E27FC236}">
                <a16:creationId xmlns:a16="http://schemas.microsoft.com/office/drawing/2014/main" id="{D559E491-15E0-4C89-A743-D536AF2A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62075"/>
            <a:ext cx="506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F-actin：基底外侧突起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0DDF5-C447-4E16-8DD6-43A26FCFF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842629aa24561"/>
          <a:stretch xmlns:a="http://schemas.openxmlformats.org/drawingml/2006/main"/>
        </p:blipFill>
        <p:spPr>
          <a:xfrm xmlns:a="http://schemas.openxmlformats.org/drawingml/2006/main">
            <a:off x="6515100" y="2078411"/>
            <a:ext cx="5067300" cy="1786777"/>
          </a:xfrm>
          <a:prstGeom xmlns:a="http://schemas.openxmlformats.org/drawingml/2006/main" prst="rect">
            <a:avLst/>
          </a:prstGeom>
        </p:spPr>
      </p:pic>
      <p:sp>
        <p:nvSpPr>
          <p:cNvPr id="15" name="基底外侧突起先行&#10;顶端轮廓随后响应">
            <a:extLst xmlns:a="http://schemas.openxmlformats.org/drawingml/2006/main">
              <a:ext uri="{FF2B5EF4-FFF2-40B4-BE49-F238E27FC236}">
                <a16:creationId xmlns:a16="http://schemas.microsoft.com/office/drawing/2014/main" id="{F41A9F2D-ABD6-4505-B7F9-3375BC67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5067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基底外侧突起先行</a:t>
            </a:r>
          </a:p>
          <a:p xmlns:a="http://schemas.openxmlformats.org/drawingml/2006/main">
            <a:pPr>
              <a:buNone/>
              <a:def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顶端轮廓随后响应</a:t>
            </a:r>
          </a:p>
        </p:txBody>
      </p:sp>
      <p:sp>
        <p:nvSpPr>
          <p:cNvPr id="16" name="背侧视图，前端在左，原始采样间隔 30 s">
            <a:extLst xmlns:a="http://schemas.openxmlformats.org/drawingml/2006/main">
              <a:ext uri="{FF2B5EF4-FFF2-40B4-BE49-F238E27FC236}">
                <a16:creationId xmlns:a16="http://schemas.microsoft.com/office/drawing/2014/main" id="{3324597B-BF76-4538-AC0D-78BF287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背侧视图，前端在左，原始采样间隔 30 s</a:t>
            </a:r>
          </a:p>
        </p:txBody>
      </p:sp>
      <p:sp>
        <p:nvSpPr>
          <p:cNvPr id="17" name="邻接变化需要结合突起位置与运动时序解释">
            <a:extLst xmlns:a="http://schemas.openxmlformats.org/drawingml/2006/main">
              <a:ext uri="{FF2B5EF4-FFF2-40B4-BE49-F238E27FC236}">
                <a16:creationId xmlns:a16="http://schemas.microsoft.com/office/drawing/2014/main" id="{874564CD-1665-4788-99EF-460A24F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活动的位置、方向与持续性，怎样改变集体重排的选择？</a:t>
            </a:r>
          </a:p>
        </p:txBody>
      </p:sp>
    </p:spTree>
    <p:extLst>
      <p:ext uri="{BB962C8B-B14F-4D97-AF65-F5344CB8AC3E}">
        <p14:creationId xmlns:p14="http://schemas.microsoft.com/office/powerpoint/2010/main" val="106270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相同形态轨迹可能对应不同力学参数">
            <a:extLst xmlns:a="http://schemas.openxmlformats.org/drawingml/2006/main">
              <a:ext uri="{FF2B5EF4-FFF2-40B4-BE49-F238E27FC236}">
                <a16:creationId xmlns:a16="http://schemas.microsoft.com/office/drawing/2014/main" id="{4A5635BA-FF9E-4FE6-8739-6829996C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细胞几何给出重排代价，驱动再选择具体路径</a:t>
            </a:r>
          </a:p>
        </p:txBody>
      </p:sp>
      <p:sp>
        <p:nvSpPr>
          <p:cNvPr id="2" name="以下为简化模型算例，参数和时间采用任意单位">
            <a:extLst xmlns:a="http://schemas.openxmlformats.org/drawingml/2006/main">
              <a:ext uri="{FF2B5EF4-FFF2-40B4-BE49-F238E27FC236}">
                <a16:creationId xmlns:a16="http://schemas.microsoft.com/office/drawing/2014/main" id="{B9D1AB26-FE65-4A6B-8BA9-9D93B89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02 §4.2：四细胞顶点算例；Vertex Note 04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6031EAD-3DCA-4CBD-B9A8-DE000D40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顶点模型以面积、周长和界面作用计算 E_path(q)">
            <a:extLst xmlns:a="http://schemas.openxmlformats.org/drawingml/2006/main">
              <a:ext uri="{FF2B5EF4-FFF2-40B4-BE49-F238E27FC236}">
                <a16:creationId xmlns:a16="http://schemas.microsoft.com/office/drawing/2014/main" id="{6157DD36-A3C7-4412-9853-EEBC292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顶点模型以面积、周长和界面作用计算 E_path(q)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D97C8-0B66-42C7-B308-727B93FFB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21247b1ce4166"/>
          <a:stretch xmlns:a="http://schemas.openxmlformats.org/drawingml/2006/main"/>
        </p:blipFill>
        <p:spPr>
          <a:xfrm xmlns:a="http://schemas.openxmlformats.org/drawingml/2006/main">
            <a:off x="609600" y="1857963"/>
            <a:ext cx="8191500" cy="4218400"/>
          </a:xfrm>
          <a:prstGeom xmlns:a="http://schemas.openxmlformats.org/drawingml/2006/main" prst="rect">
            <a:avLst/>
          </a:prstGeom>
        </p:spPr>
      </p:pic>
      <p:sp>
        <p:nvSpPr>
          <p:cNvPr id="10" name="图中改变旧边张力&#10;保守能量地形改变">
            <a:extLst xmlns:a="http://schemas.openxmlformats.org/drawingml/2006/main">
              <a:ext uri="{FF2B5EF4-FFF2-40B4-BE49-F238E27FC236}">
                <a16:creationId xmlns:a16="http://schemas.microsoft.com/office/drawing/2014/main" id="{B09C603B-C093-4D7A-BB2F-B70A2E5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图中改变旧边张力</a:t>
            </a:r>
          </a:p>
          <a:p xmlns:a="http://schemas.openxmlformats.org/drawingml/2006/main">
            <a: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保守能量地形改变</a:t>
            </a:r>
          </a:p>
        </p:txBody>
      </p:sp>
      <p:sp>
        <p:nvSpPr>
          <p:cNvPr id="11" name="基底主动推进&#10;做功还依赖实际路径">
            <a:extLst xmlns:a="http://schemas.openxmlformats.org/drawingml/2006/main">
              <a:ext uri="{FF2B5EF4-FFF2-40B4-BE49-F238E27FC236}">
                <a16:creationId xmlns:a16="http://schemas.microsoft.com/office/drawing/2014/main" id="{64228845-8FB4-4FCB-8DBD-08F8D79B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基底主动推进</a:t>
            </a:r>
          </a:p>
          <a:p xmlns:a="http://schemas.openxmlformats.org/drawingml/2006/main">
            <a:pPr>
              <a:def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做功还依赖实际路径</a:t>
            </a:r>
          </a:p>
        </p:txBody>
      </p:sp>
      <p:sp>
        <p:nvSpPr>
          <p:cNvPr id="12" name="受限路径的能垒&#10;未必是最低可达路径">
            <a:extLst xmlns:a="http://schemas.openxmlformats.org/drawingml/2006/main">
              <a:ext uri="{FF2B5EF4-FFF2-40B4-BE49-F238E27FC236}">
                <a16:creationId xmlns:a16="http://schemas.microsoft.com/office/drawing/2014/main" id="{84C3DD96-2FC6-41A8-B9EE-0400008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95875"/>
            <a:ext cx="2457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受限路径的能垒</a:t>
            </a:r>
          </a:p>
          <a:p xmlns:a="http://schemas.openxmlformats.org/drawingml/2006/main">
            <a:pPr>
              <a:def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未必是最低可达路径</a:t>
            </a:r>
          </a:p>
        </p:txBody>
      </p:sp>
    </p:spTree>
    <p:extLst>
      <p:ext uri="{BB962C8B-B14F-4D97-AF65-F5344CB8AC3E}">
        <p14:creationId xmlns:p14="http://schemas.microsoft.com/office/powerpoint/2010/main" val="383620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顶点动力学与 T1 换邻居">
            <a:extLst xmlns:a="http://schemas.openxmlformats.org/drawingml/2006/main">
              <a:ext uri="{FF2B5EF4-FFF2-40B4-BE49-F238E27FC236}">
                <a16:creationId xmlns:a16="http://schemas.microsoft.com/office/drawing/2014/main" id="{999657A2-79E4-4E90-ADCB-85E493D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隐藏的顶底自由度改变可实现的重排路径</a:t>
            </a:r>
          </a:p>
        </p:txBody>
      </p:sp>
      <p:sp>
        <p:nvSpPr>
          <p:cNvPr id="2" name="图为标准 T1 几何示意，不代表线虫中的完整产力机制">
            <a:extLst xmlns:a="http://schemas.openxmlformats.org/drawingml/2006/main">
              <a:ext uri="{FF2B5EF4-FFF2-40B4-BE49-F238E27FC236}">
                <a16:creationId xmlns:a16="http://schemas.microsoft.com/office/drawing/2014/main" id="{05C5AC27-F35E-4350-8209-826B4411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02 §4.3：双层相场候选模型，未拟合线虫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F7FCF5F-76AA-4191-9A5F-F807EE4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" name="相同基底推进，只改变顶端与基底的耦合 k_ab">
            <a:extLst xmlns:a="http://schemas.openxmlformats.org/drawingml/2006/main">
              <a:ext uri="{FF2B5EF4-FFF2-40B4-BE49-F238E27FC236}">
                <a16:creationId xmlns:a16="http://schemas.microsoft.com/office/drawing/2014/main" id="{C412D993-0D1A-4B94-8AB5-A842F60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相同基底推进，只改变顶端与基底的耦合 k_ab</a:t>
            </a:r>
          </a:p>
        </p:txBody>
      </p:sp>
      <p:sp>
        <p:nvSpPr>
          <p:cNvPr id="10" name="绿色为基底侧，紫红为顶端，灰色为固定邻居；比较相同的 t = 12">
            <a:extLst xmlns:a="http://schemas.openxmlformats.org/drawingml/2006/main">
              <a:ext uri="{FF2B5EF4-FFF2-40B4-BE49-F238E27FC236}">
                <a16:creationId xmlns:a16="http://schemas.microsoft.com/office/drawing/2014/main" id="{995C2B77-8687-40E6-AC13-7168B65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绿色为基底侧，紫红为顶端，灰色为固定邻居；比较相同的 t = 12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DA0D9-37E8-4808-B3D5-FE8A96FB3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43fc6df0466f"/>
          <a:stretch xmlns:a="http://schemas.openxmlformats.org/drawingml/2006/main"/>
        </p:blipFill>
        <p:spPr>
          <a:xfrm xmlns:a="http://schemas.openxmlformats.org/drawingml/2006/main">
            <a:off x="972999" y="2181225"/>
            <a:ext cx="4321452" cy="368617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39B0F-18DD-4CCB-8DFB-48121E198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fcaa555714016"/>
          <a:stretch xmlns:a="http://schemas.openxmlformats.org/drawingml/2006/main"/>
        </p:blipFill>
        <p:spPr>
          <a:xfrm xmlns:a="http://schemas.openxmlformats.org/drawingml/2006/main">
            <a:off x="6726099" y="2181225"/>
            <a:ext cx="4321452" cy="3686175"/>
          </a:xfrm>
          <a:prstGeom xmlns:a="http://schemas.openxmlformats.org/drawingml/2006/main" prst="rect">
            <a:avLst/>
          </a:prstGeom>
        </p:spPr>
      </p:pic>
      <p:sp>
        <p:nvSpPr>
          <p:cNvPr id="13" name="弱耦合允许基底先行，强耦合提高同步并增加推进负载">
            <a:extLst xmlns:a="http://schemas.openxmlformats.org/drawingml/2006/main">
              <a:ext uri="{FF2B5EF4-FFF2-40B4-BE49-F238E27FC236}">
                <a16:creationId xmlns:a16="http://schemas.microsoft.com/office/drawing/2014/main" id="{9F1D6178-1DBC-42E9-986D-FF6D5EF3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二维投影允许的路径，仍需通过三维侧壁、体积与接触约束检验</a:t>
            </a:r>
          </a:p>
        </p:txBody>
      </p:sp>
    </p:spTree>
    <p:extLst>
      <p:ext uri="{BB962C8B-B14F-4D97-AF65-F5344CB8AC3E}">
        <p14:creationId xmlns:p14="http://schemas.microsoft.com/office/powerpoint/2010/main" val="990620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后期伸长：肌肉输入与表皮形态记忆">
            <a:extLst xmlns:a="http://schemas.openxmlformats.org/drawingml/2006/main">
              <a:ext uri="{FF2B5EF4-FFF2-40B4-BE49-F238E27FC236}">
                <a16:creationId xmlns:a16="http://schemas.microsoft.com/office/drawing/2014/main" id="{23B55642-1549-42B8-97F2-A04CB607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周期肌肉输入能否选择并稳定新的构型</a:t>
            </a:r>
          </a:p>
        </p:txBody>
      </p:sp>
      <p:sp>
        <p:nvSpPr>
          <p:cNvPr id="2" name="Lardennois et al., 2019，公开作者稿 Fig. 2d">
            <a:extLst xmlns:a="http://schemas.openxmlformats.org/drawingml/2006/main">
              <a:ext uri="{FF2B5EF4-FFF2-40B4-BE49-F238E27FC236}">
                <a16:creationId xmlns:a16="http://schemas.microsoft.com/office/drawing/2014/main" id="{A16D81C7-AD53-460F-B207-736E71B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Lardennois et al., 2019；Yang et al., 2025；线虫 Note 04、07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1909AED3-FC2E-4B85-A8C1-13D8CBE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1" name="长度轨迹：获得形变与保住形变">
            <a:extLst xmlns:a="http://schemas.openxmlformats.org/drawingml/2006/main">
              <a:ext uri="{FF2B5EF4-FFF2-40B4-BE49-F238E27FC236}">
                <a16:creationId xmlns:a16="http://schemas.microsoft.com/office/drawing/2014/main" id="{E1BA9BAB-8094-4E47-ABD8-E934CB7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长度轨迹：瞬时响应与长期保持分开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5B896-57E0-46C4-BD8E-DA5EF2868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b5ed825f74899"/>
          <a:stretch xmlns:a="http://schemas.openxmlformats.org/drawingml/2006/main"/>
        </p:blipFill>
        <p:spPr>
          <a:xfrm xmlns:a="http://schemas.openxmlformats.org/drawingml/2006/main">
            <a:off x="1255939" y="1914525"/>
            <a:ext cx="5755821" cy="4286250"/>
          </a:xfrm>
          <a:prstGeom xmlns:a="http://schemas.openxmlformats.org/drawingml/2006/main" prst="rect">
            <a:avLst/>
          </a:prstGeom>
        </p:spPr>
      </p:pic>
      <p:sp>
        <p:nvSpPr>
          <p:cNvPr id="13" name="肌肉活动下的表皮">
            <a:extLst xmlns:a="http://schemas.openxmlformats.org/drawingml/2006/main">
              <a:ext uri="{FF2B5EF4-FFF2-40B4-BE49-F238E27FC236}">
                <a16:creationId xmlns:a16="http://schemas.microsoft.com/office/drawing/2014/main" id="{C214878B-3147-484B-B5A0-0089581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620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肌肉活动下的表皮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CBBD7-A7BF-4BBA-A0E9-440CC82AA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263b6725742b9"/>
          <a:stretch xmlns:a="http://schemas.openxmlformats.org/drawingml/2006/main"/>
        </p:blipFill>
        <p:spPr>
          <a:xfrm xmlns:a="http://schemas.openxmlformats.org/drawingml/2006/main">
            <a:off x="8858250" y="1885950"/>
            <a:ext cx="2381250" cy="3286125"/>
          </a:xfrm>
          <a:prstGeom xmlns:a="http://schemas.openxmlformats.org/drawingml/2006/main" prst="rect">
            <a:avLst/>
          </a:prstGeom>
        </p:spPr>
      </p:pic>
      <p:sp>
        <p:nvSpPr>
          <p:cNvPr id="15" name="DLG-1::RFP 标记连接&#10;周期形变叠加长期变化">
            <a:extLst xmlns:a="http://schemas.openxmlformats.org/drawingml/2006/main">
              <a:ext uri="{FF2B5EF4-FFF2-40B4-BE49-F238E27FC236}">
                <a16:creationId xmlns:a16="http://schemas.microsoft.com/office/drawing/2014/main" id="{A9A168D9-65AE-43C9-A4CB-0A6C1187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记录周期内峰值</a:t>
            </a:r>
          </a:p>
          <a:p xmlns:a="http://schemas.openxmlformats.org/drawingml/2006/main">
            <a:pPr>
              <a:buNone/>
              <a:def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以及周期末的残余形变</a:t>
            </a:r>
          </a:p>
        </p:txBody>
      </p:sp>
    </p:spTree>
    <p:extLst>
      <p:ext uri="{BB962C8B-B14F-4D97-AF65-F5344CB8AC3E}">
        <p14:creationId xmlns:p14="http://schemas.microsoft.com/office/powerpoint/2010/main" val="21152244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面向线虫各阶段的最小模型扩展">
            <a:extLst xmlns:a="http://schemas.openxmlformats.org/drawingml/2006/main">
              <a:ext uri="{FF2B5EF4-FFF2-40B4-BE49-F238E27FC236}">
                <a16:creationId xmlns:a16="http://schemas.microsoft.com/office/drawing/2014/main" id="{333F4D13-1DF2-4E53-9840-93FA869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方向性材料与封闭几何选择全身形变模式</a:t>
            </a:r>
          </a:p>
        </p:txBody>
      </p:sp>
      <p:sp>
        <p:nvSpPr>
          <p:cNvPr id="2" name="同一模型的自由度应与所解释的细胞行为对应">
            <a:extLst xmlns:a="http://schemas.openxmlformats.org/drawingml/2006/main">
              <a:ext uri="{FF2B5EF4-FFF2-40B4-BE49-F238E27FC236}">
                <a16:creationId xmlns:a16="http://schemas.microsoft.com/office/drawing/2014/main" id="{D0723E19-C5EE-4CCD-A90B-41B13A1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Vuong-Brender et al., 2017；线虫 Note 07 §4.1 的封闭体积算例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DC0D7FE-D123-41C0-83B3-8AFC100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e∞ = (τ_θ / 2 − τ_z) / (C_z + C_θ / 4)">
            <a:extLst xmlns:a="http://schemas.openxmlformats.org/drawingml/2006/main">
              <a:ext uri="{FF2B5EF4-FFF2-40B4-BE49-F238E27FC236}">
                <a16:creationId xmlns:a16="http://schemas.microsoft.com/office/drawing/2014/main" id="{C63AF893-67FA-4DED-A0AD-510CF0F7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e∞ = (τ_θ / 2 − τ_z) / (C_z + C_θ / 4)</a:t>
            </a:r>
          </a:p>
        </p:txBody>
      </p:sp>
      <p:sp>
        <p:nvSpPr>
          <p:cNvPr id="8" name="实验约束：方向性机械响应">
            <a:extLst xmlns:a="http://schemas.openxmlformats.org/drawingml/2006/main">
              <a:ext uri="{FF2B5EF4-FFF2-40B4-BE49-F238E27FC236}">
                <a16:creationId xmlns:a16="http://schemas.microsoft.com/office/drawing/2014/main" id="{6035F829-B269-4F05-978E-6BBDDDE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实验约束：方向性机械响应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772A7-56A1-424A-88B6-8456CCC59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2a8ca00e74fae"/>
          <a:stretch xmlns:a="http://schemas.openxmlformats.org/drawingml/2006/main"/>
        </p:blipFill>
        <p:spPr>
          <a:xfrm xmlns:a="http://schemas.openxmlformats.org/drawingml/2006/main">
            <a:off x="612775" y="2857500"/>
            <a:ext cx="3422650" cy="2667000"/>
          </a:xfrm>
          <a:prstGeom xmlns:a="http://schemas.openxmlformats.org/drawingml/2006/main" prst="rect">
            <a:avLst/>
          </a:prstGeom>
        </p:spPr>
      </p:pic>
      <p:sp>
        <p:nvSpPr>
          <p:cNvPr id="10" name="候选模式：相同周向驱动，不同轴向作用">
            <a:extLst xmlns:a="http://schemas.openxmlformats.org/drawingml/2006/main">
              <a:ext uri="{FF2B5EF4-FFF2-40B4-BE49-F238E27FC236}">
                <a16:creationId xmlns:a16="http://schemas.microsoft.com/office/drawing/2014/main" id="{D5C2E6EB-B458-4336-A223-D8A0C58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681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候选模式：相同周向驱动，不同轴向作用</a:t>
            </a:r>
          </a:p>
        </p:txBody>
      </p:sp>
      <p:sp>
        <p:nvSpPr>
          <p:cNvPr id="11" name="周向收缩">
            <a:extLst xmlns:a="http://schemas.openxmlformats.org/drawingml/2006/main">
              <a:ext uri="{FF2B5EF4-FFF2-40B4-BE49-F238E27FC236}">
                <a16:creationId xmlns:a16="http://schemas.microsoft.com/office/drawing/2014/main" id="{4DE50448-B89F-4EF3-A9FA-C58FFCF5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周向收缩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59883-588A-405F-9CB4-53B94090A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f7ce3c3fd448f"/>
          <a:stretch xmlns:a="http://schemas.openxmlformats.org/drawingml/2006/main"/>
        </p:blipFill>
        <p:spPr>
          <a:xfrm xmlns:a="http://schemas.openxmlformats.org/drawingml/2006/main">
            <a:off x="4762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3" name="加入轴向收缩">
            <a:extLst xmlns:a="http://schemas.openxmlformats.org/drawingml/2006/main">
              <a:ext uri="{FF2B5EF4-FFF2-40B4-BE49-F238E27FC236}">
                <a16:creationId xmlns:a16="http://schemas.microsoft.com/office/drawing/2014/main" id="{08B9FEBE-CFE2-409E-A81A-A6B07D67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加入轴向收缩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A2809-E533-4625-B7BC-AC119949F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4bfa47d654b41"/>
          <a:stretch xmlns:a="http://schemas.openxmlformats.org/drawingml/2006/main"/>
        </p:blipFill>
        <p:spPr>
          <a:xfrm xmlns:a="http://schemas.openxmlformats.org/drawingml/2006/main">
            <a:off x="7048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5" name="更大轴向抵抗">
            <a:extLst xmlns:a="http://schemas.openxmlformats.org/drawingml/2006/main">
              <a:ext uri="{FF2B5EF4-FFF2-40B4-BE49-F238E27FC236}">
                <a16:creationId xmlns:a16="http://schemas.microsoft.com/office/drawing/2014/main" id="{CE902626-FB3F-41B3-822B-CC0BEE7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更大轴向抵抗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F1013-4916-4C41-8608-E02C6E76C7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6d7eb9be14931"/>
          <a:stretch xmlns:a="http://schemas.openxmlformats.org/drawingml/2006/main"/>
        </p:blipFill>
        <p:spPr>
          <a:xfrm xmlns:a="http://schemas.openxmlformats.org/drawingml/2006/main">
            <a:off x="9334500" y="3858061"/>
            <a:ext cx="2095500" cy="1208803"/>
          </a:xfrm>
          <a:prstGeom xmlns:a="http://schemas.openxmlformats.org/drawingml/2006/main" prst="rect">
            <a:avLst/>
          </a:prstGeom>
        </p:spPr>
      </p:pic>
      <p:sp>
        <p:nvSpPr>
          <p:cNvPr id="17" name="几何把收缩与伸长耦合，方向性驱动和抵抗决定模式幅度">
            <a:extLst xmlns:a="http://schemas.openxmlformats.org/drawingml/2006/main">
              <a:ext uri="{FF2B5EF4-FFF2-40B4-BE49-F238E27FC236}">
                <a16:creationId xmlns:a16="http://schemas.microsoft.com/office/drawing/2014/main" id="{127D588A-44D1-40ED-8CCF-84DBC1D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几何把收缩与伸长耦合，方向性驱动和抵抗决定模式幅度</a:t>
            </a:r>
          </a:p>
        </p:txBody>
      </p:sp>
    </p:spTree>
    <p:extLst>
      <p:ext uri="{BB962C8B-B14F-4D97-AF65-F5344CB8AC3E}">
        <p14:creationId xmlns:p14="http://schemas.microsoft.com/office/powerpoint/2010/main" val="17792006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线虫中的两种塑性：邻接更新与参考状态更新">
            <a:extLst xmlns:a="http://schemas.openxmlformats.org/drawingml/2006/main">
              <a:ext uri="{FF2B5EF4-FFF2-40B4-BE49-F238E27FC236}">
                <a16:creationId xmlns:a16="http://schemas.microsoft.com/office/drawing/2014/main" id="{0E0F6306-E910-40F5-9C81-F6F3592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循环加载通过内部状态更新改变稳定构型</a:t>
            </a:r>
          </a:p>
        </p:txBody>
      </p:sp>
      <p:sp>
        <p:nvSpPr>
          <p:cNvPr id="2" name="下图为一维简化模型演示，数值为任意单位，未拟合线虫实验">
            <a:extLst xmlns:a="http://schemas.openxmlformats.org/drawingml/2006/main">
              <a:ext uri="{FF2B5EF4-FFF2-40B4-BE49-F238E27FC236}">
                <a16:creationId xmlns:a16="http://schemas.microsoft.com/office/drawing/2014/main" id="{99463049-4DFC-4650-8EF4-1759B5E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线虫 Note 04、07；参考状态更新为简化候选机制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9EE9AF86-19D0-4F57-B20F-6C40E879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ζ de/dt = Q_eff(t) − E(e − p)">
            <a:extLst xmlns:a="http://schemas.openxmlformats.org/drawingml/2006/main">
              <a:ext uri="{FF2B5EF4-FFF2-40B4-BE49-F238E27FC236}">
                <a16:creationId xmlns:a16="http://schemas.microsoft.com/office/drawing/2014/main" id="{164ABB05-C431-4BAC-A4F7-0C6FA5DC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ζ de/dt = Q_eff(t) − E(e − p)</a:t>
            </a:r>
          </a:p>
        </p:txBody>
      </p:sp>
      <p:sp>
        <p:nvSpPr>
          <p:cNvPr id="9" name="dp/dt = Mₚ ⟨E(e − p) − s_y⟩₊">
            <a:extLst xmlns:a="http://schemas.openxmlformats.org/drawingml/2006/main">
              <a:ext uri="{FF2B5EF4-FFF2-40B4-BE49-F238E27FC236}">
                <a16:creationId xmlns:a16="http://schemas.microsoft.com/office/drawing/2014/main" id="{EBEC3B4C-B792-4438-ABC2-47F319E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7F85"/>
                </a:solidFill>
                <a:latin typeface="Arial Unicode MS"/>
                <a:ea typeface="Arial Unicode MS"/>
                <a:cs typeface="Arial Unicode MS"/>
              </a:rPr>
              <a:t>dp/dt = Mₚ ⟨E(e − p) − s_y⟩₊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0E0A9-D88E-4AFE-BEE7-BC5CEB9DA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e5dbbed524b3a"/>
          <a:stretch xmlns:a="http://schemas.openxmlformats.org/drawingml/2006/main"/>
        </p:blipFill>
        <p:spPr>
          <a:xfrm xmlns:a="http://schemas.openxmlformats.org/drawingml/2006/main">
            <a:off x="609600" y="2410656"/>
            <a:ext cx="10972800" cy="3674987"/>
          </a:xfrm>
          <a:prstGeom xmlns:a="http://schemas.openxmlformats.org/drawingml/2006/main" prst="rect">
            <a:avLst/>
          </a:prstGeom>
        </p:spPr>
      </p:pic>
      <p:sp>
        <p:nvSpPr>
          <p:cNvPr id="11" name="相同输入，上排可恢复，下排更新 p 后保留长度；耗散本身不能指定保留哪种形状">
            <a:extLst xmlns:a="http://schemas.openxmlformats.org/drawingml/2006/main">
              <a:ext uri="{FF2B5EF4-FFF2-40B4-BE49-F238E27FC236}">
                <a16:creationId xmlns:a16="http://schemas.microsoft.com/office/drawing/2014/main" id="{F5069B10-D4D8-4313-A1B9-81D8B050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待检验：输入幅度、周期与结构更新时间，怎样决定卸载后保留的构型？</a:t>
            </a:r>
          </a:p>
        </p:txBody>
      </p:sp>
    </p:spTree>
    <p:extLst>
      <p:ext uri="{BB962C8B-B14F-4D97-AF65-F5344CB8AC3E}">
        <p14:creationId xmlns:p14="http://schemas.microsoft.com/office/powerpoint/2010/main" val="2269658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伸长方向由力与刚度的各向异性共同决定">
            <a:extLst xmlns:a="http://schemas.openxmlformats.org/drawingml/2006/main">
              <a:ext uri="{FF2B5EF4-FFF2-40B4-BE49-F238E27FC236}">
                <a16:creationId xmlns:a16="http://schemas.microsoft.com/office/drawing/2014/main" id="{311B9A04-E7A4-4898-A95D-A393ADC8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三个案例中可比较的物理量</a:t>
            </a:r>
          </a:p>
        </p:txBody>
      </p:sp>
      <p:sp>
        <p:nvSpPr>
          <p:cNvPr id="2" name="Vuong-Brender et al., 2017, Fig. 2">
            <a:extLst xmlns:a="http://schemas.openxmlformats.org/drawingml/2006/main">
              <a:ext uri="{FF2B5EF4-FFF2-40B4-BE49-F238E27FC236}">
                <a16:creationId xmlns:a16="http://schemas.microsoft.com/office/drawing/2014/main" id="{4D379625-5DC3-42A9-A3F6-AD957F82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跨案例比较框架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9E83C42-76EF-4FA2-9150-2CF49B6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F2978-743B-4920-A7E0-A9024F458D53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52875"/>
                <a:gridCol w="44958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主要改变的物理层次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需要共同记录的输出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壳内堆积与内移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可行几何、稳定盆地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能垒与集体软路径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接触拓扑、邻居协同运动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构型分布与首达时间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定向基底推进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主动作用的位置和方向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层间耦合与重排通道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事件位置与方向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顶底延迟、路径及最终邻接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144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周期负载与重塑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内部状态与历史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卸载后的稳定构型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周期峰值、残余与回缩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循环间记忆和滞回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共同问题是条件怎样选择路径和构型，具体稳定性判据仍需随模型说明">
            <a:extLst xmlns:a="http://schemas.openxmlformats.org/drawingml/2006/main">
              <a:ext uri="{FF2B5EF4-FFF2-40B4-BE49-F238E27FC236}">
                <a16:creationId xmlns:a16="http://schemas.microsoft.com/office/drawing/2014/main" id="{B815DCF2-8D9F-496C-B44F-F4467AD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共同问题是条件怎样选择路径和构型，具体稳定性判据仍需随模型说明</a:t>
            </a:r>
          </a:p>
        </p:txBody>
      </p:sp>
    </p:spTree>
    <p:extLst>
      <p:ext uri="{BB962C8B-B14F-4D97-AF65-F5344CB8AC3E}">
        <p14:creationId xmlns:p14="http://schemas.microsoft.com/office/powerpoint/2010/main" val="26039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线虫形态发生给顶点模型的启发">
            <a:extLst xmlns:a="http://schemas.openxmlformats.org/drawingml/2006/main">
              <a:ext uri="{FF2B5EF4-FFF2-40B4-BE49-F238E27FC236}">
                <a16:creationId xmlns:a16="http://schemas.microsoft.com/office/drawing/2014/main" id="{AC4DD42D-B427-49D6-B81B-3BF4CEC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最小对照：分别改变几何、驱动协议和材料历史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3EE615DF-8F7C-4B46-8EDB-ED35A238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研究方案：控制条件与输入匹配方式需明确报告">
            <a:extLst xmlns:a="http://schemas.openxmlformats.org/drawingml/2006/main">
              <a:ext uri="{FF2B5EF4-FFF2-40B4-BE49-F238E27FC236}">
                <a16:creationId xmlns:a16="http://schemas.microsoft.com/office/drawing/2014/main" id="{6F3F8FED-99DD-4B73-B0CF-562E2D2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研究方案：控制条件与输入匹配方式需明确报告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183B4-6306-499A-8282-ACB9D768CA5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476750"/>
                <a:gridCol w="3971925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扫描的条件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保持或记录哪些输入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比较哪些结果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几何与接触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细胞数、体积和分裂协议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壳形与非均一作用分开改变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稳定排列范围、转变概率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邻居让位模式与首达时间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驱动位置与方向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明确匹配做功或位移尺度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另记录峰值、速率与持续性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邻居交换通道与方向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路径逆转和终态选择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1525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循环与结构更新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输入幅度、周期和相位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结构松弛与恢复时间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峰值与卸载残余</a:t>
                      </a:r>
                    </a:p>
                    <a:p>
                      <a:r>
                        <a:rPr sz="1875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滞回、记忆及失稳边界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无驱动、各向同性驱动与固定内部状态，为机制比较提供基线">
            <a:extLst xmlns:a="http://schemas.openxmlformats.org/drawingml/2006/main">
              <a:ext uri="{FF2B5EF4-FFF2-40B4-BE49-F238E27FC236}">
                <a16:creationId xmlns:a16="http://schemas.microsoft.com/office/drawing/2014/main" id="{186E9E96-2FB8-41AB-88BC-57A1F4C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无驱动、各向同性驱动与固定内部状态，为机制比较提供基线</a:t>
            </a:r>
          </a:p>
        </p:txBody>
      </p:sp>
    </p:spTree>
    <p:extLst>
      <p:ext uri="{BB962C8B-B14F-4D97-AF65-F5344CB8AC3E}">
        <p14:creationId xmlns:p14="http://schemas.microsoft.com/office/powerpoint/2010/main" val="1465594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普遍机制通过跨条件预测检验">
            <a:extLst xmlns:a="http://schemas.openxmlformats.org/drawingml/2006/main">
              <a:ext uri="{FF2B5EF4-FFF2-40B4-BE49-F238E27FC236}">
                <a16:creationId xmlns:a16="http://schemas.microsoft.com/office/drawing/2014/main" id="{509F10F7-A2BB-4E37-A142-36445D9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普遍机制通过跨条件预测检验</a:t>
            </a:r>
          </a:p>
        </p:txBody>
      </p:sp>
      <p:sp>
        <p:nvSpPr>
          <p:cNvPr id="2" name="以下为研究设想，需由实验与模拟检验">
            <a:extLst xmlns:a="http://schemas.openxmlformats.org/drawingml/2006/main">
              <a:ext uri="{FF2B5EF4-FFF2-40B4-BE49-F238E27FC236}">
                <a16:creationId xmlns:a16="http://schemas.microsoft.com/office/drawing/2014/main" id="{CE6033D0-29D3-494D-B6D4-28962B3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以下为研究设想，需由实验与模拟检验</a:t>
            </a:r>
          </a:p>
        </p:txBody>
      </p:sp>
      <p:sp>
        <p:nvSpPr>
          <p:cNvPr id="3" name="00">
            <a:extLst xmlns:a="http://schemas.openxmlformats.org/drawingml/2006/main">
              <a:ext uri="{FF2B5EF4-FFF2-40B4-BE49-F238E27FC236}">
                <a16:creationId xmlns:a16="http://schemas.microsoft.com/office/drawing/2014/main" id="{3D1AD48B-EA25-4227-BE6E-CDEB88E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以下为候选机制与检验标准，尚非已经建立的普遍规律">
            <a:extLst xmlns:a="http://schemas.openxmlformats.org/drawingml/2006/main">
              <a:ext uri="{FF2B5EF4-FFF2-40B4-BE49-F238E27FC236}">
                <a16:creationId xmlns:a16="http://schemas.microsoft.com/office/drawing/2014/main" id="{8FD60CBA-1C66-4F4A-B3A6-AB48CFA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以下为候选机制与检验标准，尚非已经建立的普遍规律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50328-6E03-48FE-B3CF-CC53AAD22381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286250"/>
                <a:gridCol w="3924300"/>
              </a:tblGrid>
              <a:tr h="6096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候选机制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线虫内部的检验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进一步推广的要求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T w="6191">
                      <a:solidFill>
                        <a:srgbClr val="D8E4E8"/>
                      </a:solidFill>
                      <a:prstDash val="solid"/>
                    </a:lnT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约束选择集体软路径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改变壳形或接触条件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比较软模式与重排位置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预测新几何中的路径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并给出失效范围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结构化驱动选择通道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相近输入尺度下改变方向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比较跃迁概率和首达时间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保留驱动与结构的关系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而非只匹配总活动强度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108585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历史改变稳定构型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D8E4E8"/>
                      </a:solidFill>
                      <a:prstDash val="solid"/>
                    </a:lnL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固定与更新内部状态对照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比较卸载残余和记忆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跨周期和材料参数预测</a:t>
                      </a:r>
                    </a:p>
                    <a:p>
                      <a:r>
                        <a:rPr sz="1800" b="0">
                          <a:solidFill>
                            <a:srgbClr val="19364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检验哪些无量纲量可迁移</a:t>
                      </a:r>
                    </a:p>
                  </a:txBody>
                  <a:tcPr marL="91440" marR="91440" marT="45720" marB="45720" anchor="ctr">
                    <a:lnR w="6191">
                      <a:solidFill>
                        <a:srgbClr val="D8E4E8"/>
                      </a:solidFill>
                      <a:prstDash val="solid"/>
                    </a:lnR>
                    <a:lnB w="6191">
                      <a:solidFill>
                        <a:srgbClr val="D8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预测未参与拟合的条件，再检验能否推广到其他受限主动集体">
            <a:extLst xmlns:a="http://schemas.openxmlformats.org/drawingml/2006/main">
              <a:ext uri="{FF2B5EF4-FFF2-40B4-BE49-F238E27FC236}">
                <a16:creationId xmlns:a16="http://schemas.microsoft.com/office/drawing/2014/main" id="{962AC17E-A4A8-4860-89FC-2ABEF72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先预测未参与拟合的条件，再检验能否推广到其他受限主动集体</a:t>
            </a:r>
          </a:p>
        </p:txBody>
      </p:sp>
    </p:spTree>
    <p:extLst>
      <p:ext uri="{BB962C8B-B14F-4D97-AF65-F5344CB8AC3E}">
        <p14:creationId xmlns:p14="http://schemas.microsoft.com/office/powerpoint/2010/main" val="713589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观测与扰动怎样区分竞争机制">
            <a:extLst xmlns:a="http://schemas.openxmlformats.org/drawingml/2006/main">
              <a:ext uri="{FF2B5EF4-FFF2-40B4-BE49-F238E27FC236}">
                <a16:creationId xmlns:a16="http://schemas.microsoft.com/office/drawing/2014/main" id="{1FD2D109-6E72-4DCE-8C5E-D50FC817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研究目标：驱动与约束如何选择细胞集体构型</a:t>
            </a:r>
          </a:p>
        </p:txBody>
      </p:sp>
      <p:sp>
        <p:nvSpPr>
          <p:cNvPr id="2" name="比较同一过程的时间顺序，同时保留局部形变与全身输出">
            <a:extLst xmlns:a="http://schemas.openxmlformats.org/drawingml/2006/main">
              <a:ext uri="{FF2B5EF4-FFF2-40B4-BE49-F238E27FC236}">
                <a16:creationId xmlns:a16="http://schemas.microsoft.com/office/drawing/2014/main" id="{79A9CB39-4F9B-4884-A952-44EA3C2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以 C. elegans 为可重复的受限主动集体试验场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72B809F3-531C-40E5-B809-0AE49406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7" name="从 C. elegans 胚胎中选择具有特殊驱动方式&#10;或几何约束的形态发生过程，研究这些条">
            <a:extLst xmlns:a="http://schemas.openxmlformats.org/drawingml/2006/main">
              <a:ext uri="{FF2B5EF4-FFF2-40B4-BE49-F238E27FC236}">
                <a16:creationId xmlns:a16="http://schemas.microsoft.com/office/drawing/2014/main" id="{7F117CD8-B6B8-485A-BF4E-AE86AC1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从 C. elegans 胚胎中选择具有特殊驱动方式</a:t>
            </a:r>
          </a:p>
          <a:p xmlns:a="http://schemas.openxmlformats.org/drawingml/2006/main">
            <a: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或几何约束的形态发生过程，研究这些条件</a:t>
            </a:r>
          </a:p>
          <a:p xmlns:a="http://schemas.openxmlformats.org/drawingml/2006/main">
            <a: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怎样影响细胞集体重排、稳定性和可达构型，</a:t>
            </a:r>
          </a:p>
          <a:p xmlns:a="http://schemas.openxmlformats.org/drawingml/2006/main">
            <a:pPr>
              <a:def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进而寻找具有普遍意义的物理机制。</a:t>
            </a:r>
          </a:p>
        </p:txBody>
      </p:sp>
      <p:sp>
        <p:nvSpPr>
          <p:cNvPr id="8" name="以特殊生物条件辨识控制原理，建立机制及其适用边界">
            <a:extLst xmlns:a="http://schemas.openxmlformats.org/drawingml/2006/main">
              <a:ext uri="{FF2B5EF4-FFF2-40B4-BE49-F238E27FC236}">
                <a16:creationId xmlns:a16="http://schemas.microsoft.com/office/drawing/2014/main" id="{A37A3AFD-8F45-48BA-B2BC-D9BB174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以特殊生物条件辨识控制原理，建立机制及其适用边界</a:t>
            </a:r>
          </a:p>
        </p:txBody>
      </p:sp>
      <p:sp>
        <p:nvSpPr>
          <p:cNvPr id="9" name="线虫提供可追踪的实例，普遍性由跨条件预测和对照来检验">
            <a:extLst xmlns:a="http://schemas.openxmlformats.org/drawingml/2006/main">
              <a:ext uri="{FF2B5EF4-FFF2-40B4-BE49-F238E27FC236}">
                <a16:creationId xmlns:a16="http://schemas.microsoft.com/office/drawing/2014/main" id="{48E53CEC-D9A0-4B9B-83A2-A52626D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线虫提供可追踪的实例，普遍性由跨条件预测和对照来检验</a:t>
            </a:r>
          </a:p>
        </p:txBody>
      </p:sp>
    </p:spTree>
    <p:extLst>
      <p:ext uri="{BB962C8B-B14F-4D97-AF65-F5344CB8AC3E}">
        <p14:creationId xmlns:p14="http://schemas.microsoft.com/office/powerpoint/2010/main" val="21037860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参考笔记与核心文献">
            <a:extLst xmlns:a="http://schemas.openxmlformats.org/drawingml/2006/main">
              <a:ext uri="{FF2B5EF4-FFF2-40B4-BE49-F238E27FC236}">
                <a16:creationId xmlns:a16="http://schemas.microsoft.com/office/drawing/2014/main" id="{944C367D-F872-4F52-AED1-5F503D0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参考笔记与核心来源</a:t>
            </a:r>
          </a:p>
        </p:txBody>
      </p:sp>
      <p:sp>
        <p:nvSpPr>
          <p:cNvPr id="2" name="完整图源、链接、模型假设和逐页讲述提示见演讲者备注">
            <a:extLst xmlns:a="http://schemas.openxmlformats.org/drawingml/2006/main">
              <a:ext uri="{FF2B5EF4-FFF2-40B4-BE49-F238E27FC236}">
                <a16:creationId xmlns:a16="http://schemas.microsoft.com/office/drawing/2014/main" id="{D7B38700-8E8B-406A-ACCD-604F7F4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本地章节、原图、动态影像与模型假设详见各页备注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4E7F34F0-F10C-4024-82D5-84966FEF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19" name="线虫：受限堆积、插入与周期伸长">
            <a:extLst xmlns:a="http://schemas.openxmlformats.org/drawingml/2006/main">
              <a:ext uri="{FF2B5EF4-FFF2-40B4-BE49-F238E27FC236}">
                <a16:creationId xmlns:a16="http://schemas.microsoft.com/office/drawing/2014/main" id="{18A8B3C1-31FD-482A-8E1E-890A1AF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37c9b3a8c124f5e"/>
              </a:rPr>
              <a:t>线虫：受限堆积、插入与周期伸长</a:t>
            </a:r>
          </a:p>
        </p:txBody>
      </p:sp>
      <p:sp>
        <p:nvSpPr>
          <p:cNvPr id="20" name="Vertex Model：稳定性、重排路径与模型检验">
            <a:extLst xmlns:a="http://schemas.openxmlformats.org/drawingml/2006/main">
              <a:ext uri="{FF2B5EF4-FFF2-40B4-BE49-F238E27FC236}">
                <a16:creationId xmlns:a16="http://schemas.microsoft.com/office/drawing/2014/main" id="{1AD60362-6478-4C64-B033-4D7D9E5F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7F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2df731a024446d5"/>
              </a:rPr>
              <a:t>Vertex Model：稳定性、重排路径与模型检验</a:t>
            </a:r>
          </a:p>
        </p:txBody>
      </p:sp>
      <p:sp>
        <p:nvSpPr>
          <p:cNvPr id="21" name="Yamamoto &amp; Kimura (2017), Development">
            <a:extLst xmlns:a="http://schemas.openxmlformats.org/drawingml/2006/main">
              <a:ext uri="{FF2B5EF4-FFF2-40B4-BE49-F238E27FC236}">
                <a16:creationId xmlns:a16="http://schemas.microsoft.com/office/drawing/2014/main" id="{2513CAB9-5135-42EE-A5C8-A081319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e3ba583099a4e13"/>
              </a:rPr>
              <a:t>Yamamoto &amp; Kimura (2017), Development</a:t>
            </a:r>
          </a:p>
        </p:txBody>
      </p:sp>
      <p:sp>
        <p:nvSpPr>
          <p:cNvPr id="22" name="壳形、作用差异与排列">
            <a:extLst xmlns:a="http://schemas.openxmlformats.org/drawingml/2006/main">
              <a:ext uri="{FF2B5EF4-FFF2-40B4-BE49-F238E27FC236}">
                <a16:creationId xmlns:a16="http://schemas.microsoft.com/office/drawing/2014/main" id="{87DC9777-B11F-49DA-AB5F-7475652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90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壳形、作用差异与排列</a:t>
            </a:r>
          </a:p>
        </p:txBody>
      </p:sp>
      <p:sp>
        <p:nvSpPr>
          <p:cNvPr id="23" name="Yamamoto et al. (2026), Developmental Cell">
            <a:extLst xmlns:a="http://schemas.openxmlformats.org/drawingml/2006/main">
              <a:ext uri="{FF2B5EF4-FFF2-40B4-BE49-F238E27FC236}">
                <a16:creationId xmlns:a16="http://schemas.microsoft.com/office/drawing/2014/main" id="{93631342-696A-442D-8446-43F0C86F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b0ecdf2c98c4d43"/>
              </a:rPr>
              <a:t>Yamamoto et al. (2026), Developmental Cell</a:t>
            </a:r>
          </a:p>
        </p:txBody>
      </p:sp>
      <p:sp>
        <p:nvSpPr>
          <p:cNvPr id="24" name="界面力学与实验校准">
            <a:extLst xmlns:a="http://schemas.openxmlformats.org/drawingml/2006/main">
              <a:ext uri="{FF2B5EF4-FFF2-40B4-BE49-F238E27FC236}">
                <a16:creationId xmlns:a16="http://schemas.microsoft.com/office/drawing/2014/main" id="{A0E0A1CD-5B54-48F6-8A4C-85CD88C1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98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界面力学与实验校准</a:t>
            </a:r>
          </a:p>
        </p:txBody>
      </p:sp>
      <p:sp>
        <p:nvSpPr>
          <p:cNvPr id="25" name="Roh-Johnson et al. (2012), Science">
            <a:extLst xmlns:a="http://schemas.openxmlformats.org/drawingml/2006/main">
              <a:ext uri="{FF2B5EF4-FFF2-40B4-BE49-F238E27FC236}">
                <a16:creationId xmlns:a16="http://schemas.microsoft.com/office/drawing/2014/main" id="{85E42D9D-84D9-4794-92DE-D5E22226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de4c2bda1ee4afe"/>
              </a:rPr>
              <a:t>Roh-Johnson et al. (2012), Science</a:t>
            </a:r>
          </a:p>
        </p:txBody>
      </p:sp>
      <p:sp>
        <p:nvSpPr>
          <p:cNvPr id="26" name="皮层与边界耦合">
            <a:extLst xmlns:a="http://schemas.openxmlformats.org/drawingml/2006/main">
              <a:ext uri="{FF2B5EF4-FFF2-40B4-BE49-F238E27FC236}">
                <a16:creationId xmlns:a16="http://schemas.microsoft.com/office/drawing/2014/main" id="{826FAC9A-27FE-4970-978D-E53AC17F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289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皮层与边界耦合</a:t>
            </a:r>
          </a:p>
        </p:txBody>
      </p:sp>
      <p:sp>
        <p:nvSpPr>
          <p:cNvPr id="27" name="Walck-Shannon et al. (2015), Development">
            <a:extLst xmlns:a="http://schemas.openxmlformats.org/drawingml/2006/main">
              <a:ext uri="{FF2B5EF4-FFF2-40B4-BE49-F238E27FC236}">
                <a16:creationId xmlns:a16="http://schemas.microsoft.com/office/drawing/2014/main" id="{106B5336-EC13-48AD-BFEC-FB9424E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be106768ee94131"/>
              </a:rPr>
              <a:t>Walck-Shannon et al. (2015), Development</a:t>
            </a:r>
          </a:p>
        </p:txBody>
      </p:sp>
      <p:sp>
        <p:nvSpPr>
          <p:cNvPr id="28" name="基底外侧极化推进">
            <a:extLst xmlns:a="http://schemas.openxmlformats.org/drawingml/2006/main">
              <a:ext uri="{FF2B5EF4-FFF2-40B4-BE49-F238E27FC236}">
                <a16:creationId xmlns:a16="http://schemas.microsoft.com/office/drawing/2014/main" id="{15952E3D-43E8-4588-82A1-7B6BCF3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480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基底外侧极化推进</a:t>
            </a:r>
          </a:p>
        </p:txBody>
      </p:sp>
      <p:sp>
        <p:nvSpPr>
          <p:cNvPr id="29" name="Vuong-Brender et al. (2017), eLife">
            <a:extLst xmlns:a="http://schemas.openxmlformats.org/drawingml/2006/main">
              <a:ext uri="{FF2B5EF4-FFF2-40B4-BE49-F238E27FC236}">
                <a16:creationId xmlns:a16="http://schemas.microsoft.com/office/drawing/2014/main" id="{52CC4F75-6244-4116-BC48-3FF7F3CF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d473fe47d654b62"/>
              </a:rPr>
              <a:t>Vuong-Brender et al. (2017), eLife</a:t>
            </a:r>
          </a:p>
        </p:txBody>
      </p:sp>
      <p:sp>
        <p:nvSpPr>
          <p:cNvPr id="30" name="方向性应力与材料">
            <a:extLst xmlns:a="http://schemas.openxmlformats.org/drawingml/2006/main">
              <a:ext uri="{FF2B5EF4-FFF2-40B4-BE49-F238E27FC236}">
                <a16:creationId xmlns:a16="http://schemas.microsoft.com/office/drawing/2014/main" id="{DF09F54B-BBAB-4271-AEEF-940DC56E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671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方向性应力与材料</a:t>
            </a:r>
          </a:p>
        </p:txBody>
      </p:sp>
      <p:sp>
        <p:nvSpPr>
          <p:cNvPr id="31" name="Lardennois et al. (2019), Nature">
            <a:extLst xmlns:a="http://schemas.openxmlformats.org/drawingml/2006/main">
              <a:ext uri="{FF2B5EF4-FFF2-40B4-BE49-F238E27FC236}">
                <a16:creationId xmlns:a16="http://schemas.microsoft.com/office/drawing/2014/main" id="{2F878E45-542B-4EDD-9C5B-DCDFC1B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407555393984e47"/>
              </a:rPr>
              <a:t>Lardennois et al. (2019), Nature</a:t>
            </a:r>
          </a:p>
        </p:txBody>
      </p:sp>
      <p:sp>
        <p:nvSpPr>
          <p:cNvPr id="32" name="骨架塑性与形态保持">
            <a:extLst xmlns:a="http://schemas.openxmlformats.org/drawingml/2006/main">
              <a:ext uri="{FF2B5EF4-FFF2-40B4-BE49-F238E27FC236}">
                <a16:creationId xmlns:a16="http://schemas.microsoft.com/office/drawing/2014/main" id="{F7D8AE31-9F09-4689-9772-C10890AB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862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骨架塑性与形态保持</a:t>
            </a:r>
          </a:p>
        </p:txBody>
      </p:sp>
      <p:sp>
        <p:nvSpPr>
          <p:cNvPr id="33" name="Farhadifar et al. (2007), Current Biology">
            <a:extLst xmlns:a="http://schemas.openxmlformats.org/drawingml/2006/main">
              <a:ext uri="{FF2B5EF4-FFF2-40B4-BE49-F238E27FC236}">
                <a16:creationId xmlns:a16="http://schemas.microsoft.com/office/drawing/2014/main" id="{2A4AFF2F-4F98-4F22-8B93-0E7978A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60fa74482414428"/>
              </a:rPr>
              <a:t>Farhadifar et al. (2007), Current Biology</a:t>
            </a:r>
          </a:p>
        </p:txBody>
      </p:sp>
      <p:sp>
        <p:nvSpPr>
          <p:cNvPr id="34" name="顶点模型的细胞力学">
            <a:extLst xmlns:a="http://schemas.openxmlformats.org/drawingml/2006/main">
              <a:ext uri="{FF2B5EF4-FFF2-40B4-BE49-F238E27FC236}">
                <a16:creationId xmlns:a16="http://schemas.microsoft.com/office/drawing/2014/main" id="{1ACBC7E3-59A6-4FED-B00A-A044D6C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顶点模型的细胞力学</a:t>
            </a:r>
          </a:p>
        </p:txBody>
      </p:sp>
      <p:sp>
        <p:nvSpPr>
          <p:cNvPr id="35" name="Bi et al. (2015), Nature Physics">
            <a:extLst xmlns:a="http://schemas.openxmlformats.org/drawingml/2006/main">
              <a:ext uri="{FF2B5EF4-FFF2-40B4-BE49-F238E27FC236}">
                <a16:creationId xmlns:a16="http://schemas.microsoft.com/office/drawing/2014/main" id="{E8110002-BCD0-40DD-BB28-C66CD323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9364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d5ee18993de4c04"/>
              </a:rPr>
              <a:t>Bi et al. (2015), Nature Physics</a:t>
            </a:r>
          </a:p>
        </p:txBody>
      </p:sp>
      <p:sp>
        <p:nvSpPr>
          <p:cNvPr id="36" name="模型刚性与重排能垒">
            <a:extLst xmlns:a="http://schemas.openxmlformats.org/drawingml/2006/main">
              <a:ext uri="{FF2B5EF4-FFF2-40B4-BE49-F238E27FC236}">
                <a16:creationId xmlns:a16="http://schemas.microsoft.com/office/drawing/2014/main" id="{F2C6956C-F69E-4ABE-B6FB-0E92EC9C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244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模型刚性与重排能垒</a:t>
            </a:r>
          </a:p>
        </p:txBody>
      </p:sp>
      <p:sp>
        <p:nvSpPr>
          <p:cNvPr id="37" name="备份页保留腹侧闭合与三维运动，默认不计入正式放映">
            <a:extLst xmlns:a="http://schemas.openxmlformats.org/drawingml/2006/main">
              <a:ext uri="{FF2B5EF4-FFF2-40B4-BE49-F238E27FC236}">
                <a16:creationId xmlns:a16="http://schemas.microsoft.com/office/drawing/2014/main" id="{1E9E8C38-C5AD-4346-8A74-97F16B76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备份页保留腹侧闭合与三维运动，默认不计入正式放映</a:t>
            </a:r>
          </a:p>
        </p:txBody>
      </p:sp>
    </p:spTree>
    <p:extLst>
      <p:ext uri="{BB962C8B-B14F-4D97-AF65-F5344CB8AC3E}">
        <p14:creationId xmlns:p14="http://schemas.microsoft.com/office/powerpoint/2010/main" val="717530642"/>
      </p:ext>
    </p:extLst>
  </p:cSld>
</p:sld>
</file>

<file path=ppt/slides/slide1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腹侧包裹：前缘推进与新接触成熟">
            <a:extLst xmlns:a="http://schemas.openxmlformats.org/drawingml/2006/main">
              <a:ext uri="{FF2B5EF4-FFF2-40B4-BE49-F238E27FC236}">
                <a16:creationId xmlns:a16="http://schemas.microsoft.com/office/drawing/2014/main" id="{1D6F9A2C-B3E4-4CFE-BC29-BB6C527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备份：自由边界接合怎样建立新的承载拓扑</a:t>
            </a:r>
          </a:p>
        </p:txBody>
      </p:sp>
      <p:sp>
        <p:nvSpPr>
          <p:cNvPr id="2" name="Williams-Masson et al., 1997；Raich et al., 19">
            <a:extLst xmlns:a="http://schemas.openxmlformats.org/drawingml/2006/main">
              <a:ext uri="{FF2B5EF4-FFF2-40B4-BE49-F238E27FC236}">
                <a16:creationId xmlns:a16="http://schemas.microsoft.com/office/drawing/2014/main" id="{D0268F66-BDBB-4C2C-BCC9-35CBA9D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补充讨论：腹侧闭合与连接成熟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6157AD9-8078-48F9-A601-9CFCBE8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实验：前缘相遇与开口关闭">
            <a:extLst xmlns:a="http://schemas.openxmlformats.org/drawingml/2006/main">
              <a:ext uri="{FF2B5EF4-FFF2-40B4-BE49-F238E27FC236}">
                <a16:creationId xmlns:a16="http://schemas.microsoft.com/office/drawing/2014/main" id="{D31A7C4A-42FC-47E8-8E54-F2CFCC5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476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实验：前缘相遇与开口关闭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15328-32E9-42CA-B830-6B6C663E3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7f7504f9d4cfd"/>
          <a:stretch xmlns:a="http://schemas.openxmlformats.org/drawingml/2006/main"/>
        </p:blipFill>
        <p:spPr>
          <a:xfrm xmlns:a="http://schemas.openxmlformats.org/drawingml/2006/main">
            <a:off x="611846" y="2381250"/>
            <a:ext cx="4472257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笔记算例：相同推进，接触成熟速度不同">
            <a:extLst xmlns:a="http://schemas.openxmlformats.org/drawingml/2006/main">
              <a:ext uri="{FF2B5EF4-FFF2-40B4-BE49-F238E27FC236}">
                <a16:creationId xmlns:a16="http://schemas.microsoft.com/office/drawing/2014/main" id="{ECECCCD8-C02B-4997-B04F-0D66A5E2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76350"/>
            <a:ext cx="6057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笔记算例：相同推进，接触成熟速度不同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DE71D-1B7B-43BE-B4F5-28BFCEA5D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6ea37e504582"/>
          <a:stretch xmlns:a="http://schemas.openxmlformats.org/drawingml/2006/main"/>
        </p:blipFill>
        <p:spPr>
          <a:xfrm xmlns:a="http://schemas.openxmlformats.org/drawingml/2006/main">
            <a:off x="5524999" y="2152650"/>
            <a:ext cx="6056903" cy="2809875"/>
          </a:xfrm>
          <a:prstGeom xmlns:a="http://schemas.openxmlformats.org/drawingml/2006/main" prst="rect">
            <a:avLst/>
          </a:prstGeom>
        </p:spPr>
      </p:pic>
      <p:sp>
        <p:nvSpPr>
          <p:cNvPr id="12" name="t = 5 撤去推进&#10;快速成熟保持闭合，慢速成熟重新打开">
            <a:extLst xmlns:a="http://schemas.openxmlformats.org/drawingml/2006/main">
              <a:ext uri="{FF2B5EF4-FFF2-40B4-BE49-F238E27FC236}">
                <a16:creationId xmlns:a16="http://schemas.microsoft.com/office/drawing/2014/main" id="{42BE111F-6D79-4A9A-9A89-BD2F15E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29225"/>
            <a:ext cx="605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t = 5 撤去推进</a:t>
            </a:r>
          </a:p>
          <a:p xmlns:a="http://schemas.openxmlformats.org/drawingml/2006/main">
            <a:pPr>
              <a:buNone/>
              <a:def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快速成熟保持闭合，慢速成熟重新打开</a:t>
            </a:r>
          </a:p>
        </p:txBody>
      </p:sp>
    </p:spTree>
    <p:extLst>
      <p:ext uri="{BB962C8B-B14F-4D97-AF65-F5344CB8AC3E}">
        <p14:creationId xmlns:p14="http://schemas.microsoft.com/office/powerpoint/2010/main" val="1806947841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三维体形与模型的适用边界">
            <a:extLst xmlns:a="http://schemas.openxmlformats.org/drawingml/2006/main">
              <a:ext uri="{FF2B5EF4-FFF2-40B4-BE49-F238E27FC236}">
                <a16:creationId xmlns:a16="http://schemas.microsoft.com/office/drawing/2014/main" id="{4F0BCEBF-5383-48FC-9892-9EDFCD2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备份：三维几何与构型观测的定义</a:t>
            </a:r>
          </a:p>
        </p:txBody>
      </p:sp>
      <p:sp>
        <p:nvSpPr>
          <p:cNvPr id="2" name="身体弧长、投影弧长和头尾直线距离需要分别记录">
            <a:extLst xmlns:a="http://schemas.openxmlformats.org/drawingml/2006/main">
              <a:ext uri="{FF2B5EF4-FFF2-40B4-BE49-F238E27FC236}">
                <a16:creationId xmlns:a16="http://schemas.microsoft.com/office/drawing/2014/main" id="{AC964206-986B-409A-AECC-2C4ED286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补充讨论：身体转动、中心线与材料追踪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FE8CEECB-4EF1-417A-ACFC-FDA5DE1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3203B-1FDB-4C7F-A0B2-6928F633B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8be3ff8c147c7"/>
          <a:stretch xmlns:a="http://schemas.openxmlformats.org/drawingml/2006/main"/>
        </p:blipFill>
        <p:spPr>
          <a:xfrm xmlns:a="http://schemas.openxmlformats.org/drawingml/2006/main">
            <a:off x="612756" y="1428750"/>
            <a:ext cx="2927388" cy="46672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94908-495E-4D6B-9159-FA9DAA349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3bb920f9344c0"/>
          <a:stretch xmlns:a="http://schemas.openxmlformats.org/drawingml/2006/main"/>
        </p:blipFill>
        <p:spPr>
          <a:xfrm xmlns:a="http://schemas.openxmlformats.org/drawingml/2006/main">
            <a:off x="4097492" y="1819275"/>
            <a:ext cx="2854015" cy="3343275"/>
          </a:xfrm>
          <a:prstGeom xmlns:a="http://schemas.openxmlformats.org/drawingml/2006/main" prst="rect">
            <a:avLst/>
          </a:prstGeom>
        </p:spPr>
      </p:pic>
      <p:sp>
        <p:nvSpPr>
          <p:cNvPr id="13" name="中心线弧长 L&#10;与端点距离 D">
            <a:extLst xmlns:a="http://schemas.openxmlformats.org/drawingml/2006/main">
              <a:ext uri="{FF2B5EF4-FFF2-40B4-BE49-F238E27FC236}">
                <a16:creationId xmlns:a16="http://schemas.microsoft.com/office/drawing/2014/main" id="{FF4A8613-A2E7-428D-869F-FA365ED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中心线弧长 L</a:t>
            </a:r>
          </a:p>
          <a:p xmlns:a="http://schemas.openxmlformats.org/drawingml/2006/main">
            <a:pPr>
              <a:buNone/>
              <a:def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773"/>
                </a:solidFill>
                <a:latin typeface="PingFang SC"/>
                <a:ea typeface="PingFang SC"/>
                <a:cs typeface="PingFang SC"/>
              </a:rPr>
              <a:t>与端点距离 D</a:t>
            </a:r>
          </a:p>
        </p:txBody>
      </p:sp>
      <p:sp>
        <p:nvSpPr>
          <p:cNvPr id="14" name="真实长度">
            <a:extLst xmlns:a="http://schemas.openxmlformats.org/drawingml/2006/main">
              <a:ext uri="{FF2B5EF4-FFF2-40B4-BE49-F238E27FC236}">
                <a16:creationId xmlns:a16="http://schemas.microsoft.com/office/drawing/2014/main" id="{7C70C873-C187-419B-A5B4-46173B0A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28775"/>
            <a:ext cx="396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7F85"/>
                </a:solidFill>
                <a:latin typeface="PingFang SC"/>
                <a:ea typeface="PingFang SC"/>
                <a:cs typeface="PingFang SC"/>
              </a:rPr>
              <a:t>真实长度</a:t>
            </a:r>
          </a:p>
        </p:txBody>
      </p:sp>
      <p:sp>
        <p:nvSpPr>
          <p:cNvPr id="15" name="沿三维中心线测量&#10;头尾距离受弯曲影响">
            <a:extLst xmlns:a="http://schemas.openxmlformats.org/drawingml/2006/main">
              <a:ext uri="{FF2B5EF4-FFF2-40B4-BE49-F238E27FC236}">
                <a16:creationId xmlns:a16="http://schemas.microsoft.com/office/drawing/2014/main" id="{1012AB83-B68A-40C9-B3D9-2C922AA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沿三维中心线测量</a:t>
            </a:r>
          </a:p>
          <a:p xmlns:a="http://schemas.openxmlformats.org/drawingml/2006/main">
            <a:pPr>
              <a:buNone/>
              <a:def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头尾距离受弯曲影响</a:t>
            </a:r>
          </a:p>
        </p:txBody>
      </p:sp>
      <p:sp>
        <p:nvSpPr>
          <p:cNvPr id="16" name="模型边界">
            <a:extLst xmlns:a="http://schemas.openxmlformats.org/drawingml/2006/main">
              <a:ext uri="{FF2B5EF4-FFF2-40B4-BE49-F238E27FC236}">
                <a16:creationId xmlns:a16="http://schemas.microsoft.com/office/drawing/2014/main" id="{431DA198-3E1C-4B17-84C7-BC7E0B89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396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55074"/>
                </a:solidFill>
                <a:latin typeface="PingFang SC"/>
                <a:ea typeface="PingFang SC"/>
                <a:cs typeface="PingFang SC"/>
              </a:rPr>
              <a:t>模型边界</a:t>
            </a:r>
          </a:p>
        </p:txBody>
      </p:sp>
      <p:sp>
        <p:nvSpPr>
          <p:cNvPr id="17" name="曲率、卵壳接触与表皮融合&#10;需要在相应阶段保留">
            <a:extLst xmlns:a="http://schemas.openxmlformats.org/drawingml/2006/main">
              <a:ext uri="{FF2B5EF4-FFF2-40B4-BE49-F238E27FC236}">
                <a16:creationId xmlns:a16="http://schemas.microsoft.com/office/drawing/2014/main" id="{5BB3ACEC-6992-41AE-9BFC-2995F87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962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曲率、卵壳接触与表皮融合</a:t>
            </a:r>
          </a:p>
          <a:p xmlns:a="http://schemas.openxmlformats.org/drawingml/2006/main">
            <a:pPr>
              <a:buNone/>
              <a:def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645"/>
                </a:solidFill>
                <a:latin typeface="PingFang SC"/>
                <a:ea typeface="PingFang SC"/>
                <a:cs typeface="PingFang SC"/>
              </a:rPr>
              <a:t>需要在相应阶段保留</a:t>
            </a:r>
          </a:p>
        </p:txBody>
      </p:sp>
    </p:spTree>
    <p:extLst>
      <p:ext uri="{BB962C8B-B14F-4D97-AF65-F5344CB8AC3E}">
        <p14:creationId xmlns:p14="http://schemas.microsoft.com/office/powerpoint/2010/main" val="1962523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2026-10-24T17:49:56.4680000Z</dcterms:created>
  <dcterms:modified xsi:type="dcterms:W3CDTF">2026-10-24T17:49:56.4680000Z</dcterms:modified>
</coreProperties>
</file>