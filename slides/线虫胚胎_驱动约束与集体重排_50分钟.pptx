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2f9200ebc42b2" /><Relationship Type="http://schemas.openxmlformats.org/officeDocument/2006/relationships/extended-properties" Target="/docProps/app.xml" Id="R70b77237d0164832" /><Relationship Type="http://schemas.openxmlformats.org/officeDocument/2006/relationships/officeDocument" Target="/ppt/presentation.xml" Id="R3ff04fc4a79c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6e94945274a5a"/>
  </p:sldMasterIdLst>
  <p:notesMasterIdLst>
    <p:notesMasterId xmlns:r="http://schemas.openxmlformats.org/officeDocument/2006/relationships" r:id="R04a2719187864c2f"/>
  </p:notesMasterIdLst>
  <p:sldIdLst>
    <p:sldId xmlns:r="http://schemas.openxmlformats.org/officeDocument/2006/relationships" id="256" r:id="R578961211ebc440e"/>
    <p:sldId xmlns:r="http://schemas.openxmlformats.org/officeDocument/2006/relationships" id="257" r:id="Rae1a1292708f4189"/>
    <p:sldId xmlns:r="http://schemas.openxmlformats.org/officeDocument/2006/relationships" id="258" r:id="R4a3d9521bbb74dd9"/>
    <p:sldId xmlns:r="http://schemas.openxmlformats.org/officeDocument/2006/relationships" id="259" r:id="Re59419c989ad4b33"/>
    <p:sldId xmlns:r="http://schemas.openxmlformats.org/officeDocument/2006/relationships" id="260" r:id="Rcb9a8628ea6c4c0b"/>
    <p:sldId xmlns:r="http://schemas.openxmlformats.org/officeDocument/2006/relationships" id="261" r:id="R2666839e61c544d7"/>
    <p:sldId xmlns:r="http://schemas.openxmlformats.org/officeDocument/2006/relationships" id="262" r:id="Rd7247716061a4196"/>
    <p:sldId xmlns:r="http://schemas.openxmlformats.org/officeDocument/2006/relationships" id="263" r:id="Rf20dbee9c3bd4eb1"/>
    <p:sldId xmlns:r="http://schemas.openxmlformats.org/officeDocument/2006/relationships" id="264" r:id="R950f32eda43b43a5"/>
    <p:sldId xmlns:r="http://schemas.openxmlformats.org/officeDocument/2006/relationships" id="265" r:id="R6509cca9ab6d407b"/>
    <p:sldId xmlns:r="http://schemas.openxmlformats.org/officeDocument/2006/relationships" id="266" r:id="Rcf3fb9190c7a44a9"/>
    <p:sldId xmlns:r="http://schemas.openxmlformats.org/officeDocument/2006/relationships" id="267" r:id="Reb8b8b53196e46a7"/>
    <p:sldId xmlns:r="http://schemas.openxmlformats.org/officeDocument/2006/relationships" id="268" r:id="R77b556ece3754e8b"/>
    <p:sldId xmlns:r="http://schemas.openxmlformats.org/officeDocument/2006/relationships" id="269" r:id="R685dff4bb3614247"/>
    <p:sldId xmlns:r="http://schemas.openxmlformats.org/officeDocument/2006/relationships" id="270" r:id="R685da70d2cab4add"/>
    <p:sldId xmlns:r="http://schemas.openxmlformats.org/officeDocument/2006/relationships" id="271" r:id="R60015b8f00a54a00"/>
    <p:sldId xmlns:r="http://schemas.openxmlformats.org/officeDocument/2006/relationships" id="272" r:id="Rf86d5ce0bc964542"/>
    <p:sldId xmlns:r="http://schemas.openxmlformats.org/officeDocument/2006/relationships" id="273" r:id="Ra2d8ddea4a504178"/>
    <p:sldId xmlns:r="http://schemas.openxmlformats.org/officeDocument/2006/relationships" id="274" r:id="Rcf81cf1d89f045e0"/>
    <p:sldId xmlns:r="http://schemas.openxmlformats.org/officeDocument/2006/relationships" id="275" r:id="R9f153969d40e40dc"/>
    <p:sldId xmlns:r="http://schemas.openxmlformats.org/officeDocument/2006/relationships" id="276" r:id="R3d07a6d40dd14419"/>
    <p:sldId xmlns:r="http://schemas.openxmlformats.org/officeDocument/2006/relationships" id="277" r:id="Rbcbb3c6a28474dbd"/>
    <p:sldId xmlns:r="http://schemas.openxmlformats.org/officeDocument/2006/relationships" id="278" r:id="R961bf98a217c4751"/>
    <p:sldId xmlns:r="http://schemas.openxmlformats.org/officeDocument/2006/relationships" id="279" r:id="R69a62be59be047fa"/>
    <p:sldId xmlns:r="http://schemas.openxmlformats.org/officeDocument/2006/relationships" id="280" r:id="R0f1480605b2349e6"/>
    <p:sldId xmlns:r="http://schemas.openxmlformats.org/officeDocument/2006/relationships" id="281" r:id="R377c1d4162c8479e"/>
    <p:sldId xmlns:r="http://schemas.openxmlformats.org/officeDocument/2006/relationships" id="282" r:id="R079bf48314cd43ef"/>
    <p:sldId xmlns:r="http://schemas.openxmlformats.org/officeDocument/2006/relationships" id="283" r:id="R0cd24fc221df4471"/>
    <p:sldId xmlns:r="http://schemas.openxmlformats.org/officeDocument/2006/relationships" id="284" r:id="R73999ff5277a4a34"/>
    <p:sldId xmlns:r="http://schemas.openxmlformats.org/officeDocument/2006/relationships" id="285" r:id="R31629e9857f145d2"/>
    <p:sldId xmlns:r="http://schemas.openxmlformats.org/officeDocument/2006/relationships" id="286" r:id="R95ea3a2b0dbd48e1"/>
    <p:sldId xmlns:r="http://schemas.openxmlformats.org/officeDocument/2006/relationships" id="287" r:id="R3d7597f20b6c489f"/>
    <p:sldId xmlns:r="http://schemas.openxmlformats.org/officeDocument/2006/relationships" id="288" r:id="Rd0b04a5833d54b16"/>
    <p:sldId xmlns:r="http://schemas.openxmlformats.org/officeDocument/2006/relationships" id="289" r:id="Rc3cd85ec46b54305"/>
    <p:sldId xmlns:r="http://schemas.openxmlformats.org/officeDocument/2006/relationships" id="290" r:id="R215fd8cde7634623"/>
    <p:sldId xmlns:r="http://schemas.openxmlformats.org/officeDocument/2006/relationships" id="291" r:id="R55542172bb294143"/>
    <p:sldId xmlns:r="http://schemas.openxmlformats.org/officeDocument/2006/relationships" id="292" r:id="R023fa27c5a92420b"/>
    <p:sldId xmlns:r="http://schemas.openxmlformats.org/officeDocument/2006/relationships" id="293" r:id="Ra09a4cd34b5a4840"/>
    <p:sldId xmlns:r="http://schemas.openxmlformats.org/officeDocument/2006/relationships" id="294" r:id="Rc5f7aba9cc354dc3"/>
    <p:sldId xmlns:r="http://schemas.openxmlformats.org/officeDocument/2006/relationships" id="295" r:id="R025f6cfed3464ed6"/>
    <p:sldId xmlns:r="http://schemas.openxmlformats.org/officeDocument/2006/relationships" id="296" r:id="Rb693a30795b24b40"/>
    <p:sldId xmlns:r="http://schemas.openxmlformats.org/officeDocument/2006/relationships" id="297" r:id="R27ced10388ce4b73"/>
    <p:sldId xmlns:r="http://schemas.openxmlformats.org/officeDocument/2006/relationships" id="298" r:id="R1e0ef20b8f254acb"/>
    <p:sldId xmlns:r="http://schemas.openxmlformats.org/officeDocument/2006/relationships" id="299" r:id="Rfa4ed1246fc9495e"/>
    <p:sldId xmlns:r="http://schemas.openxmlformats.org/officeDocument/2006/relationships" id="300" r:id="R4ae85175d0344b39"/>
    <p:sldId xmlns:r="http://schemas.openxmlformats.org/officeDocument/2006/relationships" id="301" r:id="Re9bb92a46e874fca"/>
    <p:sldId xmlns:r="http://schemas.openxmlformats.org/officeDocument/2006/relationships" id="302" r:id="R89f3327561d4469b"/>
    <p:sldId xmlns:r="http://schemas.openxmlformats.org/officeDocument/2006/relationships" id="303" r:id="R29ddf3a860304161"/>
    <p:sldId xmlns:r="http://schemas.openxmlformats.org/officeDocument/2006/relationships" id="304" r:id="R098504eb5bc14a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c13acadb34fc4" /><Relationship Type="http://schemas.openxmlformats.org/officeDocument/2006/relationships/slideMaster" Target="/ppt/slideMasters/slideMaster1.xml" Id="Rf5d6e94945274a5a" /><Relationship Type="http://schemas.openxmlformats.org/officeDocument/2006/relationships/notesMaster" Target="/ppt/notesMasters/notesMaster1.xml" Id="R04a2719187864c2f" /><Relationship Type="http://schemas.openxmlformats.org/officeDocument/2006/relationships/presProps" Target="/ppt/presProps.xml" Id="Ra49cb6aa977a430a" /><Relationship Type="http://schemas.openxmlformats.org/officeDocument/2006/relationships/tableStyles" Target="/ppt/tableStyles.xml" Id="R81faed6f4d1d4642" /><Relationship Type="http://schemas.openxmlformats.org/officeDocument/2006/relationships/slide" Target="/ppt/slides/slide1.xml" Id="R578961211ebc440e" /><Relationship Type="http://schemas.openxmlformats.org/officeDocument/2006/relationships/slide" Target="/ppt/slides/slide2.xml" Id="Rae1a1292708f4189" /><Relationship Type="http://schemas.openxmlformats.org/officeDocument/2006/relationships/slide" Target="/ppt/slides/slide3.xml" Id="R4a3d9521bbb74dd9" /><Relationship Type="http://schemas.openxmlformats.org/officeDocument/2006/relationships/slide" Target="/ppt/slides/slide4.xml" Id="Re59419c989ad4b33" /><Relationship Type="http://schemas.openxmlformats.org/officeDocument/2006/relationships/slide" Target="/ppt/slides/slide5.xml" Id="Rcb9a8628ea6c4c0b" /><Relationship Type="http://schemas.openxmlformats.org/officeDocument/2006/relationships/slide" Target="/ppt/slides/slide6.xml" Id="R2666839e61c544d7" /><Relationship Type="http://schemas.openxmlformats.org/officeDocument/2006/relationships/slide" Target="/ppt/slides/slide7.xml" Id="Rd7247716061a4196" /><Relationship Type="http://schemas.openxmlformats.org/officeDocument/2006/relationships/slide" Target="/ppt/slides/slide8.xml" Id="Rf20dbee9c3bd4eb1" /><Relationship Type="http://schemas.openxmlformats.org/officeDocument/2006/relationships/slide" Target="/ppt/slides/slide9.xml" Id="R950f32eda43b43a5" /><Relationship Type="http://schemas.openxmlformats.org/officeDocument/2006/relationships/slide" Target="/ppt/slides/slide10.xml" Id="R6509cca9ab6d407b" /><Relationship Type="http://schemas.openxmlformats.org/officeDocument/2006/relationships/slide" Target="/ppt/slides/slide11.xml" Id="Rcf3fb9190c7a44a9" /><Relationship Type="http://schemas.openxmlformats.org/officeDocument/2006/relationships/slide" Target="/ppt/slides/slide12.xml" Id="Reb8b8b53196e46a7" /><Relationship Type="http://schemas.openxmlformats.org/officeDocument/2006/relationships/slide" Target="/ppt/slides/slide13.xml" Id="R77b556ece3754e8b" /><Relationship Type="http://schemas.openxmlformats.org/officeDocument/2006/relationships/slide" Target="/ppt/slides/slide14.xml" Id="R685dff4bb3614247" /><Relationship Type="http://schemas.openxmlformats.org/officeDocument/2006/relationships/slide" Target="/ppt/slides/slide15.xml" Id="R685da70d2cab4add" /><Relationship Type="http://schemas.openxmlformats.org/officeDocument/2006/relationships/slide" Target="/ppt/slides/slide16.xml" Id="R60015b8f00a54a00" /><Relationship Type="http://schemas.openxmlformats.org/officeDocument/2006/relationships/slide" Target="/ppt/slides/slide17.xml" Id="Rf86d5ce0bc964542" /><Relationship Type="http://schemas.openxmlformats.org/officeDocument/2006/relationships/slide" Target="/ppt/slides/slide18.xml" Id="Ra2d8ddea4a504178" /><Relationship Type="http://schemas.openxmlformats.org/officeDocument/2006/relationships/slide" Target="/ppt/slides/slide19.xml" Id="Rcf81cf1d89f045e0" /><Relationship Type="http://schemas.openxmlformats.org/officeDocument/2006/relationships/slide" Target="/ppt/slides/slide20.xml" Id="R9f153969d40e40dc" /><Relationship Type="http://schemas.openxmlformats.org/officeDocument/2006/relationships/slide" Target="/ppt/slides/slide21.xml" Id="R3d07a6d40dd14419" /><Relationship Type="http://schemas.openxmlformats.org/officeDocument/2006/relationships/slide" Target="/ppt/slides/slide22.xml" Id="Rbcbb3c6a28474dbd" /><Relationship Type="http://schemas.openxmlformats.org/officeDocument/2006/relationships/slide" Target="/ppt/slides/slide23.xml" Id="R961bf98a217c4751" /><Relationship Type="http://schemas.openxmlformats.org/officeDocument/2006/relationships/slide" Target="/ppt/slides/slide24.xml" Id="R69a62be59be047fa" /><Relationship Type="http://schemas.openxmlformats.org/officeDocument/2006/relationships/slide" Target="/ppt/slides/slide25.xml" Id="R0f1480605b2349e6" /><Relationship Type="http://schemas.openxmlformats.org/officeDocument/2006/relationships/slide" Target="/ppt/slides/slide26.xml" Id="R377c1d4162c8479e" /><Relationship Type="http://schemas.openxmlformats.org/officeDocument/2006/relationships/slide" Target="/ppt/slides/slide27.xml" Id="R079bf48314cd43ef" /><Relationship Type="http://schemas.openxmlformats.org/officeDocument/2006/relationships/slide" Target="/ppt/slides/slide28.xml" Id="R0cd24fc221df4471" /><Relationship Type="http://schemas.openxmlformats.org/officeDocument/2006/relationships/slide" Target="/ppt/slides/slide29.xml" Id="R73999ff5277a4a34" /><Relationship Type="http://schemas.openxmlformats.org/officeDocument/2006/relationships/slide" Target="/ppt/slides/slide30.xml" Id="R31629e9857f145d2" /><Relationship Type="http://schemas.openxmlformats.org/officeDocument/2006/relationships/slide" Target="/ppt/slides/slide31.xml" Id="R95ea3a2b0dbd48e1" /><Relationship Type="http://schemas.openxmlformats.org/officeDocument/2006/relationships/slide" Target="/ppt/slides/slide32.xml" Id="R3d7597f20b6c489f" /><Relationship Type="http://schemas.openxmlformats.org/officeDocument/2006/relationships/slide" Target="/ppt/slides/slide33.xml" Id="Rd0b04a5833d54b16" /><Relationship Type="http://schemas.openxmlformats.org/officeDocument/2006/relationships/slide" Target="/ppt/slides/slide34.xml" Id="Rc3cd85ec46b54305" /><Relationship Type="http://schemas.openxmlformats.org/officeDocument/2006/relationships/slide" Target="/ppt/slides/slide35.xml" Id="R215fd8cde7634623" /><Relationship Type="http://schemas.openxmlformats.org/officeDocument/2006/relationships/slide" Target="/ppt/slides/slide36.xml" Id="R55542172bb294143" /><Relationship Type="http://schemas.openxmlformats.org/officeDocument/2006/relationships/slide" Target="/ppt/slides/slide37.xml" Id="R023fa27c5a92420b" /><Relationship Type="http://schemas.openxmlformats.org/officeDocument/2006/relationships/slide" Target="/ppt/slides/slide38.xml" Id="Ra09a4cd34b5a4840" /><Relationship Type="http://schemas.openxmlformats.org/officeDocument/2006/relationships/slide" Target="/ppt/slides/slide39.xml" Id="Rc5f7aba9cc354dc3" /><Relationship Type="http://schemas.openxmlformats.org/officeDocument/2006/relationships/slide" Target="/ppt/slides/slide40.xml" Id="R025f6cfed3464ed6" /><Relationship Type="http://schemas.openxmlformats.org/officeDocument/2006/relationships/slide" Target="/ppt/slides/slide41.xml" Id="Rb693a30795b24b40" /><Relationship Type="http://schemas.openxmlformats.org/officeDocument/2006/relationships/slide" Target="/ppt/slides/slide42.xml" Id="R27ced10388ce4b73" /><Relationship Type="http://schemas.openxmlformats.org/officeDocument/2006/relationships/slide" Target="/ppt/slides/slide43.xml" Id="R1e0ef20b8f254acb" /><Relationship Type="http://schemas.openxmlformats.org/officeDocument/2006/relationships/slide" Target="/ppt/slides/slide44.xml" Id="Rfa4ed1246fc9495e" /><Relationship Type="http://schemas.openxmlformats.org/officeDocument/2006/relationships/slide" Target="/ppt/slides/slide45.xml" Id="R4ae85175d0344b39" /><Relationship Type="http://schemas.openxmlformats.org/officeDocument/2006/relationships/slide" Target="/ppt/slides/slide46.xml" Id="Re9bb92a46e874fca" /><Relationship Type="http://schemas.openxmlformats.org/officeDocument/2006/relationships/slide" Target="/ppt/slides/slide47.xml" Id="R89f3327561d4469b" /><Relationship Type="http://schemas.openxmlformats.org/officeDocument/2006/relationships/slide" Target="/ppt/slides/slide48.xml" Id="R29ddf3a860304161" /><Relationship Type="http://schemas.openxmlformats.org/officeDocument/2006/relationships/slide" Target="/ppt/slides/slide49.xml" Id="R098504eb5bc1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79e88ee35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2c589a8404a97" /><Relationship Type="http://schemas.openxmlformats.org/officeDocument/2006/relationships/notesMaster" Target="/ppt/notesMasters/notesMaster1.xml" Id="R308e2d5eb2aa4e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91b2f4a0dc4919" /><Relationship Type="http://schemas.openxmlformats.org/officeDocument/2006/relationships/notesMaster" Target="/ppt/notesMasters/notesMaster1.xml" Id="R3246b7b977d6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38cee6ca9e4e25" /><Relationship Type="http://schemas.openxmlformats.org/officeDocument/2006/relationships/notesMaster" Target="/ppt/notesMasters/notesMaster1.xml" Id="R2c4b10b746c241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0fe22bc7014620" /><Relationship Type="http://schemas.openxmlformats.org/officeDocument/2006/relationships/notesMaster" Target="/ppt/notesMasters/notesMaster1.xml" Id="Rc29a84083c1147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698e6d3f346e4" /><Relationship Type="http://schemas.openxmlformats.org/officeDocument/2006/relationships/notesMaster" Target="/ppt/notesMasters/notesMaster1.xml" Id="R03c3724e94f146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06e6ca4b2d4582" /><Relationship Type="http://schemas.openxmlformats.org/officeDocument/2006/relationships/notesMaster" Target="/ppt/notesMasters/notesMaster1.xml" Id="R3c14aa2154b9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29a085f484fdc" /><Relationship Type="http://schemas.openxmlformats.org/officeDocument/2006/relationships/notesMaster" Target="/ppt/notesMasters/notesMaster1.xml" Id="Re27fb11e4f0d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5eca0adaf420a" /><Relationship Type="http://schemas.openxmlformats.org/officeDocument/2006/relationships/notesMaster" Target="/ppt/notesMasters/notesMaster1.xml" Id="Ra40cf29d84d644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8b361f71e6420b" /><Relationship Type="http://schemas.openxmlformats.org/officeDocument/2006/relationships/notesMaster" Target="/ppt/notesMasters/notesMaster1.xml" Id="Re7e4d2a28f3241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83396a445d458e" /><Relationship Type="http://schemas.openxmlformats.org/officeDocument/2006/relationships/notesMaster" Target="/ppt/notesMasters/notesMaster1.xml" Id="R75998711c37348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0cb1a65d8e4a70" /><Relationship Type="http://schemas.openxmlformats.org/officeDocument/2006/relationships/notesMaster" Target="/ppt/notesMasters/notesMaster1.xml" Id="R2dbc4c35cf3846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65da1a9c3141de" /><Relationship Type="http://schemas.openxmlformats.org/officeDocument/2006/relationships/notesMaster" Target="/ppt/notesMasters/notesMaster1.xml" Id="Rd8feb5d0b6d043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888d96c8b149b6" /><Relationship Type="http://schemas.openxmlformats.org/officeDocument/2006/relationships/notesMaster" Target="/ppt/notesMasters/notesMaster1.xml" Id="R793563f93edb4b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8f3ea93a4340d7" /><Relationship Type="http://schemas.openxmlformats.org/officeDocument/2006/relationships/notesMaster" Target="/ppt/notesMasters/notesMaster1.xml" Id="R6e2fc2c615da49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6f3a7e261b4b14" /><Relationship Type="http://schemas.openxmlformats.org/officeDocument/2006/relationships/notesMaster" Target="/ppt/notesMasters/notesMaster1.xml" Id="R62b456944c8646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a93bebfb80459c" /><Relationship Type="http://schemas.openxmlformats.org/officeDocument/2006/relationships/notesMaster" Target="/ppt/notesMasters/notesMaster1.xml" Id="Rdc7c4367444446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6df1c0cfcb4423" /><Relationship Type="http://schemas.openxmlformats.org/officeDocument/2006/relationships/notesMaster" Target="/ppt/notesMasters/notesMaster1.xml" Id="R2f70ef4200d641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86b3a05c9a42f9" /><Relationship Type="http://schemas.openxmlformats.org/officeDocument/2006/relationships/notesMaster" Target="/ppt/notesMasters/notesMaster1.xml" Id="R16e4018a87a145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7b1a67a58a4269" /><Relationship Type="http://schemas.openxmlformats.org/officeDocument/2006/relationships/notesMaster" Target="/ppt/notesMasters/notesMaster1.xml" Id="Re5a2f54c8a2543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3307e1b1bb4183" /><Relationship Type="http://schemas.openxmlformats.org/officeDocument/2006/relationships/notesMaster" Target="/ppt/notesMasters/notesMaster1.xml" Id="Rcea569c609704b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e9f1b1589443a0" /><Relationship Type="http://schemas.openxmlformats.org/officeDocument/2006/relationships/notesMaster" Target="/ppt/notesMasters/notesMaster1.xml" Id="R3ac0224847c44f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e8ce78a1374ad1" /><Relationship Type="http://schemas.openxmlformats.org/officeDocument/2006/relationships/notesMaster" Target="/ppt/notesMasters/notesMaster1.xml" Id="R5eec9e2cdc3948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1e3147bbbc4c9d" /><Relationship Type="http://schemas.openxmlformats.org/officeDocument/2006/relationships/notesMaster" Target="/ppt/notesMasters/notesMaster1.xml" Id="R663e29bbaef94f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ed729d34a74f51" /><Relationship Type="http://schemas.openxmlformats.org/officeDocument/2006/relationships/notesMaster" Target="/ppt/notesMasters/notesMaster1.xml" Id="Rd9b0e420b48940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67bf23b10c43c5" /><Relationship Type="http://schemas.openxmlformats.org/officeDocument/2006/relationships/notesMaster" Target="/ppt/notesMasters/notesMaster1.xml" Id="Rd97caa4491974b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48efa737894955" /><Relationship Type="http://schemas.openxmlformats.org/officeDocument/2006/relationships/notesMaster" Target="/ppt/notesMasters/notesMaster1.xml" Id="Rd34e9d67c54047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dfa4a8702540e4" /><Relationship Type="http://schemas.openxmlformats.org/officeDocument/2006/relationships/notesMaster" Target="/ppt/notesMasters/notesMaster1.xml" Id="R029f866f1aa248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01d0f203ec548d2" /><Relationship Type="http://schemas.openxmlformats.org/officeDocument/2006/relationships/notesMaster" Target="/ppt/notesMasters/notesMaster1.xml" Id="Rcf5c01229b804d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2b403acabb4680" /><Relationship Type="http://schemas.openxmlformats.org/officeDocument/2006/relationships/notesMaster" Target="/ppt/notesMasters/notesMaster1.xml" Id="Rf45d37a036e34f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add1013371478e" /><Relationship Type="http://schemas.openxmlformats.org/officeDocument/2006/relationships/notesMaster" Target="/ppt/notesMasters/notesMaster1.xml" Id="Re830543c0d4145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a731e94214a4005" /><Relationship Type="http://schemas.openxmlformats.org/officeDocument/2006/relationships/notesMaster" Target="/ppt/notesMasters/notesMaster1.xml" Id="Re75f8938f625463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489521c1bc4604" /><Relationship Type="http://schemas.openxmlformats.org/officeDocument/2006/relationships/notesMaster" Target="/ppt/notesMasters/notesMaster1.xml" Id="R87d97a482fa447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c6ddb0273a465b" /><Relationship Type="http://schemas.openxmlformats.org/officeDocument/2006/relationships/notesMaster" Target="/ppt/notesMasters/notesMaster1.xml" Id="R937cf39b18e047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93de91ff17f48a2" /><Relationship Type="http://schemas.openxmlformats.org/officeDocument/2006/relationships/notesMaster" Target="/ppt/notesMasters/notesMaster1.xml" Id="Rd9fd5fe16aa44e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8ec1f815d084266" /><Relationship Type="http://schemas.openxmlformats.org/officeDocument/2006/relationships/notesMaster" Target="/ppt/notesMasters/notesMaster1.xml" Id="Rb16591fb2f7b4fb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0620af2ba44a7d" /><Relationship Type="http://schemas.openxmlformats.org/officeDocument/2006/relationships/notesMaster" Target="/ppt/notesMasters/notesMaster1.xml" Id="R7b56521914904fe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0a7905bb2104714" /><Relationship Type="http://schemas.openxmlformats.org/officeDocument/2006/relationships/notesMaster" Target="/ppt/notesMasters/notesMaster1.xml" Id="R00534da2307b4fc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20666cb9b848fc" /><Relationship Type="http://schemas.openxmlformats.org/officeDocument/2006/relationships/notesMaster" Target="/ppt/notesMasters/notesMaster1.xml" Id="R19ad6bb5ce3a487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5c8243f9ab4d76" /><Relationship Type="http://schemas.openxmlformats.org/officeDocument/2006/relationships/notesMaster" Target="/ppt/notesMasters/notesMaster1.xml" Id="Rcd3171dc4f03487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d6bdc6fdc4d4376" /><Relationship Type="http://schemas.openxmlformats.org/officeDocument/2006/relationships/notesMaster" Target="/ppt/notesMasters/notesMaster1.xml" Id="R5b83326780aa470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a61e4d2d8fc405a" /><Relationship Type="http://schemas.openxmlformats.org/officeDocument/2006/relationships/notesMaster" Target="/ppt/notesMasters/notesMaster1.xml" Id="R6462f9f3557f410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23984b2d3af4d3e" /><Relationship Type="http://schemas.openxmlformats.org/officeDocument/2006/relationships/notesMaster" Target="/ppt/notesMasters/notesMaster1.xml" Id="Rd2f421f0d2c64e0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e51f8f544d54c1b" /><Relationship Type="http://schemas.openxmlformats.org/officeDocument/2006/relationships/notesMaster" Target="/ppt/notesMasters/notesMaster1.xml" Id="Re856c8d071624a4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c506152313e420e" /><Relationship Type="http://schemas.openxmlformats.org/officeDocument/2006/relationships/notesMaster" Target="/ppt/notesMasters/notesMaster1.xml" Id="Ra151f70de0f7439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1c6ce1a7eee4138" /><Relationship Type="http://schemas.openxmlformats.org/officeDocument/2006/relationships/notesMaster" Target="/ppt/notesMasters/notesMaster1.xml" Id="Rd517cdf61ad247d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413d0a8768f4653" /><Relationship Type="http://schemas.openxmlformats.org/officeDocument/2006/relationships/notesMaster" Target="/ppt/notesMasters/notesMaster1.xml" Id="R9f1a835f5126475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2894f57343f4f32" /><Relationship Type="http://schemas.openxmlformats.org/officeDocument/2006/relationships/notesMaster" Target="/ppt/notesMasters/notesMaster1.xml" Id="R1a503fe20d1e4ca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8fc0dc771d547de" /><Relationship Type="http://schemas.openxmlformats.org/officeDocument/2006/relationships/notesMaster" Target="/ppt/notesMasters/notesMaster1.xml" Id="R5620854c2580470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e70eb0befa14bf1" /><Relationship Type="http://schemas.openxmlformats.org/officeDocument/2006/relationships/notesMaster" Target="/ppt/notesMasters/notesMaster1.xml" Id="Raeacd7927475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以线虫为可重复的受限主动集体试验场，目标是理解驱动方式与几何条件怎样选择集体重排路径、稳定性和可达构型。今天不按全部发育阶段平均分配篇幅，而选择三类物理条件作比较。画面提供胚胎形态发生的直观背景，后面分别讨论受限堆积、定向基底推进以及周期负载与结构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封面为原始 DIC 影片，不是模型模拟。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9；影像 E. Cox，Pettitt 等（2003）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https://uwmadison.box.com/index.php?rm=box_download_shared_file&amp;shared_name=72fh2l6x9ss84qxuss6qx1n3pnlfdtw3&amp;file_id=f_2149903324703</a:t>
            </a:r>
          </a:p>
          <a:p xmlns:a="http://schemas.openxmlformats.org/drawingml/2006/main">
            <a:r>
              <a:t>野生型胚胎的侧面 DIC 影像，前端在左，原始采样间隔为 60 s。前半段适合观察身体变细、轴向变长；影片还延续到后期，出现弯曲后，应沿身体轮廓追踪长度。</a:t>
            </a:r>
          </a:p>
          <a:p xmlns:a="http://schemas.openxmlformats.org/drawingml/2006/main">
            <a:r>
              <a:t>嵌入 GIF：67 帧，约 10.72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里直接给出研究定位。选择线虫过程的原因，是它提供了可以辨认和比较的特殊驱动与几何约束，而不是因为要把发育过程逐章综述。构型包括细胞位置、形状和接触网络；必要时还要保留顶底差异与内部材料状态。重排关心路径与协同性，稳定性关心给定条件下的扰动响应，可达性则还依赖初态、驱动协议和观察时间。一个构型可以稳定却从当前初态到不了，也可以作为短暂状态被访问。普遍性要通过跨条件甚至跨体系预测来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https://li-fancheng.github.io/notes/celegans/embryonic_morphogenesis/active_matter_packing_topology/</a:t>
            </a:r>
          </a:p>
          <a:p xmlns:a="http://schemas.openxmlformats.org/drawingml/2006/main">
            <a:r>
              <a:t>https://li-fancheng.github.io/notes/vertex_model/morphogenesis/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用户给出的研究主线在此完整保留。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个案例围绕不同的控制条件。第一类利用卵壳、接触差异和分裂形成的几何条件，研究哪些排列稳定，以及细胞怎样在邻居让位中进入内部。第二类利用基底外侧的定向推进，研究同样的活动量放在不同位置、方向或时间上，会不会选择不同邻居交换路径。第三类利用周期肌肉输入和方向性骨架，研究循环加载能否通过内部状态更新保留新形状。它们为共同物理机制提供比较，而不是预设可以用一个完全相同的细胞模型解释所有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此表是基于本地笔记的研究选题框架，不是新增实验结果。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建议用时：1.6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用 X 概括位置、形状和邻接，g 表示边界几何，m 表示连接或参考状态等内部变量。方程是示意性的过阻尼结构，约束可以通过允许坐标、投影或约束力实现。固定 m 的被动平衡附近，可用 Hessian 的非平凡模态判断局部能量稳定；它不能独自决定有限幅度路径上的能垒。对非保守主动运动或周期驱动，应沿实际轨道检验扰动的增长，不能只看某一帧 Hessian。有限时间可达又包含初态、协议与噪声或个体差异。后面用这四个判断分开看每个案例，避免从出现某个形状直接推断它是最低能态，或从一个稳定态推断它一定可达。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/Users/ldepression/Desktop/Li-Fancheng.github.io/notes/vertex_model/rigidity/body.md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https://li-fancheng.github.io/notes/vertex_model/linear_response/</a:t>
            </a:r>
          </a:p>
          <a:p xmlns:a="http://schemas.openxmlformats.org/drawingml/2006/main">
            <a:r>
              <a:t>https://li-fancheng.github.io/notes/vertex_model/rearrangements/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统一方程与周期稳定性的操作性定义是研究框架。未假定全部主动作用都来自同一个有效能量。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先看图中的对应关系：实验给出膜轮廓、细胞谱系和卵壳，模型把这些条件落实为分裂规则和可变界面。球模型保留中心与大小，适合排列与受限堆积。顶点模型保留共享边和顶点，适合连续铺砌中的形状和邻接。相场保留连续轮廓场，便于三维接触与大形变。它们不是精细程度的简单排名，关键是所问机制需要哪些自由度。Kuang 图中的早期阶段是模型建立与检验，不是 Ea/Ep 内移的直接模拟。相同能量形式也不保证相同允许运动空间。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https://doi.org/10.1371/journal.pcbi.1009755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成像、分裂谱系、卵壳与三维相场表示的对应</a:t>
            </a:r>
          </a:p>
          <a:p xmlns:a="http://schemas.openxmlformats.org/drawingml/2006/main">
            <a:r>
              <a:t>/Users/ldepression/Desktop/Li-Fancheng.github.io/notes/celegans/embryonic_morphogenesis/figures/kuang2022_fig1.png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这是受限集体的基线。作者用可排斥球体表示细胞，使用实测分裂时序和方向，并把细胞放在椭球卵壳内。图 A/B 比较实验胚胎，C/D 比较实验和模型。模型描述的是给定分裂信息后、约至十二细胞阶段的运动和排列。由此不能推出后续内移只需排斥，模型里还没有独立的顶面或 actomyosin。对于可达构型，边界和分裂历史既决定空间，也决定体系从哪一个初态开始下一次松弛。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https://doi.org/10.1016/j.bpj.2013.09.005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早期胚胎细胞轨迹、胚胎间差异和球模型对照</a:t>
            </a:r>
          </a:p>
          <a:p xmlns:a="http://schemas.openxmlformats.org/drawingml/2006/main">
            <a:r>
              <a:t>/Users/ldepression/Desktop/Li-Fancheng.github.io/notes/celegans/embryonic_morphogenesis/figures/fick2013_fig3.jpg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这是几何选择的起点。左上为四细胞界面随细胞周期变化的成像，不是改变卵壳长宽比的一组实验照片。左下和右侧是 Yamamoto 与 Kimura 的模型壳形扫描。细胞对的相互作用并不相同，EMS–P2 与其他接触采用不同有效稳定距离；这使模型可以在较宽壳形范围保留 diamond，也得到仅排斥模型遗漏的 T 形排列。物理问题是边界和作用差异怎样共同改变可行排列、稳定范围与到达概率。模型中的构型占比还依赖初态和分裂协议，不能直接叫作平衡相图。由此可建立跨壳形预测，而不只在正常卵壳里复现一次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Yamamoto &amp; Kimura (2017), https://doi.org/10.1242/dev.154609</a:t>
            </a:r>
          </a:p>
          <a:p xmlns:a="http://schemas.openxmlformats.org/drawingml/2006/main">
            <a:r>
              <a:t>Yamamoto et al. (2026), https://doi.org/10.1016/j.devcel.2026.04.013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上方裁取 2026 Fig. 5E 的实验行，下方与右侧分别是 2017 Fig. 5B/C 模型结果。不同来源、实验与模拟均明确标注。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上一页中的稳定中心距是有效参数，不能直接当作某种黏附蛋白的数量。相同接触角约束张力比，但不提供绝对尺度。本研究结合 AFM、成像和张力反演给出独立校准，A 为时间依赖张力，B/C 对照模型与实测界面长度、接触角。ABa、ABp、EMS 的紧密结合可与自由表面张力变化相关，P2 初期外凸则涉及接触界面的张力。研究模型因此要分别保留自由表面与接触面，才能区分是哪一个界面在变。这里展示的是该论文的校准与预测验证，不是我们对同一数据的新拟合。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https://doi.org/10.1016/j.devcel.2026.04.013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校准后的界面张力时序及界面长度和接触角的模型实验对照</a:t>
            </a:r>
          </a:p>
          <a:p xmlns:a="http://schemas.openxmlformats.org/drawingml/2006/main">
            <a:r>
              <a:t>/tmp/celegans_extended50/assets/yamamoto-calibration.png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个网络节点位置相同，弹簧数不同。正方形只有四条边时，除去两个平移和一个转动，仍有一个内部一阶零模。加一条对角线后该模消失，再加一条形成自应力态。交叉处没有额外节点，计数包含刚体模态。这个无预应力中心力网络说明接触数量、独立约束和当前受力需要分开。真实细胞界面还有面积、周长、弯曲等作用，不能把细胞邻居数直接代入弹簧计数。与线虫问题的联系是：被邻居包围的细胞，仍可能通过集体让位沿软方向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/Users/ldepression/Desktop/Li-Fancheng.github.io/notes/vertex_model/rigidity/body.md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无预应力弹簧网络算例，非细胞邻居数判据</a:t>
            </a:r>
          </a:p>
          <a:p xmlns:a="http://schemas.openxmlformats.org/drawingml/2006/main">
            <a:r>
              <a:t>相同四节点位置、四条五条六条连接下的零模和自应力计数</a:t>
            </a:r>
          </a:p>
          <a:p xmlns:a="http://schemas.openxmlformats.org/drawingml/2006/main">
            <a:r>
              <a:t>/Users/ldepression/Desktop/Li-Fancheng.github.io/notes/celegans/embryonic_morphogenesis/figures/20_packing_rigidity.png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左侧绿色区域表示在腹侧投影中仍外露的顶面，右侧示意补足深度。约二十六到二十八细胞阶段，Ea/Ep 开始内移，但大部分体积已经位于内部时仍可能留有外露顶面。顶面面积减少、内移深度增加、邻居最后覆盖开口，是不同的事件。二维面积还受表面倾斜影响。研究构型时，应把细胞位置、接触和外表面的几何一起定义，而不能把细胞从焦平面消失直接当作内移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https://doi.org/10.1534/genetics.119.300240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Ea/Ep 顶面显微时间序列及对应的侧面三维示意</a:t>
            </a:r>
          </a:p>
          <a:p xmlns:a="http://schemas.openxmlformats.org/drawingml/2006/main">
            <a:r>
              <a:t>/Users/ldepression/Desktop/Li-Fancheng.github.io/notes/celegans/embryonic_morphogenesis/figures/goldstein2020_fig3.jpg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左侧原始内移影像展示细胞从表面进入内部。右侧沿内移坐标 q 的双势阱只是候选地形，帮助区分内部状态更有利与当前状态是否已经失稳。细胞数、尺寸及壳形可改变周围排列的代价，局部驱动则偏置路径。即使内侧谷更低，中间仍可能有能垒，外侧状态仍局部稳定。足够驱动也可能使外侧谷与鞍点相遇，但图中临界数只由选定多项式产生，不能解释成线虫阈值。Miao 的受限堆积路线属于预印本和机制候选，Ea/Ep 的直接实验还要求考虑 actomyosin 与传力。下一页把几何松弛和有效驱动分开。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Roh-Johnson et al. (2012), https://doi.org/10.1126/science.1217869</a:t>
            </a:r>
          </a:p>
          <a:p xmlns:a="http://schemas.openxmlformats.org/drawingml/2006/main">
            <a:r>
              <a:t>Miao et al. (2021/2022), preprint, https://arxiv.org/abs/2105.05795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右侧裁取笔记 25_worm_ingression.png A。U/E₀=(x²−1)²/4−fx，曲线是简化算例，未拟合胚胎。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Bob Goldstein，UNC Chapel Hill；NIGMS 影片 3334，相关研究 Roh-Johnson 等（2012）</a:t>
            </a:r>
          </a:p>
          <a:p xmlns:a="http://schemas.openxmlformats.org/drawingml/2006/main">
            <a:r>
              <a:t>https://nigms.nih.gov/image-gallery/3334</a:t>
            </a:r>
          </a:p>
          <a:p xmlns:a="http://schemas.openxmlformats.org/drawingml/2006/main">
            <a:r>
              <a:t>https://nigms.nih.gov/sites/nigms/files/image-and-video-gallery/Four_timepoints_in_gastrulation.mp4</a:t>
            </a:r>
          </a:p>
          <a:p xmlns:a="http://schemas.openxmlformats.org/drawingml/2006/main">
            <a:r>
              <a:t>绿色为 myosin，红色为细胞膜，蓝色伪彩标出内移细胞。留意顶面轮廓怎样缩小、邻居怎样覆盖原来的位置；蓝色标注用于定位细胞，不是另一种分子信号。</a:t>
            </a:r>
          </a:p>
          <a:p xmlns:a="http://schemas.openxmlformats.org/drawingml/2006/main">
            <a:r>
              <a:t>嵌入 GIF：143 帧，约 22.88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G 的早晚时间序列和 H 的矢量图把 myosin 运动与接触边界运动放在同一空间和时间中比较。绿色是 myosin，红色是边界。早期网络已向内移动而边界跟随较少，晚期跟随增强。I 汇总相对滑移的早晚差异。光流是纹理运动估计，不等于直接测量分子流速或力。同步的边界与网络运动，使传力耦合成为比总荧光更直接的机制问题。滑移减小还需同时检查两种速度，避免把两者一起减慢误读为耦合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https://doi.org/10.1126/science.1217869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早晚阶段 myosin 和膜边界的时间序列、运动矢量和滑移汇总</a:t>
            </a:r>
          </a:p>
          <a:p xmlns:a="http://schemas.openxmlformats.org/drawingml/2006/main">
            <a:r>
              <a:t>/tmp/celegans_extended50/assets/roh-GHI.png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比较 myosin 向心速度，B 比较膜边界速度，C 比较早晚阶段相对滑移。ZYX-1 缺失没有使 myosin 向心运动完全消失，却削弱正常发育中边界越来越充分跟随的变化。大点表示胚胎或重复均值，小点为局部测量，不能把所有小点都作为独立胚胎。AFD-1 与 ZYX-1 最终都可影响内移，动力学却不完全相同。这说明一个终态表型可以由不同机制产生，需要共同测量网络、边界和邻居。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https://doi.org/10.1371/journal.pgen.1010319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Myosin 向心速度与膜边界向心速度的条件比较</a:t>
            </a:r>
          </a:p>
          <a:p xmlns:a="http://schemas.openxmlformats.org/drawingml/2006/main">
            <a:r>
              <a:t>/tmp/celegans_extended50/assets/zyxin-AB.png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建议用时：0.8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接着上一页，按胚胎或重复配对读取早期 E 与晚期 L。Control 中相对滑移随阶段下降，ZYX-1 缺失削弱这项变化。AFD-1 干预的早晚差异仍存在，说明相近的内移受阻表型不一定来自同一种耦合缺陷。大点和连接线帮助辨认重复层面的配对，小点为局部测量，不是每一个点都代表独立胚胎。网络流、边界速度和相对滑移要联合比较，不能仅凭滑移降低便断言驱动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https://doi.org/10.1371/journal.pgen.1010319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不同遗传条件下早晚阶段相对滑移，保留局部测量及重复均值配对</a:t>
            </a:r>
          </a:p>
          <a:p xmlns:a="http://schemas.openxmlformats.org/drawingml/2006/main">
            <a:r>
              <a:t>/tmp/celegans_extended50/assets/zyxin-C.png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图把马达的负载变慢与边界阻力同时保留：F=ξ(vc-vj)，ζvj=F，vc=v0(1-F/Fs)。耦合增强时滑移下降、边界速度增加，马达网络本身也会因负载而减速。右图使用相同施加的皮层脉冲，只改变传动比例，顶面面积出现不同累计变化。这是简化示范，尚未模拟连接分子随机结合与脱落。它将主动输入和有效驱动区分，为后面改变几何负载提供同一语言。与上一页实验相对应的是两类速度的联合变化，不是从曲线直接反演唯一分子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解析简化算例，未拟合胚胎</a:t>
            </a:r>
          </a:p>
          <a:p xmlns:a="http://schemas.openxmlformats.org/drawingml/2006/main">
            <a:r>
              <a:t>马达负载边界速度相对滑移与相同皮层脉冲下顶面面积的解析比较</a:t>
            </a:r>
          </a:p>
          <a:p xmlns:a="http://schemas.openxmlformats.org/drawingml/2006/main">
            <a:r>
              <a:t>/Users/ldepression/Desktop/Li-Fancheng.github.io/notes/celegans/embryonic_morphogenesis/figures/08_clutch_model.png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局部位移 q 会牵动邻居 y。排除刚体模式并假设邻居刚度子块正定后，允许邻居松弛会给出 Schur 补形式的有效刚度，它不高于冻结邻居时的刚度。因此集体软模式可能降低局部形变代价，但小形变刚度并不直接等于整条路径能垒。右图又说明同样马达活动经过不同耦合，传到边界的驱动不同，甚至可能无法克服反向负载。这将一个受困细胞能否移动分成几何代价、集体松弛和传力三个层次。可检验的输出包括邻居位移模式、边界与皮层相对速度，以及改变分裂时序或耦合后的首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Slabodnick et al. (2023), https://doi.org/10.1371/journal.pgen.1010319</a:t>
            </a:r>
          </a:p>
          <a:p xmlns:a="http://schemas.openxmlformats.org/drawingml/2006/main">
            <a:r>
              <a:t>https://li-fancheng.github.io/notes/vertex_model/linear_response/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裁取笔记 25_worm_ingression.png B/C，均为无量纲简化算例，不是实验数据。局部 Schur 补关系需要邻居子块正定及一致约束。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这是同一胚胎中不同驱动来源的对照。作者分别处理邻近 D 或 E 谱系，并比较内胚层命运受损条件。对 E 的干预更明显妨碍 PGC 内移，结合 HMR-1 依赖接触，支持生殖细胞随内胚层运动进入内部的 hitchhiking 机制。搭便车不意味着 PGC 完全没有主动调控，它仍要建立并维持能够传递运动的黏附。对于物理模型，这提示应区分产力细胞、被带动细胞及两者的耦合，不应给每个内移细胞都设置相同自主收缩。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https://doi.org/10.1242/dev.079863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不同邻近谱系处理和内胚层命运干预下的生殖细胞内移</a:t>
            </a:r>
          </a:p>
          <a:p xmlns:a="http://schemas.openxmlformats.org/drawingml/2006/main">
            <a:r>
              <a:t>/Users/ldepression/Desktop/Li-Fancheng.github.io/notes/celegans/embryonic_morphogenesis/figures/chihara2012_fig2.jpg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 DIC 显示背侧细胞逐渐相互插入，右侧实验把突出定位到基底外侧。这个过程的特殊性在于驱动具有明确的高度和极性，而邻居更新却常从顶面轮廓读取。研究问题因此是：在相近输入做功或位移尺度下，将活动施加在不同位置和方向，是否会改变哪个邻居先交换、路径是否逆转和最终接触图。实验已经支持基底突出对过程的重要性，跨驱动协议的比较则是这里提出的研究方案。不能把所有活动简单替换成各向同性随机力，也不能从最终 T1 推断旧边必然主动收缩。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Walck-Shannon et al. (2015), https://doi.org/10.1242/dev.127597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DIC 与 Fig. 1B/C 为原始实验。输入做功匹配和不同驱动协议比较属于研究设想。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2；影像 E. Williams-Masson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https://uwmadison.box.com/index.php?rm=box_download_shared_file&amp;shared_name=haqk54pdl7e9ut5qo26n7f9mem02yzsj&amp;file_id=f_2149902455545</a:t>
            </a:r>
          </a:p>
          <a:p xmlns:a="http://schemas.openxmlformats.org/drawingml/2006/main">
            <a:r>
              <a:t>野生型胚胎的背侧 DIC 影像，前端在左，原始采样间隔为 30 s。细胞先形成楔形，随后左右交错，逐渐排成横跨中线的一列。可以先追踪尖端，再比较细胞主体何时跟上。</a:t>
            </a:r>
          </a:p>
          <a:p xmlns:a="http://schemas.openxmlformats.org/drawingml/2006/main">
            <a:r>
              <a:t>嵌入 GIF：96 帧，约 15.36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图 A 显示细胞轮廓，B 是尖端相对质心的角度分布，C 是长宽比。晚期母源 CDC-42 丧失条件同时影响这些量，但它们报告的是不同几何信息。比较野生型和突变条件时，不能只报告移动速度或一个活动强度。细胞已经伸长仍可朝向错误邻居。对背侧插入，可独立考虑推进能力、方向集中程度与穿过邻居的机械代价。这里图中是已有实验，跨驱动位置与方向的输入匹配比较则仍是后续研究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https://doi.org/10.1371/journal.pgen.1006415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WT 背侧细胞轮廓及尖端至质心方向，保留比例尺</a:t>
            </a:r>
          </a:p>
          <a:p xmlns:a="http://schemas.openxmlformats.org/drawingml/2006/main">
            <a:r>
              <a:t>/tmp/celegans_extended50/assets/polarity-WT.png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CDC-42 受损细胞轮廓及尖端方向，保留比例尺</a:t>
            </a:r>
          </a:p>
          <a:p xmlns:a="http://schemas.openxmlformats.org/drawingml/2006/main">
            <a:r>
              <a:t>/tmp/celegans_extended50/assets/polarity-mutant.png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WT 与 CDC-42 受损的尖端角度分布</a:t>
            </a:r>
          </a:p>
          <a:p xmlns:a="http://schemas.openxmlformats.org/drawingml/2006/main">
            <a:r>
              <a:t>/tmp/celegans_extended50/assets/polarity-B.png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WT 与 CDC-42 受损细胞长宽比</a:t>
            </a:r>
          </a:p>
          <a:p xmlns:a="http://schemas.openxmlformats.org/drawingml/2006/main">
            <a:r>
              <a:t>/tmp/celegans_extended50/assets/polarity-C.png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的时间序列显示活性 CDC-42 相关报告信号在内侧前缘富集。这个 WSP-1 GBD 探针报告活性相关状态，并非总 CDC-42 数量。C 在相同实验体系中比较内侧富集。极性为模型提供目标方向，但荧光富集本身不等于力大小。可进一步用相对内侧方向的平均角度与集中程度，分别检验方向是否正确和是否稳定。左右两侧都应以各自内侧为零方向，避免把正常相向推进误判为反向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https://doi.org/10.1371/journal.pgen.1006415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活性 CDC-42 相关探针在背侧插入前缘的时间序列</a:t>
            </a:r>
          </a:p>
          <a:p xmlns:a="http://schemas.openxmlformats.org/drawingml/2006/main">
            <a:r>
              <a:t>/tmp/celegans_extended50/assets/cue-A.png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图用接触图记录四细胞邻居交换。旧接触 A-B 消失，新接触 C-D 出现。真实铺砌中 A/B 各少一条边，C/D 各多一条边，但总细胞数不变。图中的连线是接触关系，不代表细胞轮廓。在线虫实验中，应区分不同高度的接触变化、真正邻居交换、细胞融合和分裂。一个 T1 算法规定短边何时删除和新边怎样生成，它本身不解释为什么旧边会缩短。事件的位置、方向、持续时间与是否逆转，都能检验驱动机制。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接触图示意，非细胞形状或实验数据</a:t>
            </a:r>
          </a:p>
          <a:p xmlns:a="http://schemas.openxmlformats.org/drawingml/2006/main">
            <a:r>
              <a:t>A-B 旧接触消失、C-D 新接触形成的拓扑变化</a:t>
            </a:r>
          </a:p>
          <a:p xmlns:a="http://schemas.openxmlformats.org/drawingml/2006/main">
            <a:r>
              <a:t>/Users/ldepression/Desktop/Li-Fancheng.github.io/notes/celegans/embryonic_morphogenesis/figures/22_t1_topology.png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蓝点是独立顶点，黑线是共享交界。移动一个顶点会同时改变多个细胞的面积和周长，计算受力必须把所有相邻细胞的贡献相加。右侧是常用面积与周长偏好项，并允许额外界面作用。目标面积和目标周长是模型中的偏好，并不保证铺满空间后都能同时达到。有效界面参数也不能唯一对应某一种蛋白浓度。有自由边界或不同接触类型时，不能无条件把全部边长项并入同一个目标周长。动力学还要指定摩擦和主动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https://doi.org/10.1371/journal.pcbi.1005569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顶点、共享界面与相邻多边形细胞的几何定义</a:t>
            </a:r>
          </a:p>
          <a:p xmlns:a="http://schemas.openxmlformats.org/drawingml/2006/main">
            <a:r>
              <a:t>/Users/ldepression/Desktop/Li-Fancheng.github.io/notes/vertex_model/foundations/figures/barton2017_fig01.png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这个算例把四个细胞的轮廓与能量放在同一条路径上，q 为有符号的交界长度。能量来自实际多边形的面积、周长和额外旧边张力，不是预先规定双势阱。改变旧边张力会改变保守地形和到共同顶点的势垒。但这条固定外框、对称路径只是候选路径，允许更多邻居松弛或增加其他自由度后，最低路径可能不同。还要把这种保守线张力与实际基底推进区分：一般非保守驱动不能全部装进静态 E，做功取决于路径和协议。研究应同时比较事件的空间方向、旧边长度、新边方向以及首次通过时间，检验结构化驱动怎样选择通道。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Farhadifar et al. (2007), https://doi.org/10.1016/j.cub.2007.11.049</a:t>
            </a:r>
          </a:p>
          <a:p xmlns:a="http://schemas.openxmlformats.org/drawingml/2006/main">
            <a:r>
              <a:t>Bi et al. (2015), https://doi.org/10.1038/nphys3471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笔记 30_four_cell_rearrangement.png，固定外框 [-1,1]²，A₀=1、P₀=3.8、K_A=1、K_P=.5。只改变 Λ_AB，不把它当作实际基底突出力的完整模型。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按列读取时间，按行比较耦合。绿色为基底，紫红为顶端，灰色是固定邻居。两行使用相同定向基底输运，只改变顶底耦合 0.1 与 0.8。弱耦合时基底能先进入狭窄通道，顶端留在后方。强耦合使两层更同步，同时增加基底推进所承担的负载。因此慢顶端运动可能来自推进不足，也可能来自顶底解耦。模型未拟合胚胎、邻居固定、层间没有显式侧壁；下一页讨论二维投影未包含的真实几何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双层相场无量纲算例，非顶点模型的实验验证</a:t>
            </a:r>
          </a:p>
          <a:p xmlns:a="http://schemas.openxmlformats.org/drawingml/2006/main">
            <a:r>
              <a:t>相同基底驱动与固定邻居条件下，弱强顶底耦合的完整时间序列</a:t>
            </a:r>
          </a:p>
          <a:p xmlns:a="http://schemas.openxmlformats.org/drawingml/2006/main">
            <a:r>
              <a:t>/Users/ldepression/Desktop/Li-Fancheng.github.io/notes/celegans/embryonic_morphogenesis/figures/29_basal_apical_fields.png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这是非线虫的曲面上皮几何对照，不能称为已在线虫观测到 scutoid。图展示顶端和基底邻接可不同，厚度内也可发生接触变化。前页双层投影允许很大错位，但真实侧壁、体积和接触必须一致。用于线虫时，应在同名细胞中追踪顶底接触，而不是把顶面 T1 直接等同于整颗细胞的三维交换。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https://doi.org/10.1038/s41467-018-05376-1</a:t>
            </a:r>
          </a:p>
          <a:p xmlns:a="http://schemas.openxmlformats.org/drawingml/2006/main">
            <a:r>
              <a:t>三维几何对照，非线虫实测。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这是事件方向影响宏观输出的最小示范，未拟合线虫。两组拥有相同事件数，单个事件幅度相同，但方向分布不同，净塑性应变与应力释放不同。不能从 T1 总数直接推出组织沿指定方向流动或松弛多少。对背侧插入，应同时记录事件方向与身体坐标，并比较它们是否与定向基底活动一致。这里的可推广机制候选是驱动与几何通道的定向耦合，仍需通过输入尺度可比的方向干预来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事件应变的计算示意</a:t>
            </a:r>
          </a:p>
          <a:p xmlns:a="http://schemas.openxmlformats.org/drawingml/2006/main">
            <a:r>
              <a:t>相同事件总数下，方向分布改变净塑性应变和应力释放</a:t>
            </a:r>
          </a:p>
          <a:p xmlns:a="http://schemas.openxmlformats.org/drawingml/2006/main">
            <a:r>
              <a:t>/Users/ldepression/Desktop/Li-Fancheng.github.io/notes/vertex_model/rearrangements/figures/event_strain.svg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上方示意区分背侧、腹侧与左右 seam，并标出表皮驱动和肌肉参与的阶段。下方 actin 成像及放大图比较不同区域的结构。Seam 中网络与背腹表皮逐渐排列的周向束不同，区域之间又机械相连。周向纤维的存在本身不等于该方向的主动收缩力，它也可能主要承担负载。后面依次结合纤维取向、切割响应和封闭几何，区分作用方向与材料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https://doi.org/10.7554/eLife.23866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伸长阶段的表皮区域、表皮和肌肉参与时段以及 actin 区域成像</a:t>
            </a:r>
          </a:p>
          <a:p xmlns:a="http://schemas.openxmlformats.org/drawingml/2006/main">
            <a:r>
              <a:t>/tmp/celegans_extended50/assets/architecture-AD.png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三列分别对应 H1、V3、HYP7。上排给纤维方向分布，下排比较周向附近的信号。图支持不同区域及阶段的 actin 组织差异，但仅凭荧光强度与取向不能确定绝对刚度。交联、长度、密度和承载状态也参与力学响应，因此还要与切割和材料模型对应。纤维的轴线指标把 φ 和 φ+π 视为同向；前缘突起具有推进头尾，应该用极性方向指标。两类取向指标不能混用。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https://doi.org/10.7554/eLife.23866.017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V3 HYP7 的纤维角度分布及周向附近信号统计</a:t>
            </a:r>
          </a:p>
          <a:p xmlns:a="http://schemas.openxmlformats.org/drawingml/2006/main">
            <a:r>
              <a:t>/tmp/celegans_extended50/assets/fibres-AF.png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是 HYP7 背侧表皮沿前后方向的切口，释放主要跨越切口的周向负载。B 是理想弹性平面的开口关系，C 比较 H1 中野生型与 let-502 条件。A 和 C 的细胞区域不同，不能当成逐帧的同一个实验。最终开口主要约束应力与刚度之比，释放时间再约束耗散与刚度之比。真实早期最初回缩不一定充分分辨，较晚阶段还会有修复，因此需明确取样时间窗。方向性材料中的开口也同时依赖应力与刚度各向异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https://doi.org/10.7554/eLife.23866.004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激光切口时间序列、弹性平面开口和 myosin 调控条件下的归一化开口曲线</a:t>
            </a:r>
          </a:p>
          <a:p xmlns:a="http://schemas.openxmlformats.org/drawingml/2006/main">
            <a:r>
              <a:t>/Users/ldepression/Desktop/Li-Fancheng.github.io/notes/celegans/embryonic_morphogenesis/figures/vuong_brender_2017_fig2.jpg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将 HYP7 和 H1 的开口响应放在一起，B/C 在相应材料模型下估计纤维强化和方向性刚度随阶段的变化。图中的刚度比由切割数据与模型共同估计，并非显微镜直接读出的量。它说明应力各向异性和刚度各向异性可以有不同的变化幅度，最终应变取决于二者共同作用。方向性材料的推断依赖切口可比性、局部区域和材料假设。下一页封闭体积模式再把这两个层次与轴向伸长联系起来，但它省略了真实 seam 与背腹区域的异质性。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https://doi.org/10.7554/eLife.23866.016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区域切口开口比较及模型估计的纤维强化和方向性刚度</a:t>
            </a:r>
          </a:p>
          <a:p xmlns:a="http://schemas.openxmlformats.org/drawingml/2006/main">
            <a:r>
              <a:t>/tmp/celegans_extended50/assets/anisotropy-AC.png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左侧切割释放响应帮助约束方向性受力和材料响应，它不能单独给出绝对张力。右侧是封闭体积的均匀圆柱模式，e 为轴向对数应变，周向为 -e/2。相同周向主动作用，在轴向主动缩短或更大轴向抵抗下产生不同末态。这是几何约束和材料方向共同选择模式的最小演示。系数已按模式归一化，图未求解 seam 与背腹区域异质性，也不能据此推断真实线虫增加周向纤维刚度必然促进或抑制伸长。物理目标是识别哪些局部驱动能投影到全身模式，以及约束如何改变这种投影。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Vuong-Brender et al. (2017), https://doi.org/10.7554/eLife.23866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右侧裁取笔记 38_closed_volume_elongation 三个 t=6 末态，任意单位，非胚胎形状拟合。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Vuong-Brender et al. (2017), Video 1, eLife, CC BY 4.0</a:t>
            </a:r>
          </a:p>
          <a:p xmlns:a="http://schemas.openxmlformats.org/drawingml/2006/main">
            <a:r>
              <a:t>https://doi.org/10.7554/eLife.23866.007</a:t>
            </a:r>
          </a:p>
          <a:p xmlns:a="http://schemas.openxmlformats.org/drawingml/2006/main">
            <a:r>
              <a:t>https://static-movie-usa.glencoesoftware.com/mp4/10.7554/672/626a302e3b0f99d57a9b3a50c24ae0475f59fc50/elife-23866-media1.mp4</a:t>
            </a:r>
          </a:p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嵌入 GIF：81 帧，约 12.96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左侧为跨表皮厚度的 CeHD 与中间丝连接，右侧定位体壁肌肉区域及其在身体截面中的位置。CeHD 主要联系表皮厚度两侧，黏着连接则联系相邻表皮细胞，二者位于不同传力方向。肌肉钙活动存在不保证负载能够传到表皮，附着受损也不能总被概括为肌肉主动强度为零。模型应明确改变的是输入本身、有效耦合，还是材料承载。综述示意整合不同原始研究，不是一次实验直接测出的全部通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https://doi.org/10.3390/cells15070645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肌肉 ECM CeHD 中间丝贯穿表皮厚度的传力路径</a:t>
            </a:r>
          </a:p>
          <a:p xmlns:a="http://schemas.openxmlformats.org/drawingml/2006/main">
            <a:r>
              <a:t>/tmp/celegans_extended50/assets/cehd-A.png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体壁肌肉区域及其在身体截面中的位置</a:t>
            </a:r>
          </a:p>
          <a:p xmlns:a="http://schemas.openxmlformats.org/drawingml/2006/main">
            <a:r>
              <a:t>/tmp/celegans_extended50/assets/muscle-C.png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肌肉提供随时间变化的外源负载，表皮网络与连接负责传力和保持。右侧连接影像显示周期内快速往返，左侧长度曲线显示某些骨架扰动下已获得的长度仍会丢失。这些是区分驱动与保持的实验依据，不等于已经证明所有周期训练机制。研究重点是相同瞬时输入经过多轮后，构型分布是否随内部状态变化，以及卸载后哪些形状稳定保留。比较时需要同时记录周期内峰值、周期末残余和输入的幅度与相位。两幅图来自不同研究和条件，不能逐帧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Lardennois et al. (2019), https://doi.org/10.1038/s41586-019-1509-4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长度曲线为公开作者稿 Fig. 2d，右侧为 Yang Video S4。周期训练的跨协议比较属于研究设想。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Yang 等（2025），Video S4，Developmental Cell，CC BY-NC 4.0</a:t>
            </a:r>
          </a:p>
          <a:p xmlns:a="http://schemas.openxmlformats.org/drawingml/2006/main">
            <a:r>
              <a:t>https://pmc.ncbi.nlm.nih.gov/articles/PMC12549353/#mmc6</a:t>
            </a:r>
          </a:p>
          <a:p xmlns:a="http://schemas.openxmlformats.org/drawingml/2006/main">
            <a:r>
              <a:t>https://ars.els-cdn.com/content/image/1-s2.0-S1534580725003673-mmc6.mp4</a:t>
            </a:r>
          </a:p>
          <a:p xmlns:a="http://schemas.openxmlformats.org/drawingml/2006/main">
            <a:r>
              <a:t>光片成像中的 DLG-1::RFP 标记表皮连接。观察肌肉抽动时连接的反复伸展与回缩，再比较较长时间内细胞群长度的变化；单次脉动和长期伸长叠加在同一段影像中。</a:t>
            </a:r>
          </a:p>
          <a:p xmlns:a="http://schemas.openxmlformats.org/drawingml/2006/main">
            <a:r>
              <a:t>嵌入 GIF：125 帧，约 20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机制图对照正常与失调网络：受力中的重新组织与随后承载，共同决定松弛时能否保留形变。结构重组后，卸载偏好的参考长度可以改变。PAK-1、SPC-1 与相关因子对网络稳定和重塑的贡献，为黏塑性锁定提供实验与模型联系。参考长度不是图像里另一条直接可见的线，估计它仍需释放或力平衡模型。原研究方程有期刊更正，应以更正版复现。本页只用机制图解释变量意义，后页的单向阈值规则是另外的简化候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https://doi.org/10.1038/s41586-019-1509-4</a:t>
            </a:r>
          </a:p>
          <a:p xmlns:a="http://schemas.openxmlformats.org/drawingml/2006/main">
            <a:r>
              <a:t>https://doi.org/10.1038/s41586-019-1562-z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正常与失调网络在收缩和松弛阶段的形变保留机制示意</a:t>
            </a:r>
          </a:p>
          <a:p xmlns:a="http://schemas.openxmlformats.org/drawingml/2006/main">
            <a:r>
              <a:t>/tmp/celegans_extended50/assets/lock-AB.png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这一页将稳定性问题扩展到历史。总应变 e 与参考状态 p 分开，弹性部分是 e-p；候选规则只在超过阈值时更新 p。相同周期有效输入下，固定 p 的系统卸载后回到原状态，允许更新的系统保留残余形变。因而驱动不仅推动体系访问原有地形，也可能通过结构改变重写卸载后的稳定构型。这里采用单向阈值规则，不能仅由耗散或周期性本身推出。下一步研究应改变幅度、周期和恢复时间，并检验残余形状、滞回及跨周期记忆。Q_eff 是对伸长模式的有效负载，尚需解释肌肉、方向性骨架和几何怎样生成它。不同本构可能产生不同频率依赖，不能预设存在通用最优频率。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https://li-fancheng.github.io/notes/celegans/embryonic_morphogenesis/subcellular_cortex_and_flows/#network-memory</a:t>
            </a:r>
          </a:p>
          <a:p xmlns:a="http://schemas.openxmlformats.org/drawingml/2006/main">
            <a:r>
              <a:t>Lardennois et al. (2019) correction, https://doi.org/10.1038/s41586-019-1562-z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保留笔记 39_cyclic_network_shape 两行形态与对应候选方程。图为无量纲算例，输入在 t=16 停止，不模拟真实 actin 切断或肌肉带。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对照有无肌肉相关塑性，B 改变切断和重新束化速率，C 汇总模型参数平面。曲线与热图均为连续体模型输出，不是实验相图。肌肉在一百分钟开启是该模型设定。网络过稳可阻碍更新，切断过快而重建不足又可丧失方向性承载，产生停滞或回缩。因此周转更快不是无条件促进形态发生。对后续研究，可用纤维角度、局部直径及更新速率增加约束，避免只拟合一条全长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https://doi.org/10.1126/sciadv.abg3264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有无塑性轨迹、切断束化速率扫描及模型伸长回缩参数平面</a:t>
            </a:r>
          </a:p>
          <a:p xmlns:a="http://schemas.openxmlformats.org/drawingml/2006/main">
            <a:r>
              <a:t>/Users/ldepression/Desktop/Li-Fancheng.github.io/notes/celegans/embryonic_morphogenesis/figures/fang2021_fig4.jpg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A 是 DLG-1 标记连接，B 同时保留快速变化与运行平均。C/D 汇总周期及相应伸长，E/F 比较正常与肌肉受损条件。运行平均不是无载参考长度，它只把一定时间窗内的快速分量平滑。追踪前后轴长度还要处理胚胎三维旋转，不能用画面水平轴替代身体轴。对周期驱动，应共同报告峰值、周期末残余、相位和长期平均，而不是只在最终长度上比较。原图中不同统计来自相应实验条件，不能把不同面板的个体逐一配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表皮连接成像、快速长度脉动及肌肉受损对照</a:t>
            </a:r>
          </a:p>
          <a:p xmlns:a="http://schemas.openxmlformats.org/drawingml/2006/main">
            <a:r>
              <a:t>/Users/ldepression/Desktop/Li-Fancheng.github.io/notes/celegans/embryonic_morphogenesis/figures/yang2025_fig2.jpg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FRAP 将连接上的荧光标记漂白，随后追踪未漂白分子的进入。漂白不等于删除蛋白。作者比较肌肉参与前后、正常与肌肉受损条件，并用仍能抽动但伸长受阻的 spc-1 条件区分肌肉活动和发育进程。后期肌肉受损条件的不动组分增加，支持活动对交换的贡献。图中的有效交换率与不动比例依赖动力学模型和观察时间窗。分子交换增强不能直接等同组织尺度黏度降低，还要说明它怎样改变负载路径和应变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HMR-1 FRAP 序列、交换示意以及肌肉和遗传条件对恢复曲线的影响</a:t>
            </a:r>
          </a:p>
          <a:p xmlns:a="http://schemas.openxmlformats.org/drawingml/2006/main">
            <a:r>
              <a:t>/Users/ldepression/Desktop/Li-Fancheng.github.io/notes/celegans/embryonic_morphogenesis/figures/yang2025_fig5.jpg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图分开改变恢复时间和可恢复比例。观察窗短于恢复时间时，只看到初始斜率，平台与时间容易简并。右图保持分子离开率不变，只增加连接伸长率：单位长度荧光出现更低平台和更快的有效接近过程。展开总荧光守恒得到 dc/dt=s-(k+dlnL/dt)c，几何稀释因此进入曲线。模型未拟合 Yang 数据，只说明从分子恢复到材料更新的解释还需测量量与运动校正一致。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解析算例，非 FRAP 实验数据</a:t>
            </a:r>
          </a:p>
          <a:p xmlns:a="http://schemas.openxmlformats.org/drawingml/2006/main">
            <a:r>
              <a:t>恢复平台和时间尺度可独立变化，连接伸长导致单位长度荧光稀释</a:t>
            </a:r>
          </a:p>
          <a:p xmlns:a="http://schemas.openxmlformats.org/drawingml/2006/main">
            <a:r>
              <a:t>/Users/ldepression/Desktop/Li-Fancheng.github.io/notes/celegans/embryonic_morphogenesis/figures/12_frap_model.png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三组解析对照依次是阶跃应变后的应力松弛、振荡响应和恒定应力下蠕变。普通 Maxwell 流体、长松弛时间流体和带长期弹性平台的固体，在短记录内可以很相似。T1 多、位移大或 FRAP 快都不是其中任一响应函数的替代。跨案例比较时，应说清测量的空间尺度、加载强度、观察窗与是否仍有主动输入。这些曲线提供判据示范，不表示线虫已经测得相应三类材料状态。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/Users/ldepression/Desktop/Li-Fancheng.github.io/notes/vertex_model/rheology_activity/body.md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连续本构解析对照，非线虫流变测量</a:t>
            </a:r>
          </a:p>
          <a:p xmlns:a="http://schemas.openxmlformats.org/drawingml/2006/main">
            <a:r>
              <a:t>固体、长松弛流体与普通流体的松弛振荡和蠕变响应</a:t>
            </a:r>
          </a:p>
          <a:p xmlns:a="http://schemas.openxmlformats.org/drawingml/2006/main">
            <a:r>
              <a:t>/Users/ldepression/Desktop/Li-Fancheng.github.io/notes/celegans/embryonic_morphogenesis/figures/27_solid_fluid_rheology.png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软模态的刚度小，但驱动若与它正交，该模式仍不被激发。对固定拓扑、稳定平衡附近的单一摩擦模型，每个模态满足 ζ dcα/dt+λαcα=fα。频域响应由刚度、投影和频率共同决定。图中是两模态解析例子，长期模量为 0.2、权重为 0.6 和 0.4、松弛时间为 0.2 和 5。这个计算把三个案例的候选联系表达为一项可检验关系：几何改变软方向，空间化驱动改变投影，驱动周期决定哪些内部调整来得及发生。它不能直接预测跨越有限能垒或强主动轨道的稳定性。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稳定小扰动下的两模态计算，未拟合胚胎</a:t>
            </a:r>
          </a:p>
          <a:p xmlns:a="http://schemas.openxmlformats.org/drawingml/2006/main">
            <a:r>
              <a:t>两个机械模态的刚度、加载耦合权重和复合频率响应</a:t>
            </a:r>
          </a:p>
          <a:p xmlns:a="http://schemas.openxmlformats.org/drawingml/2006/main">
            <a:r>
              <a:t>/Users/ldepression/Desktop/Li-Fancheng.github.io/notes/vertex_model/linear_response/figures/mode_coupling.svg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左图中力、刚度和黏性按相同比例缩放，释放曲线保持相同。右图显示绝对参数尺度仍不同。简单释放方程 η du/dt+Ku=F 只能给出 F/K 和 η/K，若没有独立已知力或刚度，三个参数不能分别确定。更多像素或更精细的轮廓不会自动打破这种精确简并。研究设计应增加独立扰动，并预测尚未参与拟合的条件。对线虫可结合局部释放、结构动态、驱动相位与已知外力尺度，而不是只优化最终体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图像与模型适用范围</a:t>
            </a:r>
          </a:p>
          <a:p xmlns:a="http://schemas.openxmlformats.org/drawingml/2006/main">
            <a:r>
              <a:t>精确参数缩放算例，非实验拟合</a:t>
            </a:r>
          </a:p>
          <a:p xmlns:a="http://schemas.openxmlformats.org/drawingml/2006/main">
            <a:r>
              <a:t>不同参数尺度产生同一条释放曲线的可辨识性示例</a:t>
            </a:r>
          </a:p>
          <a:p xmlns:a="http://schemas.openxmlformats.org/drawingml/2006/main">
            <a:r>
              <a:t>/Users/ldepression/Desktop/Li-Fancheng.github.io/notes/celegans/embryonic_morphogenesis/figures/14_identifiability_model.png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实验结果、文献模型、本地简化算例和研究设想分别标明。普遍机制需要通过跨条件预测与对照检验。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建议用时：0.9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类现象不需要被强行归成同一种流化。壳内堆积首先改变允许几何和机械地形，定向推进强调路径选择与隐藏耦合，周期重塑还会改变系统的内部状态和卸载后稳定性。可比较的是输出层次：从局部事件到集体模式，再到构型分布和历史响应。形状指数、T1 数量或最终长度中的任一个，都不能独自替代这些判断。这个比较框架的作用，是寻找哪些控制参数与响应可以迁移，同时保留不同机制之间真正重要的差别。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原生表格，属于研究比较框架，不宣称已经获得统一相图。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页是可以直接推进的研究方案。第一组扫描几何和相互作用差异，明确分裂协议及初态，让边界选择与参数补偿能够区分。第二组改变驱动的位置、方向和持续性，必须说明选择匹配做功、位移还是其他输入量，通常不能同时匹配所有特征，因此还要记录峰值和速率。第三组扫描周期协议，并在内部状态固定与可更新模型之间比较。输出都采用同样观察时间和事件定义。概率可以来自实验个体差异，也可以来自明确给定的初态集合或噪声模型，不能默认等价于热平衡有效温度。目标是用模型消融与受控条件改变来确定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https://li-fancheng.github.io/notes/vertex_model/morphogenesis/</a:t>
            </a:r>
          </a:p>
          <a:p xmlns:a="http://schemas.openxmlformats.org/drawingml/2006/main">
            <a:r>
              <a:t>https://li-fancheng.github.io/notes/celegans/embryonic_morphogenesis/active_matter_packing_topology/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研究方案，不是已有实验结果。匹配输入做功等方案需要测量或模型标定，尚不假定实验上可以独立操纵所有变量。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普遍性应该变成可被否证的预测。候选一是几何和接触条件选择与事件相耦合的集体软路径；需要预测新壳形中在哪里重排，而不只解释已经发生的事件。候选二是结构化驱动与目标运动模式的耦合决定通道选择；需要在明确可比的输入尺度下检验方向和位置的作用。候选三是内部更新时间与驱动历史决定可保持构型；要在新周期和材料参数下预测残余与失稳边界。只有这些关系在不同几何、驱动或体系中保持，并且适用与失败条件明确，才逐步支持普遍物理机制。现阶段这些是研究命题，不能把一张成功拟合图作为普遍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本页为研究设想与证据标准，不新增或假称任何实验发现。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最后回到研究目标。选择线虫中的特殊驱动和几何条件，是为了让集体重排、稳定性与可达构型成为可控制、可测量、可预测的问题。研究的产出应是可迁移的机制与适用条件，具体模型分辨率由问题决定。今天的三个案例提供了比较起点，后续通过对照和跨条件预测判断哪些物理关系真正具有普遍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研究目标，沿用用户给出的完整定位。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供讨论和延伸阅读，不计入正式五十分钟。正文以三个物理问题组织，并加入实验与模型的详细连接，备份页保留自由边界接合和三维投影的补充讨论。各页备注区分实验、文献模型、本地算例与本报告提出的研究方案。全部七段 GIF 均嵌入 PPTX。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>Yamamoto &amp; Kimura (2017), Development https://doi.org/10.1242/dev.154609</a:t>
            </a:r>
          </a:p>
          <a:p xmlns:a="http://schemas.openxmlformats.org/drawingml/2006/main">
            <a:r>
              <a:t>Yamamoto et al. (2026), Developmental Cell https://doi.org/10.1016/j.devcel.2026.04.013</a:t>
            </a:r>
          </a:p>
          <a:p xmlns:a="http://schemas.openxmlformats.org/drawingml/2006/main">
            <a:r>
              <a:t>Roh-Johnson et al. (2012), Science https://doi.org/10.1126/science.1217869</a:t>
            </a:r>
          </a:p>
          <a:p xmlns:a="http://schemas.openxmlformats.org/drawingml/2006/main">
            <a:r>
              <a:t>Walck-Shannon et al. (2015), Development https://doi.org/10.1242/dev.127597</a:t>
            </a:r>
          </a:p>
          <a:p xmlns:a="http://schemas.openxmlformats.org/drawingml/2006/main">
            <a:r>
              <a:t>Vuong-Brender et al. (2017), eLife https://doi.org/10.7554/eLife.23866</a:t>
            </a:r>
          </a:p>
          <a:p xmlns:a="http://schemas.openxmlformats.org/drawingml/2006/main">
            <a:r>
              <a:t>Lardennois et al. (2019), Nature https://doi.org/10.1038/s41586-019-1509-4</a:t>
            </a:r>
          </a:p>
          <a:p xmlns:a="http://schemas.openxmlformats.org/drawingml/2006/main">
            <a:r>
              <a:t>Farhadifar et al. (2007), Current Biology https://doi.org/10.1016/j.cub.2007.11.049</a:t>
            </a:r>
          </a:p>
          <a:p xmlns:a="http://schemas.openxmlformats.org/drawingml/2006/main">
            <a:r>
              <a:t>Bi et al. (2015), Nature Physics https://doi.org/10.1038/nphys3471</a:t>
            </a:r>
          </a:p>
          <a:p xmlns:a="http://schemas.openxmlformats.org/drawingml/2006/main">
            <a:r>
              <a:t>Slabodnick et al. (2023), https://doi.org/10.1371/journal.pgen.1010319</a:t>
            </a:r>
          </a:p>
          <a:p xmlns:a="http://schemas.openxmlformats.org/drawingml/2006/main">
            <a:r>
              <a:t>Miao et al. preprint, https://arxiv.org/abs/2105.05795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原始视频由本地笔记的 media_sources.json 登记。GIF 在桌面版 PowerPoint 放映中播放，静态预览显示单帧。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分钟。备份页，默认在放映中隐藏。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保留原先腹侧闭合的实验和模型，用于讨论自由边界转成内部界面时的拓扑与承载变化。相遇与稳定接合应分别记录，首次相遇后重新开裂对连接成熟、受力与周转提供约束。这是正文三个案例之外的候选比较体系，不自动等同于 T1 或组织整体流化。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Raich et al. (1999), https://doi.org/10.1016/S0960-9822(00)80015-9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右侧为笔记 31_enclosure_and_adhesion 算例，未拟合实验。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5；影像 Mathias Koeppen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https://uwmadison.box.com/index.php?rm=box_download_shared_file&amp;shared_name=gkwn64id9h6k4161ymkb42y0hkst5ny0&amp;file_id=f_2149905153555</a:t>
            </a:r>
          </a:p>
          <a:p xmlns:a="http://schemas.openxmlformats.org/drawingml/2006/main">
            <a:r>
              <a:t>野生型胚胎的腹侧 DIC 影像，前端在左，原始采样间隔为 2 min。先看两侧前缘如何接近，再看初次接触以后，后方剩余开口怎样继续封闭。</a:t>
            </a:r>
          </a:p>
          <a:p xmlns:a="http://schemas.openxmlformats.org/drawingml/2006/main">
            <a:r>
              <a:t>嵌入 GIF：105 帧，约 16.8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分钟。备份页，默认在放映中隐藏。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本页保留三维运动影像与中心线示意。二维投影的缩短可能来自整体转动或弯曲，不能直接等同于材料回缩。对可达构型分布和稳定性比较，应统一身体坐标、三维弧长与材料点追踪，并考虑卵壳接触。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中心线为几何示意，不是对影片的拟合。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Yang 等（2025），Video S1，Developmental Cell，CC BY-NC 4.0</a:t>
            </a:r>
          </a:p>
          <a:p xmlns:a="http://schemas.openxmlformats.org/drawingml/2006/main">
            <a:r>
              <a:t>https://pmc.ncbi.nlm.nih.gov/articles/PMC12549353/#mmc3</a:t>
            </a:r>
          </a:p>
          <a:p xmlns:a="http://schemas.openxmlformats.org/drawingml/2006/main">
            <a:r>
              <a:t>https://ars.els-cdn.com/content/image/1-s2.0-S1534580725003673-mmc3.mp4</a:t>
            </a:r>
          </a:p>
          <a:p xmlns:a="http://schemas.openxmlformats.org/drawingml/2006/main">
            <a:r>
              <a:t>DLG-1::RFP 显示表皮连接，影片追踪胚胎在卵壳内的旋转。留意同一身体区域怎样进入和离开视野：二维投影中的缩短，可能来自弯曲和转动，不能直接当作材料回缩。</a:t>
            </a:r>
          </a:p>
          <a:p xmlns:a="http://schemas.openxmlformats.org/drawingml/2006/main">
            <a:r>
              <a:t>嵌入 GIF：88 帧，约 14.08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eb2bc7d5941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4a21b6fc743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470772a5448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3620bb5ad48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d077716cb4b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8451b405e49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7F94A7-73BF-4D83-A293-AA5D22446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2B568-238A-4CF2-A8E8-A159787A74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0427A2-7C94-4FD2-A56F-5A2830665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D77C9-D9CF-4950-B0AD-1F2286AFF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23861B-03F1-439C-8EC8-E0CA14DC8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5166C8-495A-4BF8-BDCA-99A9D81D4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3714B-E4DB-4E85-9DCD-3442E3432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07B610-4C89-4EDA-BCB9-B47C6B1326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F9AADD-24DC-485F-BF00-D8D1CC731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618B66-93D1-4511-9729-59B804CF8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be43ac0584c2c" /><Relationship Type="http://schemas.openxmlformats.org/officeDocument/2006/relationships/slideLayout" Target="/ppt/slideLayouts/slideLayout1.xml" Id="R35944b525b884ade" /><Relationship Type="http://schemas.openxmlformats.org/officeDocument/2006/relationships/slideLayout" Target="/ppt/slideLayouts/slideLayout2.xml" Id="R25b04405127f420c" /><Relationship Type="http://schemas.openxmlformats.org/officeDocument/2006/relationships/slideLayout" Target="/ppt/slideLayouts/slideLayout3.xml" Id="R14347ec736d740f5" /><Relationship Type="http://schemas.openxmlformats.org/officeDocument/2006/relationships/slideLayout" Target="/ppt/slideLayouts/slideLayout4.xml" Id="R8f2ab02ec5764082" /><Relationship Type="http://schemas.openxmlformats.org/officeDocument/2006/relationships/slideLayout" Target="/ppt/slideLayouts/slideLayout5.xml" Id="R41aa5bccecae49c2" /><Relationship Type="http://schemas.openxmlformats.org/officeDocument/2006/relationships/slideLayout" Target="/ppt/slideLayouts/slideLayout6.xml" Id="R19d1e024a6fa43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44b525b884ade"/>
    <p:sldLayoutId xmlns:r="http://schemas.openxmlformats.org/officeDocument/2006/relationships" id="2147483650" r:id="R25b04405127f420c"/>
    <p:sldLayoutId xmlns:r="http://schemas.openxmlformats.org/officeDocument/2006/relationships" id="2147483651" r:id="R14347ec736d740f5"/>
    <p:sldLayoutId xmlns:r="http://schemas.openxmlformats.org/officeDocument/2006/relationships" id="2147483652" r:id="R8f2ab02ec5764082"/>
    <p:sldLayoutId xmlns:r="http://schemas.openxmlformats.org/officeDocument/2006/relationships" id="2147483653" r:id="R41aa5bccecae49c2"/>
    <p:sldLayoutId xmlns:r="http://schemas.openxmlformats.org/officeDocument/2006/relationships" id="2147483654" r:id="R19d1e024a6fa43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040e115e64d3a" /><Relationship Type="http://schemas.openxmlformats.org/officeDocument/2006/relationships/image" Target="/ppt/media/image.gif" Id="R8f9a7142b2ed4be5" /><Relationship Type="http://schemas.openxmlformats.org/officeDocument/2006/relationships/notesSlide" Target="/ppt/notesSlides/notesSlide1.xml" Id="R6e91cc514f5b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84a93c7544dce" /><Relationship Type="http://schemas.openxmlformats.org/officeDocument/2006/relationships/notesSlide" Target="/ppt/notesSlides/notesSlide2.xml" Id="R2bf2f019415b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942c6856c4f9b" /><Relationship Type="http://schemas.openxmlformats.org/officeDocument/2006/relationships/notesSlide" Target="/ppt/notesSlides/notesSlide3.xml" Id="R9d96bc0a231e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0ca33a9104c78" /><Relationship Type="http://schemas.openxmlformats.org/officeDocument/2006/relationships/notesSlide" Target="/ppt/notesSlides/notesSlide4.xml" Id="R6574bd10babc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a7eef604f48af" /><Relationship Type="http://schemas.openxmlformats.org/officeDocument/2006/relationships/image" Target="/ppt/media/image.png" Id="R2712733ca2bd4cac" /><Relationship Type="http://schemas.openxmlformats.org/officeDocument/2006/relationships/notesSlide" Target="/ppt/notesSlides/notesSlide5.xml" Id="R6b1087ba70a5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e42e9735842c6" /><Relationship Type="http://schemas.openxmlformats.org/officeDocument/2006/relationships/image" Target="/ppt/media/image.jpeg" Id="R976b3e722cb644ac" /><Relationship Type="http://schemas.openxmlformats.org/officeDocument/2006/relationships/notesSlide" Target="/ppt/notesSlides/notesSlide6.xml" Id="R0665522bf15c41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de50cfb6b4969" /><Relationship Type="http://schemas.openxmlformats.org/officeDocument/2006/relationships/image" Target="/ppt/media/image2.jpeg" Id="R8a43be1b47304a6a" /><Relationship Type="http://schemas.openxmlformats.org/officeDocument/2006/relationships/image" Target="/ppt/media/image3.jpeg" Id="R533c421282764295" /><Relationship Type="http://schemas.openxmlformats.org/officeDocument/2006/relationships/image" Target="/ppt/media/image4.jpeg" Id="R6c549683556d4b64" /><Relationship Type="http://schemas.openxmlformats.org/officeDocument/2006/relationships/notesSlide" Target="/ppt/notesSlides/notesSlide7.xml" Id="R32e3751bb605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9cca1a3f04ecb" /><Relationship Type="http://schemas.openxmlformats.org/officeDocument/2006/relationships/image" Target="/ppt/media/image2.png" Id="Rb6d3c229435a482f" /><Relationship Type="http://schemas.openxmlformats.org/officeDocument/2006/relationships/notesSlide" Target="/ppt/notesSlides/notesSlide8.xml" Id="Rde12c82952244b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d91797cb744f8" /><Relationship Type="http://schemas.openxmlformats.org/officeDocument/2006/relationships/image" Target="/ppt/media/image3.png" Id="Re20a2b308e89491f" /><Relationship Type="http://schemas.openxmlformats.org/officeDocument/2006/relationships/notesSlide" Target="/ppt/notesSlides/notesSlide9.xml" Id="Rf787950334ba48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cd06264944a18" /><Relationship Type="http://schemas.openxmlformats.org/officeDocument/2006/relationships/image" Target="/ppt/media/image5.jpeg" Id="Rf13e94de906d42ae" /><Relationship Type="http://schemas.openxmlformats.org/officeDocument/2006/relationships/notesSlide" Target="/ppt/notesSlides/notesSlide10.xml" Id="Rf988a9caf3704b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80cb997b9416a" /><Relationship Type="http://schemas.openxmlformats.org/officeDocument/2006/relationships/image" Target="/ppt/media/image2.gif" Id="Rb77b6c4a0360400d" /><Relationship Type="http://schemas.openxmlformats.org/officeDocument/2006/relationships/image" Target="/ppt/media/image4.png" Id="Rf9abedb9d70540a6" /><Relationship Type="http://schemas.openxmlformats.org/officeDocument/2006/relationships/notesSlide" Target="/ppt/notesSlides/notesSlide11.xml" Id="R53042a6e32af46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d6109f27f49ad" /><Relationship Type="http://schemas.openxmlformats.org/officeDocument/2006/relationships/image" Target="/ppt/media/image5.png" Id="R28c7f6e270424561" /><Relationship Type="http://schemas.openxmlformats.org/officeDocument/2006/relationships/notesSlide" Target="/ppt/notesSlides/notesSlide12.xml" Id="Rb1597453aa3e49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75ab680604e4d" /><Relationship Type="http://schemas.openxmlformats.org/officeDocument/2006/relationships/image" Target="/ppt/media/image6.png" Id="Rcc2ba020e02740f9" /><Relationship Type="http://schemas.openxmlformats.org/officeDocument/2006/relationships/notesSlide" Target="/ppt/notesSlides/notesSlide13.xml" Id="R4b62ccf41c944f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bfc3d39e6e4615" /><Relationship Type="http://schemas.openxmlformats.org/officeDocument/2006/relationships/image" Target="/ppt/media/image7.png" Id="R534dc078a6c2445e" /><Relationship Type="http://schemas.openxmlformats.org/officeDocument/2006/relationships/notesSlide" Target="/ppt/notesSlides/notesSlide14.xml" Id="Rb171def16c114b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3aa8d08714c99" /><Relationship Type="http://schemas.openxmlformats.org/officeDocument/2006/relationships/image" Target="/ppt/media/image8.png" Id="Rbe3c8e966fb5434f" /><Relationship Type="http://schemas.openxmlformats.org/officeDocument/2006/relationships/notesSlide" Target="/ppt/notesSlides/notesSlide15.xml" Id="R62b0f7e693424f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31703fc6e443f" /><Relationship Type="http://schemas.openxmlformats.org/officeDocument/2006/relationships/image" Target="/ppt/media/image9.png" Id="Rdfa75408199940c0" /><Relationship Type="http://schemas.openxmlformats.org/officeDocument/2006/relationships/image" Target="/ppt/media/image10.png" Id="R5d8c1771347a4b9a" /><Relationship Type="http://schemas.openxmlformats.org/officeDocument/2006/relationships/notesSlide" Target="/ppt/notesSlides/notesSlide16.xml" Id="R5f6eb9d69ae84d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3c15a7c574a5f" /><Relationship Type="http://schemas.openxmlformats.org/officeDocument/2006/relationships/image" Target="/ppt/media/image6.jpeg" Id="R6a809cc833514ca6" /><Relationship Type="http://schemas.openxmlformats.org/officeDocument/2006/relationships/notesSlide" Target="/ppt/notesSlides/notesSlide17.xml" Id="Rc4e175231c3743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3880c48844585" /><Relationship Type="http://schemas.openxmlformats.org/officeDocument/2006/relationships/image" Target="/ppt/media/image3.gif" Id="R8d46dc4195174013" /><Relationship Type="http://schemas.openxmlformats.org/officeDocument/2006/relationships/image" Target="/ppt/media/image7.jpeg" Id="R1b668c6ac3cc471d" /><Relationship Type="http://schemas.openxmlformats.org/officeDocument/2006/relationships/notesSlide" Target="/ppt/notesSlides/notesSlide18.xml" Id="R3fc28da1386947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15b7ef9404f59" /><Relationship Type="http://schemas.openxmlformats.org/officeDocument/2006/relationships/image" Target="/ppt/media/image11.png" Id="Ra319459a365f4a52" /><Relationship Type="http://schemas.openxmlformats.org/officeDocument/2006/relationships/image" Target="/ppt/media/image12.png" Id="R53edbf11802a40a1" /><Relationship Type="http://schemas.openxmlformats.org/officeDocument/2006/relationships/image" Target="/ppt/media/image13.png" Id="R577526ff43124ccb" /><Relationship Type="http://schemas.openxmlformats.org/officeDocument/2006/relationships/image" Target="/ppt/media/image14.png" Id="R760fd56c584d4c90" /><Relationship Type="http://schemas.openxmlformats.org/officeDocument/2006/relationships/notesSlide" Target="/ppt/notesSlides/notesSlide19.xml" Id="R78234579aaf545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b8cd90e384efc" /><Relationship Type="http://schemas.openxmlformats.org/officeDocument/2006/relationships/image" Target="/ppt/media/image15.png" Id="R1313ba56a9954c8b" /><Relationship Type="http://schemas.openxmlformats.org/officeDocument/2006/relationships/notesSlide" Target="/ppt/notesSlides/notesSlide20.xml" Id="R7f38b37b92ec49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b36641a1945e0" /><Relationship Type="http://schemas.openxmlformats.org/officeDocument/2006/relationships/image" Target="/ppt/media/image16.png" Id="Rc8eeb0331e0649d6" /><Relationship Type="http://schemas.openxmlformats.org/officeDocument/2006/relationships/notesSlide" Target="/ppt/notesSlides/notesSlide21.xml" Id="R96c4d3f66d7f46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112bfecba412e" /><Relationship Type="http://schemas.openxmlformats.org/officeDocument/2006/relationships/image" Target="/ppt/media/image17.png" Id="Re7ab10e0cf004908" /><Relationship Type="http://schemas.openxmlformats.org/officeDocument/2006/relationships/notesSlide" Target="/ppt/notesSlides/notesSlide22.xml" Id="R3bc6c28d2a984b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b98006133411b" /><Relationship Type="http://schemas.openxmlformats.org/officeDocument/2006/relationships/image" Target="/ppt/media/image18.png" Id="Rb870a3ffc59b492a" /><Relationship Type="http://schemas.openxmlformats.org/officeDocument/2006/relationships/notesSlide" Target="/ppt/notesSlides/notesSlide23.xml" Id="Ra72faafd879b4a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19c0fd4684a16" /><Relationship Type="http://schemas.openxmlformats.org/officeDocument/2006/relationships/image" Target="/ppt/media/image19.png" Id="R7b1ff787c68c454b" /><Relationship Type="http://schemas.openxmlformats.org/officeDocument/2006/relationships/notesSlide" Target="/ppt/notesSlides/notesSlide24.xml" Id="Rd5853314b26247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37a03a3da49b3" /><Relationship Type="http://schemas.openxmlformats.org/officeDocument/2006/relationships/image" Target="/ppt/media/image20.png" Id="R3a9aa2d9913c4e28" /><Relationship Type="http://schemas.openxmlformats.org/officeDocument/2006/relationships/notesSlide" Target="/ppt/notesSlides/notesSlide25.xml" Id="R545e4246475b44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7cd025a684239" /><Relationship Type="http://schemas.openxmlformats.org/officeDocument/2006/relationships/image" Target="/ppt/media/image21.png" Id="R08ec46ea6abd4e08" /><Relationship Type="http://schemas.openxmlformats.org/officeDocument/2006/relationships/notesSlide" Target="/ppt/notesSlides/notesSlide26.xml" Id="R74fb65b5921a48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961504ab94ef7" /><Relationship Type="http://schemas.openxmlformats.org/officeDocument/2006/relationships/image" Target="/ppt/media/image22.png" Id="R34fe90ac6c874c06" /><Relationship Type="http://schemas.openxmlformats.org/officeDocument/2006/relationships/notesSlide" Target="/ppt/notesSlides/notesSlide27.xml" Id="R613be07522be43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5c9acfba84a4c" /><Relationship Type="http://schemas.openxmlformats.org/officeDocument/2006/relationships/image" Target="/ppt/media/image23.png" Id="R6386c7d9927b4f6f" /><Relationship Type="http://schemas.openxmlformats.org/officeDocument/2006/relationships/notesSlide" Target="/ppt/notesSlides/notesSlide28.xml" Id="R559c7bf5231e45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7e5cbb8774a60" /><Relationship Type="http://schemas.openxmlformats.org/officeDocument/2006/relationships/image" Target="/ppt/media/image8.jpeg" Id="Rb4fb50bde23b4f0b" /><Relationship Type="http://schemas.openxmlformats.org/officeDocument/2006/relationships/notesSlide" Target="/ppt/notesSlides/notesSlide29.xml" Id="R53fd94f2e9ae412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57f0290784a59" /><Relationship Type="http://schemas.openxmlformats.org/officeDocument/2006/relationships/image" Target="/ppt/media/image24.png" Id="R3739a619dfdd4a64" /><Relationship Type="http://schemas.openxmlformats.org/officeDocument/2006/relationships/notesSlide" Target="/ppt/notesSlides/notesSlide30.xml" Id="Rfd930723a1a246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7174fa9d94943" /><Relationship Type="http://schemas.openxmlformats.org/officeDocument/2006/relationships/image" Target="/ppt/media/image4.gif" Id="R8193d3c0826e4014" /><Relationship Type="http://schemas.openxmlformats.org/officeDocument/2006/relationships/image" Target="/ppt/media/image25.png" Id="R3a1ba045e66f44f6" /><Relationship Type="http://schemas.openxmlformats.org/officeDocument/2006/relationships/image" Target="/ppt/media/image26.png" Id="R0a9d22cb04ef46fb" /><Relationship Type="http://schemas.openxmlformats.org/officeDocument/2006/relationships/image" Target="/ppt/media/image27.png" Id="R81d31e569cc14d87" /><Relationship Type="http://schemas.openxmlformats.org/officeDocument/2006/relationships/notesSlide" Target="/ppt/notesSlides/notesSlide31.xml" Id="R4775db80a4a14e6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61ebb7cdd4c3e" /><Relationship Type="http://schemas.openxmlformats.org/officeDocument/2006/relationships/image" Target="/ppt/media/image28.png" Id="R280e9d92a96e4288" /><Relationship Type="http://schemas.openxmlformats.org/officeDocument/2006/relationships/image" Target="/ppt/media/image29.png" Id="R8a2f0b5dc6844e71" /><Relationship Type="http://schemas.openxmlformats.org/officeDocument/2006/relationships/notesSlide" Target="/ppt/notesSlides/notesSlide32.xml" Id="Rfcad4732d1ff42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9e9ffdd214930" /><Relationship Type="http://schemas.openxmlformats.org/officeDocument/2006/relationships/image" Target="/ppt/media/image9.jpeg" Id="Rc0a4ebe7ce594c89" /><Relationship Type="http://schemas.openxmlformats.org/officeDocument/2006/relationships/image" Target="/ppt/media/image5.gif" Id="Rf58dd4abf4d54426" /><Relationship Type="http://schemas.openxmlformats.org/officeDocument/2006/relationships/notesSlide" Target="/ppt/notesSlides/notesSlide33.xml" Id="R4421ebfc6e6f417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955388714420a" /><Relationship Type="http://schemas.openxmlformats.org/officeDocument/2006/relationships/image" Target="/ppt/media/image30.png" Id="R8db51b181881421b" /><Relationship Type="http://schemas.openxmlformats.org/officeDocument/2006/relationships/notesSlide" Target="/ppt/notesSlides/notesSlide34.xml" Id="R17e73ac30b5649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cadc4d5af43f0" /><Relationship Type="http://schemas.openxmlformats.org/officeDocument/2006/relationships/image" Target="/ppt/media/image31.png" Id="R141a0b70293149f7" /><Relationship Type="http://schemas.openxmlformats.org/officeDocument/2006/relationships/notesSlide" Target="/ppt/notesSlides/notesSlide35.xml" Id="R7399ef981c8c45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60cedd2524955" /><Relationship Type="http://schemas.openxmlformats.org/officeDocument/2006/relationships/image" Target="/ppt/media/image10.jpeg" Id="R5f9b10696bc1408d" /><Relationship Type="http://schemas.openxmlformats.org/officeDocument/2006/relationships/notesSlide" Target="/ppt/notesSlides/notesSlide36.xml" Id="Rded6d1bde11243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8f7076bb4726" /><Relationship Type="http://schemas.openxmlformats.org/officeDocument/2006/relationships/image" Target="/ppt/media/image11.jpeg" Id="R3f3b5ffae7dd4849" /><Relationship Type="http://schemas.openxmlformats.org/officeDocument/2006/relationships/notesSlide" Target="/ppt/notesSlides/notesSlide37.xml" Id="R9a1a52ee312a417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0744cde0f4743" /><Relationship Type="http://schemas.openxmlformats.org/officeDocument/2006/relationships/image" Target="/ppt/media/image12.jpeg" Id="Rd109986a9c374c8c" /><Relationship Type="http://schemas.openxmlformats.org/officeDocument/2006/relationships/notesSlide" Target="/ppt/notesSlides/notesSlide38.xml" Id="R4027898baf424ed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a9ac0bd27454f" /><Relationship Type="http://schemas.openxmlformats.org/officeDocument/2006/relationships/image" Target="/ppt/media/image32.png" Id="Rb790739457bd4e0a" /><Relationship Type="http://schemas.openxmlformats.org/officeDocument/2006/relationships/notesSlide" Target="/ppt/notesSlides/notesSlide39.xml" Id="R390a59fc9cf242d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133fb28fb4cff" /><Relationship Type="http://schemas.openxmlformats.org/officeDocument/2006/relationships/image" Target="/ppt/media/image33.png" Id="R73ef5cf3f15a41b0" /><Relationship Type="http://schemas.openxmlformats.org/officeDocument/2006/relationships/notesSlide" Target="/ppt/notesSlides/notesSlide40.xml" Id="R4b56e39506c942c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55af8d374470a" /><Relationship Type="http://schemas.openxmlformats.org/officeDocument/2006/relationships/image" Target="/ppt/media/image34.png" Id="R439e13277266482d" /><Relationship Type="http://schemas.openxmlformats.org/officeDocument/2006/relationships/notesSlide" Target="/ppt/notesSlides/notesSlide41.xml" Id="Rffd9de3f8d8c475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075f64e3d4ba6" /><Relationship Type="http://schemas.openxmlformats.org/officeDocument/2006/relationships/image" Target="/ppt/media/image35.png" Id="R315661e1c73d49e8" /><Relationship Type="http://schemas.openxmlformats.org/officeDocument/2006/relationships/notesSlide" Target="/ppt/notesSlides/notesSlide42.xml" Id="Rb6f1acb3ba92469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3d7c5b6d146ce" /><Relationship Type="http://schemas.openxmlformats.org/officeDocument/2006/relationships/notesSlide" Target="/ppt/notesSlides/notesSlide43.xml" Id="Rfc5961a1d4d24ae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ab71b572547e3" /><Relationship Type="http://schemas.openxmlformats.org/officeDocument/2006/relationships/notesSlide" Target="/ppt/notesSlides/notesSlide44.xml" Id="R3ae321e3535646e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24f4b54dd4078" /><Relationship Type="http://schemas.openxmlformats.org/officeDocument/2006/relationships/notesSlide" Target="/ppt/notesSlides/notesSlide45.xml" Id="R90eef02e9396432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2b58b16c34929" /><Relationship Type="http://schemas.openxmlformats.org/officeDocument/2006/relationships/notesSlide" Target="/ppt/notesSlides/notesSlide46.xml" Id="R39830948fc8f41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62d0143c5430c" /><Relationship Type="http://schemas.openxmlformats.org/officeDocument/2006/relationships/hyperlink" Target="https://li-fancheng.github.io/notes/celegans/embryonic_morphogenesis/" TargetMode="External" Id="R9aabc9c9bb934f1c" /><Relationship Type="http://schemas.openxmlformats.org/officeDocument/2006/relationships/hyperlink" Target="https://li-fancheng.github.io/notes/vertex_model/" TargetMode="External" Id="R5c465fc295f34cb0" /><Relationship Type="http://schemas.openxmlformats.org/officeDocument/2006/relationships/hyperlink" Target="https://doi.org/10.1016/j.bpj.2013.09.005" TargetMode="External" Id="R15554bbe1c4047bb" /><Relationship Type="http://schemas.openxmlformats.org/officeDocument/2006/relationships/hyperlink" Target="https://doi.org/10.1016/j.devcel.2026.04.013" TargetMode="External" Id="Rc02028bb989e4ce0" /><Relationship Type="http://schemas.openxmlformats.org/officeDocument/2006/relationships/hyperlink" Target="https://doi.org/10.1371/journal.pgen.1010319" TargetMode="External" Id="R404a4adef07a469b" /><Relationship Type="http://schemas.openxmlformats.org/officeDocument/2006/relationships/hyperlink" Target="https://doi.org/10.1242/dev.079863" TargetMode="External" Id="R31bc35469f44456b" /><Relationship Type="http://schemas.openxmlformats.org/officeDocument/2006/relationships/hyperlink" Target="https://doi.org/10.1371/journal.pgen.1006415" TargetMode="External" Id="R257bed2f4e014873" /><Relationship Type="http://schemas.openxmlformats.org/officeDocument/2006/relationships/hyperlink" Target="https://doi.org/10.7554/eLife.23866" TargetMode="External" Id="R75dcdf12680845e1" /><Relationship Type="http://schemas.openxmlformats.org/officeDocument/2006/relationships/hyperlink" Target="https://doi.org/10.1126/sciadv.abg3264" TargetMode="External" Id="R88389455fc2a49c6" /><Relationship Type="http://schemas.openxmlformats.org/officeDocument/2006/relationships/hyperlink" Target="https://doi.org/10.1016/j.devcel.2025.06.012" TargetMode="External" Id="Refb14ab97c474f19" /><Relationship Type="http://schemas.openxmlformats.org/officeDocument/2006/relationships/notesSlide" Target="/ppt/notesSlides/notesSlide47.xml" Id="Re136e6bbd48e4f0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af7c8c7e14abf" /><Relationship Type="http://schemas.openxmlformats.org/officeDocument/2006/relationships/image" Target="/ppt/media/image6.gif" Id="R5cc70b088256414f" /><Relationship Type="http://schemas.openxmlformats.org/officeDocument/2006/relationships/image" Target="/ppt/media/image36.png" Id="Re99afc293a364a6f" /><Relationship Type="http://schemas.openxmlformats.org/officeDocument/2006/relationships/notesSlide" Target="/ppt/notesSlides/notesSlide48.xml" Id="Rb260082b482d4c0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94e9c54e946a3" /><Relationship Type="http://schemas.openxmlformats.org/officeDocument/2006/relationships/image" Target="/ppt/media/image7.gif" Id="R00787c7f5d80461f" /><Relationship Type="http://schemas.openxmlformats.org/officeDocument/2006/relationships/image" Target="/ppt/media/image37.png" Id="Ra3f84a8c557d49ff" /><Relationship Type="http://schemas.openxmlformats.org/officeDocument/2006/relationships/notesSlide" Target="/ppt/notesSlides/notesSlide49.xml" Id="R1833cdab189346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受限主动细胞集体的&#10;重排与稳定性">
            <a:extLst xmlns:a="http://schemas.openxmlformats.org/drawingml/2006/main">
              <a:ext uri="{FF2B5EF4-FFF2-40B4-BE49-F238E27FC236}">
                <a16:creationId xmlns:a16="http://schemas.microsoft.com/office/drawing/2014/main" id="{D83AE12B-0330-4E53-9678-4276E2B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81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受限主动细胞集体的</a:t>
            </a:r>
          </a:p>
          <a:p xmlns:a="http://schemas.openxmlformats.org/drawingml/2006/main">
            <a:pPr>
              <a:buNone/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重排与稳定性</a:t>
            </a:r>
          </a:p>
        </p:txBody>
      </p:sp>
      <p:sp>
        <p:nvSpPr>
          <p:cNvPr id="2" name="C. elegans 胚胎中的驱动、约束与构型选择">
            <a:extLst xmlns:a="http://schemas.openxmlformats.org/drawingml/2006/main">
              <a:ext uri="{FF2B5EF4-FFF2-40B4-BE49-F238E27FC236}">
                <a16:creationId xmlns:a16="http://schemas.microsoft.com/office/drawing/2014/main" id="{04D29B34-B57D-4143-8510-B3D70BC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C. elegans 胚胎中的驱动、约束与构型选择</a:t>
            </a:r>
          </a:p>
        </p:txBody>
      </p:sp>
      <p:sp>
        <p:nvSpPr>
          <p:cNvPr id="3" name="特殊条件怎样改变集体运动的路径，&#10;又怎样选择并保留新的构型">
            <a:extLst xmlns:a="http://schemas.openxmlformats.org/drawingml/2006/main">
              <a:ext uri="{FF2B5EF4-FFF2-40B4-BE49-F238E27FC236}">
                <a16:creationId xmlns:a16="http://schemas.microsoft.com/office/drawing/2014/main" id="{99712CCD-8000-4091-A2D8-A18C153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810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特殊条件怎样改变集体运动的路径，</a:t>
            </a:r>
          </a:p>
          <a:p xmlns:a="http://schemas.openxmlformats.org/drawingml/2006/main">
            <a:pPr>
              <a:buNone/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又怎样选择并保留新的构型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3D11-D910-4DC0-A290-842982E86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a7142b2ed4be5"/>
          <a:stretch xmlns:a="http://schemas.openxmlformats.org/drawingml/2006/main"/>
        </p:blipFill>
        <p:spPr>
          <a:xfrm xmlns:a="http://schemas.openxmlformats.org/drawingml/2006/main">
            <a:off x="6802606" y="2266950"/>
            <a:ext cx="4758988" cy="2647950"/>
          </a:xfrm>
          <a:prstGeom xmlns:a="http://schemas.openxmlformats.org/drawingml/2006/main" prst="rect">
            <a:avLst/>
          </a:prstGeom>
        </p:spPr>
      </p:pic>
      <p:sp>
        <p:nvSpPr>
          <p:cNvPr id="5" name="野生型胚胎伸长，侧面 DIC">
            <a:extLst xmlns:a="http://schemas.openxmlformats.org/drawingml/2006/main">
              <a:ext uri="{FF2B5EF4-FFF2-40B4-BE49-F238E27FC236}">
                <a16:creationId xmlns:a16="http://schemas.microsoft.com/office/drawing/2014/main" id="{BB108509-EB07-4322-8F5F-76808CE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72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野生型胚胎伸长，侧面 DIC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4DEEF935-C4A9-4986-AD02-DCB3240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6312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线虫胚胎形态发生的过程与尺度">
            <a:extLst xmlns:a="http://schemas.openxmlformats.org/drawingml/2006/main">
              <a:ext uri="{FF2B5EF4-FFF2-40B4-BE49-F238E27FC236}">
                <a16:creationId xmlns:a16="http://schemas.microsoft.com/office/drawing/2014/main" id="{12FD1120-4B66-4315-B478-862B415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研究问题：驱动与约束怎样选择细胞集体构型</a:t>
            </a:r>
          </a:p>
        </p:txBody>
      </p:sp>
      <p:sp>
        <p:nvSpPr>
          <p:cNvPr id="2" name="发育顺序示意，条长不表示持续时间">
            <a:extLst xmlns:a="http://schemas.openxmlformats.org/drawingml/2006/main">
              <a:ext uri="{FF2B5EF4-FFF2-40B4-BE49-F238E27FC236}">
                <a16:creationId xmlns:a16="http://schemas.microsoft.com/office/drawing/2014/main" id="{3FAC3C56-8C7B-4502-B9F4-DAF100F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研究目标与问题定义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D30FA338-B40F-4E10-916E-E859878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从 C. elegans 胚胎中选择具有特殊驱动方式&#10;或几何约束的形态发生过程，研究这些条">
            <a:extLst xmlns:a="http://schemas.openxmlformats.org/drawingml/2006/main">
              <a:ext uri="{FF2B5EF4-FFF2-40B4-BE49-F238E27FC236}">
                <a16:creationId xmlns:a16="http://schemas.microsoft.com/office/drawing/2014/main" id="{8D068828-F062-49BE-92BA-7BBA263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从 C. elegans 胚胎中选择具有特殊驱动方式</a:t>
            </a:r>
          </a:p>
          <a:p xmlns:a="http://schemas.openxmlformats.org/drawingml/2006/main">
            <a: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或几何约束的形态发生过程，研究这些条件</a:t>
            </a:r>
          </a:p>
          <a:p xmlns:a="http://schemas.openxmlformats.org/drawingml/2006/main">
            <a: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怎样影响细胞集体重排、稳定性和可达构型，</a:t>
            </a:r>
          </a:p>
          <a:p xmlns:a="http://schemas.openxmlformats.org/drawingml/2006/main">
            <a:pPr>
              <a:buNone/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进而寻找具有普遍意义的物理机制。</a:t>
            </a:r>
          </a:p>
        </p:txBody>
      </p:sp>
      <p:sp>
        <p:nvSpPr>
          <p:cNvPr id="13" name="重排：局部挤压，还是邻居协同让位？">
            <a:extLst xmlns:a="http://schemas.openxmlformats.org/drawingml/2006/main">
              <a:ext uri="{FF2B5EF4-FFF2-40B4-BE49-F238E27FC236}">
                <a16:creationId xmlns:a16="http://schemas.microsoft.com/office/drawing/2014/main" id="{63BB3934-9351-4177-99A7-51F2FAD3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重排：局部挤压，还是邻居协同让位？</a:t>
            </a:r>
          </a:p>
        </p:txBody>
      </p:sp>
      <p:sp>
        <p:nvSpPr>
          <p:cNvPr id="14" name="稳定性：扰动后恢复、失稳，还是进入另一种运动？">
            <a:extLst xmlns:a="http://schemas.openxmlformats.org/drawingml/2006/main">
              <a:ext uri="{FF2B5EF4-FFF2-40B4-BE49-F238E27FC236}">
                <a16:creationId xmlns:a16="http://schemas.microsoft.com/office/drawing/2014/main" id="{BF141CC6-3242-4CF1-814D-C2ADF001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稳定性：扰动后恢复、失稳，还是进入另一种运动？</a:t>
            </a:r>
          </a:p>
        </p:txBody>
      </p:sp>
      <p:sp>
        <p:nvSpPr>
          <p:cNvPr id="15" name="可达性：从相同初态，在给定驱动与时间内能到达哪里？">
            <a:extLst xmlns:a="http://schemas.openxmlformats.org/drawingml/2006/main">
              <a:ext uri="{FF2B5EF4-FFF2-40B4-BE49-F238E27FC236}">
                <a16:creationId xmlns:a16="http://schemas.microsoft.com/office/drawing/2014/main" id="{69201FBA-94D4-45E6-8559-B6191FFB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可达性：从相同初态，在给定驱动与时间内能到达哪里？</a:t>
            </a:r>
          </a:p>
        </p:txBody>
      </p:sp>
      <p:sp>
        <p:nvSpPr>
          <p:cNvPr id="16" name="少量细胞、可重复谱系与可追踪界面，使线虫适合连接控制条件和集体结果">
            <a:extLst xmlns:a="http://schemas.openxmlformats.org/drawingml/2006/main">
              <a:ext uri="{FF2B5EF4-FFF2-40B4-BE49-F238E27FC236}">
                <a16:creationId xmlns:a16="http://schemas.microsoft.com/office/drawing/2014/main" id="{77FCD01A-2455-49DB-A6B9-9D2DBA5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少量细胞、可重复谱系与可追踪界面，使线虫适合连接控制条件和集体结果</a:t>
            </a:r>
          </a:p>
        </p:txBody>
      </p:sp>
    </p:spTree>
    <p:extLst>
      <p:ext uri="{BB962C8B-B14F-4D97-AF65-F5344CB8AC3E}">
        <p14:creationId xmlns:p14="http://schemas.microsoft.com/office/powerpoint/2010/main" val="2092340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顶点模型的几何自由度">
            <a:extLst xmlns:a="http://schemas.openxmlformats.org/drawingml/2006/main">
              <a:ext uri="{FF2B5EF4-FFF2-40B4-BE49-F238E27FC236}">
                <a16:creationId xmlns:a16="http://schemas.microsoft.com/office/drawing/2014/main" id="{3B21C6FB-F2BA-4B2C-A962-415C7FA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三个案例对应三类特殊物理条件</a:t>
            </a:r>
          </a:p>
        </p:txBody>
      </p:sp>
      <p:sp>
        <p:nvSpPr>
          <p:cNvPr id="2" name="Barton et al., 2017, Fig. 1，CC BY">
            <a:extLst xmlns:a="http://schemas.openxmlformats.org/drawingml/2006/main">
              <a:ext uri="{FF2B5EF4-FFF2-40B4-BE49-F238E27FC236}">
                <a16:creationId xmlns:a16="http://schemas.microsoft.com/office/drawing/2014/main" id="{D98AB422-F5F1-4248-991E-7A2E476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案例选择：几何约束、定向驱动与周期历史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BC2646AA-E744-4F4E-AD66-37134E5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8D424-E000-435B-9424-5845950AC34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905250"/>
                <a:gridCol w="44958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所选过程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特殊驱动或约束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希望辨识的物理问题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受限堆积与细胞内移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卵壳形状、非均一接触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分裂改变细胞数与空间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几何怎样改变构型范围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稳定盆地和集体让位路径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背侧表皮插入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推进集中在基底外侧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具有明确方向和顶底时序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结构化驱动怎样选择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邻居交换的路径与方向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肌肉参与的持续伸长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周期负载、方向性骨架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封闭体积与结构重塑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循环怎样改变材料状态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并稳定卸载后的新构型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选择依据：条件可辨认，输出可追踪，并能设计区分机制的对照">
            <a:extLst xmlns:a="http://schemas.openxmlformats.org/drawingml/2006/main">
              <a:ext uri="{FF2B5EF4-FFF2-40B4-BE49-F238E27FC236}">
                <a16:creationId xmlns:a16="http://schemas.microsoft.com/office/drawing/2014/main" id="{46553D4E-21D2-4D7F-B27F-957D81D8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选择依据：条件可辨认，输出可追踪，并能设计区分机制的对照</a:t>
            </a:r>
          </a:p>
        </p:txBody>
      </p:sp>
    </p:spTree>
    <p:extLst>
      <p:ext uri="{BB962C8B-B14F-4D97-AF65-F5344CB8AC3E}">
        <p14:creationId xmlns:p14="http://schemas.microsoft.com/office/powerpoint/2010/main" val="362508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几何允许、稳定与有限时间可达需要分别判断">
            <a:extLst xmlns:a="http://schemas.openxmlformats.org/drawingml/2006/main">
              <a:ext uri="{FF2B5EF4-FFF2-40B4-BE49-F238E27FC236}">
                <a16:creationId xmlns:a16="http://schemas.microsoft.com/office/drawing/2014/main" id="{0B39AB1C-5FCD-447F-8513-8A87D6D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几何允许、稳定与有限时间可达需要分别判断</a:t>
            </a:r>
          </a:p>
        </p:txBody>
      </p:sp>
      <p:sp>
        <p:nvSpPr>
          <p:cNvPr id="2" name="理论框架与操作性定义">
            <a:extLst xmlns:a="http://schemas.openxmlformats.org/drawingml/2006/main">
              <a:ext uri="{FF2B5EF4-FFF2-40B4-BE49-F238E27FC236}">
                <a16:creationId xmlns:a16="http://schemas.microsoft.com/office/drawing/2014/main" id="{1C139D47-9121-4D93-8A53-3C117F6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理论框架与操作性定义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E5CC0055-8DE8-4261-A413-EA17290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Γ dX/dt = −∇ₓ E(X; g, m) + f_act(X, t)">
            <a:extLst xmlns:a="http://schemas.openxmlformats.org/drawingml/2006/main">
              <a:ext uri="{FF2B5EF4-FFF2-40B4-BE49-F238E27FC236}">
                <a16:creationId xmlns:a16="http://schemas.microsoft.com/office/drawing/2014/main" id="{5047139F-2499-4DDD-A17D-D542471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Γ dX/dt = −∇ₓ E(X; g, m) + f_act(X, t)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F7F3B-B890-436D-A458-8BFC65EDBC7C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判断对象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需要回答的问题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几何可行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位置、形状、体积与接触能否满足边界和不穿透约束？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静态局部稳定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给定内部状态时，允许的非平凡小扰动会恢复还是增长？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持续驱动下稳定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相位对齐后，小扰动能否在运动或周期之间衰减？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有限时间可达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从指定初态按给定协议演化，能访问哪些构型，概率和首达时间如何？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6" name="可达构型可以是瞬态，稳定构型也可能因路径受阻而无法到达">
            <a:extLst xmlns:a="http://schemas.openxmlformats.org/drawingml/2006/main">
              <a:ext uri="{FF2B5EF4-FFF2-40B4-BE49-F238E27FC236}">
                <a16:creationId xmlns:a16="http://schemas.microsoft.com/office/drawing/2014/main" id="{14D33944-E457-4370-9ED0-79BDCDE9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可达构型可以是瞬态，稳定构型也可能因路径受阻而无法到达</a:t>
            </a:r>
          </a:p>
        </p:txBody>
      </p:sp>
    </p:spTree>
    <p:extLst>
      <p:ext uri="{BB962C8B-B14F-4D97-AF65-F5344CB8AC3E}">
        <p14:creationId xmlns:p14="http://schemas.microsoft.com/office/powerpoint/2010/main" val="130495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模型分辨率取决于需要保留的几何自由度">
            <a:extLst xmlns:a="http://schemas.openxmlformats.org/drawingml/2006/main">
              <a:ext uri="{FF2B5EF4-FFF2-40B4-BE49-F238E27FC236}">
                <a16:creationId xmlns:a16="http://schemas.microsoft.com/office/drawing/2014/main" id="{B855515E-6498-45F8-9BB7-D454F294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模型分辨率取决于需要保留的几何自由度</a:t>
            </a:r>
          </a:p>
        </p:txBody>
      </p:sp>
      <p:sp>
        <p:nvSpPr>
          <p:cNvPr id="2" name="Kuang et al., 2022, Fig. 1；线虫 Note 01 §2；Vertex Note 01">
            <a:extLst xmlns:a="http://schemas.openxmlformats.org/drawingml/2006/main">
              <a:ext uri="{FF2B5EF4-FFF2-40B4-BE49-F238E27FC236}">
                <a16:creationId xmlns:a16="http://schemas.microsoft.com/office/drawing/2014/main" id="{B29A8888-6D27-4961-8C50-29220C4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Kuang et al., 2022, Fig. 1；线虫 Note 01 §2；Vertex Note 01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F65E3744-0BA8-415C-ADD3-DC2B901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10D8A-BBBF-4B8E-AD72-A3D291C9F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2733ca2bd4cac"/>
          <a:stretch xmlns:a="http://schemas.openxmlformats.org/drawingml/2006/main"/>
        </p:blipFill>
        <p:spPr>
          <a:xfrm xmlns:a="http://schemas.openxmlformats.org/drawingml/2006/main">
            <a:off x="609600" y="2192634"/>
            <a:ext cx="6762750" cy="3053757"/>
          </a:xfrm>
          <a:prstGeom xmlns:a="http://schemas.openxmlformats.org/drawingml/2006/main" prst="rect">
            <a:avLst/>
          </a:prstGeom>
        </p:spPr>
      </p:pic>
      <p:sp>
        <p:nvSpPr>
          <p:cNvPr id="5" name="中心与尺寸">
            <a:extLst xmlns:a="http://schemas.openxmlformats.org/drawingml/2006/main">
              <a:ext uri="{FF2B5EF4-FFF2-40B4-BE49-F238E27FC236}">
                <a16:creationId xmlns:a16="http://schemas.microsoft.com/office/drawing/2014/main" id="{983DDD3F-9094-4F97-827E-48EAED7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中心与尺寸</a:t>
            </a:r>
          </a:p>
        </p:txBody>
      </p:sp>
      <p:sp>
        <p:nvSpPr>
          <p:cNvPr id="6" name="受限排列、分裂后的松弛">
            <a:extLst xmlns:a="http://schemas.openxmlformats.org/drawingml/2006/main">
              <a:ext uri="{FF2B5EF4-FFF2-40B4-BE49-F238E27FC236}">
                <a16:creationId xmlns:a16="http://schemas.microsoft.com/office/drawing/2014/main" id="{38251657-6706-49CD-BF40-639D820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受限排列、分裂后的松弛</a:t>
            </a:r>
          </a:p>
        </p:txBody>
      </p:sp>
      <p:sp>
        <p:nvSpPr>
          <p:cNvPr id="7" name="顶点与共享边">
            <a:extLst xmlns:a="http://schemas.openxmlformats.org/drawingml/2006/main">
              <a:ext uri="{FF2B5EF4-FFF2-40B4-BE49-F238E27FC236}">
                <a16:creationId xmlns:a16="http://schemas.microsoft.com/office/drawing/2014/main" id="{6A0D57E9-FC45-4CE4-A136-A38155B0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1942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顶点与共享边</a:t>
            </a:r>
          </a:p>
        </p:txBody>
      </p:sp>
      <p:sp>
        <p:nvSpPr>
          <p:cNvPr id="8" name="细胞形状、接触拓扑与 T1">
            <a:extLst xmlns:a="http://schemas.openxmlformats.org/drawingml/2006/main">
              <a:ext uri="{FF2B5EF4-FFF2-40B4-BE49-F238E27FC236}">
                <a16:creationId xmlns:a16="http://schemas.microsoft.com/office/drawing/2014/main" id="{0CCFEDCC-B6E6-4A56-854D-F3CD0D0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95675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细胞形状、接触拓扑与 T1</a:t>
            </a:r>
          </a:p>
        </p:txBody>
      </p:sp>
      <p:sp>
        <p:nvSpPr>
          <p:cNvPr id="9" name="可变界面与厚度">
            <a:extLst xmlns:a="http://schemas.openxmlformats.org/drawingml/2006/main">
              <a:ext uri="{FF2B5EF4-FFF2-40B4-BE49-F238E27FC236}">
                <a16:creationId xmlns:a16="http://schemas.microsoft.com/office/drawing/2014/main" id="{AE8D4FCC-041D-4894-8202-26A221F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可变界面与厚度</a:t>
            </a:r>
          </a:p>
        </p:txBody>
      </p:sp>
      <p:sp>
        <p:nvSpPr>
          <p:cNvPr id="10" name="顶底差异、体积和三维接触">
            <a:extLst xmlns:a="http://schemas.openxmlformats.org/drawingml/2006/main">
              <a:ext uri="{FF2B5EF4-FFF2-40B4-BE49-F238E27FC236}">
                <a16:creationId xmlns:a16="http://schemas.microsoft.com/office/drawing/2014/main" id="{B90127DA-64AD-4FFA-A2C0-EC33DFA7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638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顶底差异、体积和三维接触</a:t>
            </a:r>
          </a:p>
        </p:txBody>
      </p:sp>
    </p:spTree>
    <p:extLst>
      <p:ext uri="{BB962C8B-B14F-4D97-AF65-F5344CB8AC3E}">
        <p14:creationId xmlns:p14="http://schemas.microsoft.com/office/powerpoint/2010/main" val="210177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卵壳与分裂协议共同限制早期细胞排列">
            <a:extLst xmlns:a="http://schemas.openxmlformats.org/drawingml/2006/main">
              <a:ext uri="{FF2B5EF4-FFF2-40B4-BE49-F238E27FC236}">
                <a16:creationId xmlns:a16="http://schemas.microsoft.com/office/drawing/2014/main" id="{9163B824-124A-4F78-B4B0-81AF3127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卵壳与分裂协议共同限制早期细胞排列</a:t>
            </a:r>
          </a:p>
        </p:txBody>
      </p:sp>
      <p:sp>
        <p:nvSpPr>
          <p:cNvPr id="2" name="Fickentscher et al., 2013, Fig. 3；线虫 Note 01 §2.1">
            <a:extLst xmlns:a="http://schemas.openxmlformats.org/drawingml/2006/main">
              <a:ext uri="{FF2B5EF4-FFF2-40B4-BE49-F238E27FC236}">
                <a16:creationId xmlns:a16="http://schemas.microsoft.com/office/drawing/2014/main" id="{BEA658E2-29AD-4884-BED3-776224E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Fickentscher et al., 2013, Fig. 3；线虫 Note 01 §2.1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6C5DD341-87C1-4472-AA70-C2E3ECCB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47C1D-37FC-46D0-95F7-DE4BB5A2C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b3e722cb644ac"/>
          <a:stretch xmlns:a="http://schemas.openxmlformats.org/drawingml/2006/main"/>
        </p:blipFill>
        <p:spPr>
          <a:xfrm xmlns:a="http://schemas.openxmlformats.org/drawingml/2006/main">
            <a:off x="1393482" y="1457325"/>
            <a:ext cx="5861736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条件可以逐一指定">
            <a:extLst xmlns:a="http://schemas.openxmlformats.org/drawingml/2006/main">
              <a:ext uri="{FF2B5EF4-FFF2-40B4-BE49-F238E27FC236}">
                <a16:creationId xmlns:a16="http://schemas.microsoft.com/office/drawing/2014/main" id="{BE127EE9-FE17-4B66-A9F7-4A4DB1F2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0497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条件可以逐一指定</a:t>
            </a:r>
          </a:p>
        </p:txBody>
      </p:sp>
      <p:sp>
        <p:nvSpPr>
          <p:cNvPr id="6" name="卵壳形状&#10;&#10;细胞大小与分裂方向&#10;&#10;分裂时序与初始位置">
            <a:extLst xmlns:a="http://schemas.openxmlformats.org/drawingml/2006/main">
              <a:ext uri="{FF2B5EF4-FFF2-40B4-BE49-F238E27FC236}">
                <a16:creationId xmlns:a16="http://schemas.microsoft.com/office/drawing/2014/main" id="{89C67D61-A18E-4B57-B5B0-B916B60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28900"/>
            <a:ext cx="30289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卵壳形状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细胞大小与分裂方向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分裂时序与初始位置</a:t>
            </a:r>
          </a:p>
        </p:txBody>
      </p:sp>
      <p:sp>
        <p:nvSpPr>
          <p:cNvPr id="7" name="相同终态，还可能经历不同的集体松弛路径">
            <a:extLst xmlns:a="http://schemas.openxmlformats.org/drawingml/2006/main">
              <a:ext uri="{FF2B5EF4-FFF2-40B4-BE49-F238E27FC236}">
                <a16:creationId xmlns:a16="http://schemas.microsoft.com/office/drawing/2014/main" id="{92FE004E-5AF6-425A-B5A5-9A70EEE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相同终态，还可能经历不同的集体松弛路径</a:t>
            </a:r>
          </a:p>
        </p:txBody>
      </p:sp>
    </p:spTree>
    <p:extLst>
      <p:ext uri="{BB962C8B-B14F-4D97-AF65-F5344CB8AC3E}">
        <p14:creationId xmlns:p14="http://schemas.microsoft.com/office/powerpoint/2010/main" val="1446600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伸长：周向收缩与轴向伸展">
            <a:extLst xmlns:a="http://schemas.openxmlformats.org/drawingml/2006/main">
              <a:ext uri="{FF2B5EF4-FFF2-40B4-BE49-F238E27FC236}">
                <a16:creationId xmlns:a16="http://schemas.microsoft.com/office/drawing/2014/main" id="{22E46529-1741-480B-9FDB-63A7FFA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卵壳形状与非均一相互作用共同选择排列</a:t>
            </a:r>
          </a:p>
        </p:txBody>
      </p:sp>
      <p:sp>
        <p:nvSpPr>
          <p:cNvPr id="2" name="圆柱与总体积近似用于解释几何约束">
            <a:extLst xmlns:a="http://schemas.openxmlformats.org/drawingml/2006/main">
              <a:ext uri="{FF2B5EF4-FFF2-40B4-BE49-F238E27FC236}">
                <a16:creationId xmlns:a16="http://schemas.microsoft.com/office/drawing/2014/main" id="{FE37EFAA-E598-45E4-B664-AB57F0B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Yamamoto &amp; Kimura, 2017, Fig. 5；Yamamoto et al., 2026, Fig. 5E；线虫 Note 06 §8.1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D37E99D-97AB-4518-A75E-3643C4A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实验：四细胞界面随细胞周期演化">
            <a:extLst xmlns:a="http://schemas.openxmlformats.org/drawingml/2006/main">
              <a:ext uri="{FF2B5EF4-FFF2-40B4-BE49-F238E27FC236}">
                <a16:creationId xmlns:a16="http://schemas.microsoft.com/office/drawing/2014/main" id="{36804823-C9D0-4946-B586-787499EA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实验：四细胞界面随细胞周期演化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9AB6E-09DB-4A98-9093-73944B9BD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3be1b47304a6a"/>
          <a:stretch xmlns:a="http://schemas.openxmlformats.org/drawingml/2006/main"/>
        </p:blipFill>
        <p:spPr>
          <a:xfrm xmlns:a="http://schemas.openxmlformats.org/drawingml/2006/main">
            <a:off x="609600" y="1895526"/>
            <a:ext cx="7239000" cy="1647724"/>
          </a:xfrm>
          <a:prstGeom xmlns:a="http://schemas.openxmlformats.org/drawingml/2006/main" prst="rect">
            <a:avLst/>
          </a:prstGeom>
        </p:spPr>
      </p:pic>
      <p:sp>
        <p:nvSpPr>
          <p:cNvPr id="10" name="文献模型：改变卵壳长宽比">
            <a:extLst xmlns:a="http://schemas.openxmlformats.org/drawingml/2006/main">
              <a:ext uri="{FF2B5EF4-FFF2-40B4-BE49-F238E27FC236}">
                <a16:creationId xmlns:a16="http://schemas.microsoft.com/office/drawing/2014/main" id="{92AE9DF2-EFDF-4EC9-AB56-BCBDC8F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文献模型：改变卵壳长宽比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57C89-45F6-4974-8CB8-B488743F6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c421282764295"/>
          <a:stretch xmlns:a="http://schemas.openxmlformats.org/drawingml/2006/main"/>
        </p:blipFill>
        <p:spPr>
          <a:xfrm xmlns:a="http://schemas.openxmlformats.org/drawingml/2006/main">
            <a:off x="609600" y="4517501"/>
            <a:ext cx="7239000" cy="1604422"/>
          </a:xfrm>
          <a:prstGeom xmlns:a="http://schemas.openxmlformats.org/drawingml/2006/main" prst="rect">
            <a:avLst/>
          </a:prstGeom>
        </p:spPr>
      </p:pic>
      <p:sp>
        <p:nvSpPr>
          <p:cNvPr id="12" name="模型排列的出现比例">
            <a:extLst xmlns:a="http://schemas.openxmlformats.org/drawingml/2006/main">
              <a:ext uri="{FF2B5EF4-FFF2-40B4-BE49-F238E27FC236}">
                <a16:creationId xmlns:a16="http://schemas.microsoft.com/office/drawing/2014/main" id="{34185D3D-2048-4638-96D9-93F1A30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0492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模型排列的出现比例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D7259-0F2C-4F0D-894F-B18F90CD3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49683556d4b64"/>
          <a:stretch xmlns:a="http://schemas.openxmlformats.org/drawingml/2006/main"/>
        </p:blipFill>
        <p:spPr>
          <a:xfrm xmlns:a="http://schemas.openxmlformats.org/drawingml/2006/main">
            <a:off x="8229600" y="2145590"/>
            <a:ext cx="3352800" cy="1804820"/>
          </a:xfrm>
          <a:prstGeom xmlns:a="http://schemas.openxmlformats.org/drawingml/2006/main" prst="rect">
            <a:avLst/>
          </a:prstGeom>
        </p:spPr>
      </p:pic>
      <p:sp>
        <p:nvSpPr>
          <p:cNvPr id="14" name="壳形改变排列分布&#10;&#10;接触差异改变&#10;构型的稳健范围">
            <a:extLst xmlns:a="http://schemas.openxmlformats.org/drawingml/2006/main">
              <a:ext uri="{FF2B5EF4-FFF2-40B4-BE49-F238E27FC236}">
                <a16:creationId xmlns:a16="http://schemas.microsoft.com/office/drawing/2014/main" id="{8A1BCC9D-4758-4251-B57F-E51D0C9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33528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壳形改变排列分布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接触差异改变</a:t>
            </a:r>
          </a:p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构型的稳健范围</a:t>
            </a:r>
          </a:p>
        </p:txBody>
      </p:sp>
    </p:spTree>
    <p:extLst>
      <p:ext uri="{BB962C8B-B14F-4D97-AF65-F5344CB8AC3E}">
        <p14:creationId xmlns:p14="http://schemas.microsoft.com/office/powerpoint/2010/main" val="727762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界面张力测量区分相似接触形状背后的作用">
            <a:extLst xmlns:a="http://schemas.openxmlformats.org/drawingml/2006/main">
              <a:ext uri="{FF2B5EF4-FFF2-40B4-BE49-F238E27FC236}">
                <a16:creationId xmlns:a16="http://schemas.microsoft.com/office/drawing/2014/main" id="{B382D6EB-B5DE-4BDD-AD10-EAA6D85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界面张力测量区分相似接触形状背后的作用</a:t>
            </a:r>
          </a:p>
        </p:txBody>
      </p:sp>
      <p:sp>
        <p:nvSpPr>
          <p:cNvPr id="2" name="Yamamoto et al., 2026, Fig. 5A–C；线虫 Note 06 §8.1">
            <a:extLst xmlns:a="http://schemas.openxmlformats.org/drawingml/2006/main">
              <a:ext uri="{FF2B5EF4-FFF2-40B4-BE49-F238E27FC236}">
                <a16:creationId xmlns:a16="http://schemas.microsoft.com/office/drawing/2014/main" id="{7463745D-D3CD-4F1B-B5BE-AE22C9AF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Yamamoto et al., 2026, Fig. 5A–C；线虫 Note 06 §8.1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F189D0B3-CB7C-4745-AF52-386BFC0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094F1-FD42-449D-9C88-82F50A637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3c229435a482f"/>
          <a:stretch xmlns:a="http://schemas.openxmlformats.org/drawingml/2006/main"/>
        </p:blipFill>
        <p:spPr>
          <a:xfrm xmlns:a="http://schemas.openxmlformats.org/drawingml/2006/main">
            <a:off x="609600" y="1716126"/>
            <a:ext cx="10972800" cy="2997123"/>
          </a:xfrm>
          <a:prstGeom xmlns:a="http://schemas.openxmlformats.org/drawingml/2006/main" prst="rect">
            <a:avLst/>
          </a:prstGeom>
        </p:spPr>
      </p:pic>
      <p:sp>
        <p:nvSpPr>
          <p:cNvPr id="5" name="接触角主要约束张力比，独立施力测量提供绝对尺度">
            <a:extLst xmlns:a="http://schemas.openxmlformats.org/drawingml/2006/main">
              <a:ext uri="{FF2B5EF4-FFF2-40B4-BE49-F238E27FC236}">
                <a16:creationId xmlns:a16="http://schemas.microsoft.com/office/drawing/2014/main" id="{3167FA51-BDE0-45F2-82A9-FB1630CE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接触角主要约束张力比，独立施力测量提供绝对尺度</a:t>
            </a:r>
          </a:p>
        </p:txBody>
      </p:sp>
      <p:sp>
        <p:nvSpPr>
          <p:cNvPr id="6" name="界面性质的改变，可以通过新的壳形和新的细胞接触继续检验">
            <a:extLst xmlns:a="http://schemas.openxmlformats.org/drawingml/2006/main">
              <a:ext uri="{FF2B5EF4-FFF2-40B4-BE49-F238E27FC236}">
                <a16:creationId xmlns:a16="http://schemas.microsoft.com/office/drawing/2014/main" id="{82174AA1-2D57-4A55-888C-9F39F790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界面性质的改变，可以通过新的壳形和新的细胞接触继续检验</a:t>
            </a:r>
          </a:p>
        </p:txBody>
      </p:sp>
    </p:spTree>
    <p:extLst>
      <p:ext uri="{BB962C8B-B14F-4D97-AF65-F5344CB8AC3E}">
        <p14:creationId xmlns:p14="http://schemas.microsoft.com/office/powerpoint/2010/main" val="484842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拥挤与刚性之间还隔着允许的集体运动">
            <a:extLst xmlns:a="http://schemas.openxmlformats.org/drawingml/2006/main">
              <a:ext uri="{FF2B5EF4-FFF2-40B4-BE49-F238E27FC236}">
                <a16:creationId xmlns:a16="http://schemas.microsoft.com/office/drawing/2014/main" id="{03617BD6-4D26-4245-AE14-314DCCB2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拥挤与刚性之间还隔着允许的集体运动</a:t>
            </a:r>
          </a:p>
        </p:txBody>
      </p:sp>
      <p:sp>
        <p:nvSpPr>
          <p:cNvPr id="2" name="线虫 Note 06 §2；Vertex Note 02、03">
            <a:extLst xmlns:a="http://schemas.openxmlformats.org/drawingml/2006/main">
              <a:ext uri="{FF2B5EF4-FFF2-40B4-BE49-F238E27FC236}">
                <a16:creationId xmlns:a16="http://schemas.microsoft.com/office/drawing/2014/main" id="{C2BEF8D6-F9FC-4A2D-B8B2-0589FF9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06 §2；Vertex Note 02、03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26FA1040-F883-4314-8C7B-B33B6F7C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零模数 − 自应力态数 = 自由度数 − 连接数">
            <a:extLst xmlns:a="http://schemas.openxmlformats.org/drawingml/2006/main">
              <a:ext uri="{FF2B5EF4-FFF2-40B4-BE49-F238E27FC236}">
                <a16:creationId xmlns:a16="http://schemas.microsoft.com/office/drawing/2014/main" id="{B5C57CE6-0C41-4D4B-B80A-C5682E2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零模数 − 自应力态数 = 自由度数 − 连接数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56294-0F03-4F9E-9256-2D6D2B023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a2b308e89491f"/>
          <a:stretch xmlns:a="http://schemas.openxmlformats.org/drawingml/2006/main"/>
        </p:blipFill>
        <p:spPr>
          <a:xfrm xmlns:a="http://schemas.openxmlformats.org/drawingml/2006/main">
            <a:off x="609600" y="2010591"/>
            <a:ext cx="10972800" cy="41988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519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a/Ep 内移需要同时追踪外露顶面与三维位置">
            <a:extLst xmlns:a="http://schemas.openxmlformats.org/drawingml/2006/main">
              <a:ext uri="{FF2B5EF4-FFF2-40B4-BE49-F238E27FC236}">
                <a16:creationId xmlns:a16="http://schemas.microsoft.com/office/drawing/2014/main" id="{44DDEC7F-1BD8-4607-99FF-7B4DD68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Ea/Ep 内移需要同时追踪外露顶面与三维位置</a:t>
            </a:r>
          </a:p>
        </p:txBody>
      </p:sp>
      <p:sp>
        <p:nvSpPr>
          <p:cNvPr id="2" name="Goldstein &amp; Nance, 2020, Fig. 3；线虫 Note 01 §1.1">
            <a:extLst xmlns:a="http://schemas.openxmlformats.org/drawingml/2006/main">
              <a:ext uri="{FF2B5EF4-FFF2-40B4-BE49-F238E27FC236}">
                <a16:creationId xmlns:a16="http://schemas.microsoft.com/office/drawing/2014/main" id="{DA4CB65C-DC87-46C3-AF74-F0690FD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Goldstein &amp; Nance, 2020, Fig. 3；线虫 Note 01 §1.1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09374ACF-F51B-4C86-A9FC-460A42BD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38645-1180-4585-B229-50FEF8F8B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e94de906d42ae"/>
          <a:stretch xmlns:a="http://schemas.openxmlformats.org/drawingml/2006/main"/>
        </p:blipFill>
        <p:spPr>
          <a:xfrm xmlns:a="http://schemas.openxmlformats.org/drawingml/2006/main">
            <a:off x="912544" y="1400175"/>
            <a:ext cx="3394611" cy="4838700"/>
          </a:xfrm>
          <a:prstGeom xmlns:a="http://schemas.openxmlformats.org/drawingml/2006/main" prst="rect">
            <a:avLst/>
          </a:prstGeom>
        </p:spPr>
      </p:pic>
      <p:sp>
        <p:nvSpPr>
          <p:cNvPr id="5" name="可分开的几何观测">
            <a:extLst xmlns:a="http://schemas.openxmlformats.org/drawingml/2006/main">
              <a:ext uri="{FF2B5EF4-FFF2-40B4-BE49-F238E27FC236}">
                <a16:creationId xmlns:a16="http://schemas.microsoft.com/office/drawing/2014/main" id="{6CAF99C2-FFEA-422F-8D99-69F868EF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04975"/>
            <a:ext cx="621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可分开的几何观测</a:t>
            </a:r>
          </a:p>
        </p:txBody>
      </p:sp>
      <p:sp>
        <p:nvSpPr>
          <p:cNvPr id="6" name="外露顶面的面积&#10;&#10;细胞主体的内移深度&#10;&#10;周围细胞建立的新接触">
            <a:extLst xmlns:a="http://schemas.openxmlformats.org/drawingml/2006/main">
              <a:ext uri="{FF2B5EF4-FFF2-40B4-BE49-F238E27FC236}">
                <a16:creationId xmlns:a16="http://schemas.microsoft.com/office/drawing/2014/main" id="{3A33FFEB-D3C5-4A15-A57C-6C0D945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43175"/>
            <a:ext cx="6210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外露顶面的面积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细胞主体的内移深度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周围细胞建立的新接触</a:t>
            </a:r>
          </a:p>
        </p:txBody>
      </p:sp>
      <p:sp>
        <p:nvSpPr>
          <p:cNvPr id="7" name="表面被覆盖是一项集体过程">
            <a:extLst xmlns:a="http://schemas.openxmlformats.org/drawingml/2006/main">
              <a:ext uri="{FF2B5EF4-FFF2-40B4-BE49-F238E27FC236}">
                <a16:creationId xmlns:a16="http://schemas.microsoft.com/office/drawing/2014/main" id="{4E01D24E-A06C-4A79-9B62-28BBEE2B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81625"/>
            <a:ext cx="621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表面被覆盖是一项集体过程</a:t>
            </a:r>
          </a:p>
        </p:txBody>
      </p:sp>
    </p:spTree>
    <p:extLst>
      <p:ext uri="{BB962C8B-B14F-4D97-AF65-F5344CB8AC3E}">
        <p14:creationId xmlns:p14="http://schemas.microsoft.com/office/powerpoint/2010/main" val="936184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a/Ep 内移：收缩与边界运动的耦合">
            <a:extLst xmlns:a="http://schemas.openxmlformats.org/drawingml/2006/main">
              <a:ext uri="{FF2B5EF4-FFF2-40B4-BE49-F238E27FC236}">
                <a16:creationId xmlns:a16="http://schemas.microsoft.com/office/drawing/2014/main" id="{62B89738-213D-47C5-858A-B8DFC82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内移：内部构型有利，也可能被能垒隔开</a:t>
            </a:r>
          </a:p>
        </p:txBody>
      </p:sp>
      <p:sp>
        <p:nvSpPr>
          <p:cNvPr id="2" name="Goldstein &amp; Nance, 2020, Fig. 3；Roh-Johnson e">
            <a:extLst xmlns:a="http://schemas.openxmlformats.org/drawingml/2006/main">
              <a:ext uri="{FF2B5EF4-FFF2-40B4-BE49-F238E27FC236}">
                <a16:creationId xmlns:a16="http://schemas.microsoft.com/office/drawing/2014/main" id="{5B9EA3C8-A5D7-4E4B-AF39-230E4954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Roh-Johnson et al., 2012；线虫 Note 01 §2、Note 06 §8.2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6096D7BC-7270-4547-B24D-411F67C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1" name="实验：Ea/Ep 从表面进入内部">
            <a:extLst xmlns:a="http://schemas.openxmlformats.org/drawingml/2006/main">
              <a:ext uri="{FF2B5EF4-FFF2-40B4-BE49-F238E27FC236}">
                <a16:creationId xmlns:a16="http://schemas.microsoft.com/office/drawing/2014/main" id="{DAFF5A08-598B-465C-A417-2E6A5E3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实验：Ea/Ep 从表面进入内部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409C5-3CC0-4F04-81C4-39290C48A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b6c4a0360400d"/>
          <a:stretch xmlns:a="http://schemas.openxmlformats.org/drawingml/2006/main"/>
        </p:blipFill>
        <p:spPr>
          <a:xfrm xmlns:a="http://schemas.openxmlformats.org/drawingml/2006/main">
            <a:off x="909638" y="1819275"/>
            <a:ext cx="4400550" cy="4191000"/>
          </a:xfrm>
          <a:prstGeom xmlns:a="http://schemas.openxmlformats.org/drawingml/2006/main" prst="rect">
            <a:avLst/>
          </a:prstGeom>
        </p:spPr>
      </p:pic>
      <p:sp>
        <p:nvSpPr>
          <p:cNvPr id="13" name="候选能量地形：几何与驱动共同改变">
            <a:extLst xmlns:a="http://schemas.openxmlformats.org/drawingml/2006/main">
              <a:ext uri="{FF2B5EF4-FFF2-40B4-BE49-F238E27FC236}">
                <a16:creationId xmlns:a16="http://schemas.microsoft.com/office/drawing/2014/main" id="{0689536A-78EE-4AAA-BAB7-CC83982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539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候选能量地形：几何与驱动共同改变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E2579-2E8C-4CDB-8038-F40C539E4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bedb9d70540a6"/>
          <a:stretch xmlns:a="http://schemas.openxmlformats.org/drawingml/2006/main"/>
        </p:blipFill>
        <p:spPr>
          <a:xfrm xmlns:a="http://schemas.openxmlformats.org/drawingml/2006/main">
            <a:off x="6877103" y="2076450"/>
            <a:ext cx="4019445" cy="3829050"/>
          </a:xfrm>
          <a:prstGeom xmlns:a="http://schemas.openxmlformats.org/drawingml/2006/main" prst="rect">
            <a:avLst/>
          </a:prstGeom>
        </p:spPr>
      </p:pic>
      <p:sp>
        <p:nvSpPr>
          <p:cNvPr id="15" name="较低能构型、局部稳定态与实际到达，属于不同判断">
            <a:extLst xmlns:a="http://schemas.openxmlformats.org/drawingml/2006/main">
              <a:ext uri="{FF2B5EF4-FFF2-40B4-BE49-F238E27FC236}">
                <a16:creationId xmlns:a16="http://schemas.microsoft.com/office/drawing/2014/main" id="{F050B1DD-5412-46E5-B9C4-CAE95FB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较低能构型、局部稳定态与实际到达，属于不同判断</a:t>
            </a:r>
          </a:p>
        </p:txBody>
      </p:sp>
    </p:spTree>
    <p:extLst>
      <p:ext uri="{BB962C8B-B14F-4D97-AF65-F5344CB8AC3E}">
        <p14:creationId xmlns:p14="http://schemas.microsoft.com/office/powerpoint/2010/main" val="18237040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收缩网络已经运动，边界仍可能滞后">
            <a:extLst xmlns:a="http://schemas.openxmlformats.org/drawingml/2006/main">
              <a:ext uri="{FF2B5EF4-FFF2-40B4-BE49-F238E27FC236}">
                <a16:creationId xmlns:a16="http://schemas.microsoft.com/office/drawing/2014/main" id="{2DC4F8C9-B5F9-400B-BE37-A6220E8B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收缩网络已经运动，边界仍可能滞后</a:t>
            </a:r>
          </a:p>
        </p:txBody>
      </p:sp>
      <p:sp>
        <p:nvSpPr>
          <p:cNvPr id="2" name="Roh-Johnson et al., 2012, Fig. 1G–I；线虫 Note 01 §1.3">
            <a:extLst xmlns:a="http://schemas.openxmlformats.org/drawingml/2006/main">
              <a:ext uri="{FF2B5EF4-FFF2-40B4-BE49-F238E27FC236}">
                <a16:creationId xmlns:a16="http://schemas.microsoft.com/office/drawing/2014/main" id="{E8814C36-F5B1-4894-8DDD-58D6690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Roh-Johnson et al., 2012, Fig. 1G–I；线虫 Note 01 §1.3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D6735AC0-C196-4D6A-998C-7461E26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DBC47-507D-4732-85AD-9DC72D8E2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7f6e270424561"/>
          <a:stretch xmlns:a="http://schemas.openxmlformats.org/drawingml/2006/main"/>
        </p:blipFill>
        <p:spPr>
          <a:xfrm xmlns:a="http://schemas.openxmlformats.org/drawingml/2006/main">
            <a:off x="613460" y="1600200"/>
            <a:ext cx="7945655" cy="4457700"/>
          </a:xfrm>
          <a:prstGeom xmlns:a="http://schemas.openxmlformats.org/drawingml/2006/main" prst="rect">
            <a:avLst/>
          </a:prstGeom>
        </p:spPr>
      </p:pic>
      <p:sp>
        <p:nvSpPr>
          <p:cNvPr id="5" name="v_slip = v_c − v_j">
            <a:extLst xmlns:a="http://schemas.openxmlformats.org/drawingml/2006/main">
              <a:ext uri="{FF2B5EF4-FFF2-40B4-BE49-F238E27FC236}">
                <a16:creationId xmlns:a16="http://schemas.microsoft.com/office/drawing/2014/main" id="{B7818019-7934-4BEB-B893-8D70873C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71650"/>
            <a:ext cx="2647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v_slip = v_c − v_j</a:t>
            </a:r>
          </a:p>
        </p:txBody>
      </p:sp>
      <p:sp>
        <p:nvSpPr>
          <p:cNvPr id="6" name="相同位置&#10;相同时间&#10;相同向心方向">
            <a:extLst xmlns:a="http://schemas.openxmlformats.org/drawingml/2006/main">
              <a:ext uri="{FF2B5EF4-FFF2-40B4-BE49-F238E27FC236}">
                <a16:creationId xmlns:a16="http://schemas.microsoft.com/office/drawing/2014/main" id="{1800C69A-39A2-43C0-9017-3D8480F0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26479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相同位置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相同时间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相同向心方向</a:t>
            </a:r>
          </a:p>
        </p:txBody>
      </p:sp>
      <p:sp>
        <p:nvSpPr>
          <p:cNvPr id="7" name="网络运动与&#10;边界跟随分开测">
            <a:extLst xmlns:a="http://schemas.openxmlformats.org/drawingml/2006/main">
              <a:ext uri="{FF2B5EF4-FFF2-40B4-BE49-F238E27FC236}">
                <a16:creationId xmlns:a16="http://schemas.microsoft.com/office/drawing/2014/main" id="{70095648-CF6F-4365-907F-0C723AB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81600"/>
            <a:ext cx="264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网络运动与</a:t>
            </a:r>
          </a:p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边界跟随分开测</a:t>
            </a:r>
          </a:p>
        </p:txBody>
      </p:sp>
    </p:spTree>
    <p:extLst>
      <p:ext uri="{BB962C8B-B14F-4D97-AF65-F5344CB8AC3E}">
        <p14:creationId xmlns:p14="http://schemas.microsoft.com/office/powerpoint/2010/main" val="653898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Zyxin 扰动把内移缺陷定位到边界跟随">
            <a:extLst xmlns:a="http://schemas.openxmlformats.org/drawingml/2006/main">
              <a:ext uri="{FF2B5EF4-FFF2-40B4-BE49-F238E27FC236}">
                <a16:creationId xmlns:a16="http://schemas.microsoft.com/office/drawing/2014/main" id="{C080D5A1-4FC8-4F0C-8B01-96DAB67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Zyxin 扰动把内移缺陷定位到边界跟随</a:t>
            </a:r>
          </a:p>
        </p:txBody>
      </p:sp>
      <p:sp>
        <p:nvSpPr>
          <p:cNvPr id="2" name="Slabodnick et al., 2023, Fig. 6；线虫 Note 01 §1.5">
            <a:extLst xmlns:a="http://schemas.openxmlformats.org/drawingml/2006/main">
              <a:ext uri="{FF2B5EF4-FFF2-40B4-BE49-F238E27FC236}">
                <a16:creationId xmlns:a16="http://schemas.microsoft.com/office/drawing/2014/main" id="{9DBEF861-494B-43B4-A21E-320D0B6D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Slabodnick et al., 2023, Fig. 6；线虫 Note 01 §1.5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83291DFC-9D87-476E-99AE-A3D5DA8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33D7C-6249-4AC6-A30E-100B9A4DD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ba020e02740f9"/>
          <a:stretch xmlns:a="http://schemas.openxmlformats.org/drawingml/2006/main"/>
        </p:blipFill>
        <p:spPr>
          <a:xfrm xmlns:a="http://schemas.openxmlformats.org/drawingml/2006/main">
            <a:off x="1730891" y="1552575"/>
            <a:ext cx="8730217" cy="4152900"/>
          </a:xfrm>
          <a:prstGeom xmlns:a="http://schemas.openxmlformats.org/drawingml/2006/main" prst="rect">
            <a:avLst/>
          </a:prstGeom>
        </p:spPr>
      </p:pic>
      <p:sp>
        <p:nvSpPr>
          <p:cNvPr id="5" name="网络速度与边界速度分别记录，才能定位传力过程的变化">
            <a:extLst xmlns:a="http://schemas.openxmlformats.org/drawingml/2006/main">
              <a:ext uri="{FF2B5EF4-FFF2-40B4-BE49-F238E27FC236}">
                <a16:creationId xmlns:a16="http://schemas.microsoft.com/office/drawing/2014/main" id="{048C9830-EDEB-443D-9FE0-727FE16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网络速度与边界速度分别记录，才能定位传力过程的变化</a:t>
            </a:r>
          </a:p>
        </p:txBody>
      </p:sp>
    </p:spTree>
    <p:extLst>
      <p:ext uri="{BB962C8B-B14F-4D97-AF65-F5344CB8AC3E}">
        <p14:creationId xmlns:p14="http://schemas.microsoft.com/office/powerpoint/2010/main" val="992265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早晚滑移的变化区分不同内移缺陷">
            <a:extLst xmlns:a="http://schemas.openxmlformats.org/drawingml/2006/main">
              <a:ext uri="{FF2B5EF4-FFF2-40B4-BE49-F238E27FC236}">
                <a16:creationId xmlns:a16="http://schemas.microsoft.com/office/drawing/2014/main" id="{22D57051-20C8-430D-91AC-74413B01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早晚滑移的变化区分不同内移缺陷</a:t>
            </a:r>
          </a:p>
        </p:txBody>
      </p:sp>
      <p:sp>
        <p:nvSpPr>
          <p:cNvPr id="2" name="Slabodnick et al., 2023, Fig. 6C；线虫 Note 01 §1.5">
            <a:extLst xmlns:a="http://schemas.openxmlformats.org/drawingml/2006/main">
              <a:ext uri="{FF2B5EF4-FFF2-40B4-BE49-F238E27FC236}">
                <a16:creationId xmlns:a16="http://schemas.microsoft.com/office/drawing/2014/main" id="{6889AC71-E62D-4A37-8444-172B0E4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Slabodnick et al., 2023, Fig. 6C；线虫 Note 01 §1.5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06A325C7-BB56-425E-8E74-4D83E29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AF6BD-B6BE-4668-B55A-A06FA25C7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dc078a6c2445e"/>
          <a:stretch xmlns:a="http://schemas.openxmlformats.org/drawingml/2006/main"/>
        </p:blipFill>
        <p:spPr>
          <a:xfrm xmlns:a="http://schemas.openxmlformats.org/drawingml/2006/main">
            <a:off x="1258758" y="1419225"/>
            <a:ext cx="6321684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早期与晚期配对比较">
            <a:extLst xmlns:a="http://schemas.openxmlformats.org/drawingml/2006/main">
              <a:ext uri="{FF2B5EF4-FFF2-40B4-BE49-F238E27FC236}">
                <a16:creationId xmlns:a16="http://schemas.microsoft.com/office/drawing/2014/main" id="{90DB33FE-F97F-4E8E-8E43-E6C3294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62125"/>
            <a:ext cx="2933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早期与晚期配对比较</a:t>
            </a:r>
          </a:p>
        </p:txBody>
      </p:sp>
      <p:sp>
        <p:nvSpPr>
          <p:cNvPr id="6" name="网络仍在运动&#10;边界跟随的变化受损">
            <a:extLst xmlns:a="http://schemas.openxmlformats.org/drawingml/2006/main">
              <a:ext uri="{FF2B5EF4-FFF2-40B4-BE49-F238E27FC236}">
                <a16:creationId xmlns:a16="http://schemas.microsoft.com/office/drawing/2014/main" id="{3D83E241-E715-4F52-A738-E9FB47B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2933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网络仍在运动</a:t>
            </a:r>
          </a:p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边界跟随的变化受损</a:t>
            </a:r>
          </a:p>
        </p:txBody>
      </p:sp>
      <p:sp>
        <p:nvSpPr>
          <p:cNvPr id="7" name="同样内移受阻&#10;可以有不同动力学来源">
            <a:extLst xmlns:a="http://schemas.openxmlformats.org/drawingml/2006/main">
              <a:ext uri="{FF2B5EF4-FFF2-40B4-BE49-F238E27FC236}">
                <a16:creationId xmlns:a16="http://schemas.microsoft.com/office/drawing/2014/main" id="{F2E46C5A-4EF2-4968-B9DC-EBE5D521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95900"/>
            <a:ext cx="2933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同样内移受阻</a:t>
            </a:r>
          </a:p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可以有不同动力学来源</a:t>
            </a:r>
          </a:p>
        </p:txBody>
      </p:sp>
    </p:spTree>
    <p:extLst>
      <p:ext uri="{BB962C8B-B14F-4D97-AF65-F5344CB8AC3E}">
        <p14:creationId xmlns:p14="http://schemas.microsoft.com/office/powerpoint/2010/main" val="2028543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有效耦合改变已有运动传到边界的比例">
            <a:extLst xmlns:a="http://schemas.openxmlformats.org/drawingml/2006/main">
              <a:ext uri="{FF2B5EF4-FFF2-40B4-BE49-F238E27FC236}">
                <a16:creationId xmlns:a16="http://schemas.microsoft.com/office/drawing/2014/main" id="{3DE0740F-9793-40BB-8632-558F6DA5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有效耦合改变已有运动传到边界的比例</a:t>
            </a:r>
          </a:p>
        </p:txBody>
      </p:sp>
      <p:sp>
        <p:nvSpPr>
          <p:cNvPr id="2" name="线虫 Note 01 §3.1：molecular clutch 最小模型">
            <a:extLst xmlns:a="http://schemas.openxmlformats.org/drawingml/2006/main">
              <a:ext uri="{FF2B5EF4-FFF2-40B4-BE49-F238E27FC236}">
                <a16:creationId xmlns:a16="http://schemas.microsoft.com/office/drawing/2014/main" id="{4F98A326-9741-4D71-AAE2-FD84F86D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01 §3.1：molecular clutch 最小模型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9523E093-3B4B-40BD-B7B1-8DBBE582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F = ξ(v_c − v_j)，ζv_j = F">
            <a:extLst xmlns:a="http://schemas.openxmlformats.org/drawingml/2006/main">
              <a:ext uri="{FF2B5EF4-FFF2-40B4-BE49-F238E27FC236}">
                <a16:creationId xmlns:a16="http://schemas.microsoft.com/office/drawing/2014/main" id="{5E8DBD7F-0341-44E4-9DA4-CDEA1AD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F = ξ(v_c − v_j)，ζv_j = F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76D9B-3208-4E9A-866D-8002B5961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8e966fb5434f"/>
          <a:stretch xmlns:a="http://schemas.openxmlformats.org/drawingml/2006/main"/>
        </p:blipFill>
        <p:spPr>
          <a:xfrm xmlns:a="http://schemas.openxmlformats.org/drawingml/2006/main">
            <a:off x="609845" y="2009775"/>
            <a:ext cx="10972309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80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最小能量：面积、周长与界面作用">
            <a:extLst xmlns:a="http://schemas.openxmlformats.org/drawingml/2006/main">
              <a:ext uri="{FF2B5EF4-FFF2-40B4-BE49-F238E27FC236}">
                <a16:creationId xmlns:a16="http://schemas.microsoft.com/office/drawing/2014/main" id="{9A109660-BD41-41FC-AA9E-F68DE2D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集体让位与界面耦合改变内移的可达性</a:t>
            </a:r>
          </a:p>
        </p:txBody>
      </p:sp>
      <p:sp>
        <p:nvSpPr>
          <p:cNvPr id="2" name="目标面积和目标周长形式；额外界面项按建模需要加入">
            <a:extLst xmlns:a="http://schemas.openxmlformats.org/drawingml/2006/main">
              <a:ext uri="{FF2B5EF4-FFF2-40B4-BE49-F238E27FC236}">
                <a16:creationId xmlns:a16="http://schemas.microsoft.com/office/drawing/2014/main" id="{5CF11C94-02A4-41AB-BCF7-C60F560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06 §8.2；Vertex Note 02 的内部松弛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523FC711-78CC-45A0-A2C7-1FD99000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12" name="H_eff = H_qq − H_qy H_yy⁻¹ H_yq">
            <a:extLst xmlns:a="http://schemas.openxmlformats.org/drawingml/2006/main">
              <a:ext uri="{FF2B5EF4-FFF2-40B4-BE49-F238E27FC236}">
                <a16:creationId xmlns:a16="http://schemas.microsoft.com/office/drawing/2014/main" id="{5B76173D-AA9F-42B9-ACBD-8C1A349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H_eff = H_qq − H_qy H_yy⁻¹ H_yq</a:t>
            </a:r>
          </a:p>
        </p:txBody>
      </p:sp>
      <p:sp>
        <p:nvSpPr>
          <p:cNvPr id="13" name="邻居松弛：改变局部恢复代价">
            <a:extLst xmlns:a="http://schemas.openxmlformats.org/drawingml/2006/main">
              <a:ext uri="{FF2B5EF4-FFF2-40B4-BE49-F238E27FC236}">
                <a16:creationId xmlns:a16="http://schemas.microsoft.com/office/drawing/2014/main" id="{2B0341DD-C276-4404-9BCE-03780DD9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邻居松弛：改变局部恢复代价</a:t>
            </a:r>
          </a:p>
        </p:txBody>
      </p:sp>
      <p:sp>
        <p:nvSpPr>
          <p:cNvPr id="14" name="传力耦合：改变有效驱动">
            <a:extLst xmlns:a="http://schemas.openxmlformats.org/drawingml/2006/main">
              <a:ext uri="{FF2B5EF4-FFF2-40B4-BE49-F238E27FC236}">
                <a16:creationId xmlns:a16="http://schemas.microsoft.com/office/drawing/2014/main" id="{43EDE507-91BC-4640-861A-017B6367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传力耦合：改变有效驱动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AE4EB-71D7-425B-823B-A1DBE66C9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75408199940c0"/>
          <a:stretch xmlns:a="http://schemas.openxmlformats.org/drawingml/2006/main"/>
        </p:blipFill>
        <p:spPr>
          <a:xfrm xmlns:a="http://schemas.openxmlformats.org/drawingml/2006/main">
            <a:off x="1466587" y="2505075"/>
            <a:ext cx="3429526" cy="326707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7D295-A3E9-4DC7-929C-375A584B47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c1771347a4b9a"/>
          <a:stretch xmlns:a="http://schemas.openxmlformats.org/drawingml/2006/main"/>
        </p:blipFill>
        <p:spPr>
          <a:xfrm xmlns:a="http://schemas.openxmlformats.org/drawingml/2006/main">
            <a:off x="7286862" y="2505075"/>
            <a:ext cx="3447576" cy="3267075"/>
          </a:xfrm>
          <a:prstGeom xmlns:a="http://schemas.openxmlformats.org/drawingml/2006/main" prst="rect">
            <a:avLst/>
          </a:prstGeom>
        </p:spPr>
      </p:pic>
      <p:sp>
        <p:nvSpPr>
          <p:cNvPr id="17" name="低代价集体路径与有效产力需要共同确定，单看拥挤程度或马达强度都不足够">
            <a:extLst xmlns:a="http://schemas.openxmlformats.org/drawingml/2006/main">
              <a:ext uri="{FF2B5EF4-FFF2-40B4-BE49-F238E27FC236}">
                <a16:creationId xmlns:a16="http://schemas.microsoft.com/office/drawing/2014/main" id="{FBECDC71-FFD0-4F49-A3D5-9730B02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低代价集体路径与有效产力需要共同确定，单看拥挤程度或马达强度都不足够</a:t>
            </a:r>
          </a:p>
        </p:txBody>
      </p:sp>
    </p:spTree>
    <p:extLst>
      <p:ext uri="{BB962C8B-B14F-4D97-AF65-F5344CB8AC3E}">
        <p14:creationId xmlns:p14="http://schemas.microsoft.com/office/powerpoint/2010/main" val="7506315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GC 内移利用特定邻居传递运动">
            <a:extLst xmlns:a="http://schemas.openxmlformats.org/drawingml/2006/main">
              <a:ext uri="{FF2B5EF4-FFF2-40B4-BE49-F238E27FC236}">
                <a16:creationId xmlns:a16="http://schemas.microsoft.com/office/drawing/2014/main" id="{CCF93DB7-3414-4874-A5BC-E47FCB9A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PGC 内移利用特定邻居传递运动</a:t>
            </a:r>
          </a:p>
        </p:txBody>
      </p:sp>
      <p:sp>
        <p:nvSpPr>
          <p:cNvPr id="2" name="Chihara &amp; Nance, 2012, Fig. 2；线虫 Note 01 §1.6">
            <a:extLst xmlns:a="http://schemas.openxmlformats.org/drawingml/2006/main">
              <a:ext uri="{FF2B5EF4-FFF2-40B4-BE49-F238E27FC236}">
                <a16:creationId xmlns:a16="http://schemas.microsoft.com/office/drawing/2014/main" id="{C686E2DE-ACC4-406F-A6DC-8F1777F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Chihara &amp; Nance, 2012, Fig. 2；线虫 Note 01 §1.6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F29D9CA2-D639-4AF7-AD66-66229F12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E7B7A-F198-4F23-B1A0-14F192062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09cc833514ca6"/>
          <a:stretch xmlns:a="http://schemas.openxmlformats.org/drawingml/2006/main"/>
        </p:blipFill>
        <p:spPr>
          <a:xfrm xmlns:a="http://schemas.openxmlformats.org/drawingml/2006/main">
            <a:off x="971183" y="1504950"/>
            <a:ext cx="6896834" cy="4676775"/>
          </a:xfrm>
          <a:prstGeom xmlns:a="http://schemas.openxmlformats.org/drawingml/2006/main" prst="rect">
            <a:avLst/>
          </a:prstGeom>
        </p:spPr>
      </p:pic>
      <p:sp>
        <p:nvSpPr>
          <p:cNvPr id="5" name="动力来源的对照">
            <a:extLst xmlns:a="http://schemas.openxmlformats.org/drawingml/2006/main">
              <a:ext uri="{FF2B5EF4-FFF2-40B4-BE49-F238E27FC236}">
                <a16:creationId xmlns:a16="http://schemas.microsoft.com/office/drawing/2014/main" id="{C247535A-9314-4C84-8000-C04DC3A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动力来源的对照</a:t>
            </a:r>
          </a:p>
        </p:txBody>
      </p:sp>
      <p:sp>
        <p:nvSpPr>
          <p:cNvPr id="6" name="谁主要产力？&#10;&#10;谁随邻居运动？&#10;&#10;接触能否持续传力？">
            <a:extLst xmlns:a="http://schemas.openxmlformats.org/drawingml/2006/main">
              <a:ext uri="{FF2B5EF4-FFF2-40B4-BE49-F238E27FC236}">
                <a16:creationId xmlns:a16="http://schemas.microsoft.com/office/drawing/2014/main" id="{DF2A2185-5970-409D-BBFB-D98B079D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28384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谁主要产力？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谁随邻居运动？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接触能否持续传力？</a:t>
            </a:r>
          </a:p>
        </p:txBody>
      </p:sp>
    </p:spTree>
    <p:extLst>
      <p:ext uri="{BB962C8B-B14F-4D97-AF65-F5344CB8AC3E}">
        <p14:creationId xmlns:p14="http://schemas.microsoft.com/office/powerpoint/2010/main" val="3196083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背侧插入：基底外侧突起与邻居重排">
            <a:extLst xmlns:a="http://schemas.openxmlformats.org/drawingml/2006/main">
              <a:ext uri="{FF2B5EF4-FFF2-40B4-BE49-F238E27FC236}">
                <a16:creationId xmlns:a16="http://schemas.microsoft.com/office/drawing/2014/main" id="{481CB7AC-9AC8-4F10-8A19-62D3D52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定向基底推进怎样选择集体邻居交换的路径</a:t>
            </a:r>
          </a:p>
        </p:txBody>
      </p:sp>
      <p:sp>
        <p:nvSpPr>
          <p:cNvPr id="2" name="Walck-Shannon et al., 2015, Fig. 1">
            <a:extLst xmlns:a="http://schemas.openxmlformats.org/drawingml/2006/main">
              <a:ext uri="{FF2B5EF4-FFF2-40B4-BE49-F238E27FC236}">
                <a16:creationId xmlns:a16="http://schemas.microsoft.com/office/drawing/2014/main" id="{7371E7AB-BF26-4B8A-90A2-635A9B7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Walck-Shannon et al., 2015；线虫 Note 02 §1、§4；Vertex Note 04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C87B9A7-743F-42D2-AD70-517823E9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11" name="DIC：两列细胞逐渐交错">
            <a:extLst xmlns:a="http://schemas.openxmlformats.org/drawingml/2006/main">
              <a:ext uri="{FF2B5EF4-FFF2-40B4-BE49-F238E27FC236}">
                <a16:creationId xmlns:a16="http://schemas.microsoft.com/office/drawing/2014/main" id="{DFE201C3-A66E-44A2-8531-98004E2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DIC：两列细胞逐渐交错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02DC2-912D-4CFA-805E-6F20D1DB0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6dc4195174013"/>
          <a:stretch xmlns:a="http://schemas.openxmlformats.org/drawingml/2006/main"/>
        </p:blipFill>
        <p:spPr>
          <a:xfrm xmlns:a="http://schemas.openxmlformats.org/drawingml/2006/main">
            <a:off x="609600" y="1963889"/>
            <a:ext cx="5334000" cy="3120722"/>
          </a:xfrm>
          <a:prstGeom xmlns:a="http://schemas.openxmlformats.org/drawingml/2006/main" prst="rect">
            <a:avLst/>
          </a:prstGeom>
        </p:spPr>
      </p:pic>
      <p:sp>
        <p:nvSpPr>
          <p:cNvPr id="13" name="F-actin：基底外侧突起">
            <a:extLst xmlns:a="http://schemas.openxmlformats.org/drawingml/2006/main">
              <a:ext uri="{FF2B5EF4-FFF2-40B4-BE49-F238E27FC236}">
                <a16:creationId xmlns:a16="http://schemas.microsoft.com/office/drawing/2014/main" id="{D559E491-15E0-4C89-A743-D536AF2A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62075"/>
            <a:ext cx="506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F-actin：基底外侧突起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EE13A-9E69-4DCD-B02E-4DD2CD345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68c6ac3cc471d"/>
          <a:stretch xmlns:a="http://schemas.openxmlformats.org/drawingml/2006/main"/>
        </p:blipFill>
        <p:spPr>
          <a:xfrm xmlns:a="http://schemas.openxmlformats.org/drawingml/2006/main">
            <a:off x="6515100" y="2078411"/>
            <a:ext cx="5067300" cy="1786777"/>
          </a:xfrm>
          <a:prstGeom xmlns:a="http://schemas.openxmlformats.org/drawingml/2006/main" prst="rect">
            <a:avLst/>
          </a:prstGeom>
        </p:spPr>
      </p:pic>
      <p:sp>
        <p:nvSpPr>
          <p:cNvPr id="15" name="基底外侧突起先行&#10;顶端轮廓随后响应">
            <a:extLst xmlns:a="http://schemas.openxmlformats.org/drawingml/2006/main">
              <a:ext uri="{FF2B5EF4-FFF2-40B4-BE49-F238E27FC236}">
                <a16:creationId xmlns:a16="http://schemas.microsoft.com/office/drawing/2014/main" id="{F41A9F2D-ABD6-4505-B7F9-3375BC67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5067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基底外侧突起先行</a:t>
            </a:r>
          </a:p>
          <a:p xmlns:a="http://schemas.openxmlformats.org/drawingml/2006/main">
            <a: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顶端轮廓随后响应</a:t>
            </a:r>
          </a:p>
        </p:txBody>
      </p:sp>
      <p:sp>
        <p:nvSpPr>
          <p:cNvPr id="16" name="背侧视图，前端在左，原始采样间隔 30 s">
            <a:extLst xmlns:a="http://schemas.openxmlformats.org/drawingml/2006/main">
              <a:ext uri="{FF2B5EF4-FFF2-40B4-BE49-F238E27FC236}">
                <a16:creationId xmlns:a16="http://schemas.microsoft.com/office/drawing/2014/main" id="{3324597B-BF76-4538-AC0D-78BF287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背侧视图，前端在左，原始采样间隔 30 s</a:t>
            </a:r>
          </a:p>
        </p:txBody>
      </p:sp>
      <p:sp>
        <p:nvSpPr>
          <p:cNvPr id="17" name="邻接变化需要结合突起位置与运动时序解释">
            <a:extLst xmlns:a="http://schemas.openxmlformats.org/drawingml/2006/main">
              <a:ext uri="{FF2B5EF4-FFF2-40B4-BE49-F238E27FC236}">
                <a16:creationId xmlns:a16="http://schemas.microsoft.com/office/drawing/2014/main" id="{874564CD-1665-4788-99EF-460A24F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活动的位置、方向与持续性，怎样改变集体重排的选择？</a:t>
            </a:r>
          </a:p>
        </p:txBody>
      </p:sp>
    </p:spTree>
    <p:extLst>
      <p:ext uri="{BB962C8B-B14F-4D97-AF65-F5344CB8AC3E}">
        <p14:creationId xmlns:p14="http://schemas.microsoft.com/office/powerpoint/2010/main" val="106270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细胞伸长与尖端方向可以分别改变">
            <a:extLst xmlns:a="http://schemas.openxmlformats.org/drawingml/2006/main">
              <a:ext uri="{FF2B5EF4-FFF2-40B4-BE49-F238E27FC236}">
                <a16:creationId xmlns:a16="http://schemas.microsoft.com/office/drawing/2014/main" id="{D5215E42-8604-4F69-9F8C-D768804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细胞伸长与尖端方向可以分别改变</a:t>
            </a:r>
          </a:p>
        </p:txBody>
      </p:sp>
      <p:sp>
        <p:nvSpPr>
          <p:cNvPr id="2" name="Walck-Shannon et al., 2016, Fig. 2；线虫 Note 02 §1.3、Note 06 §">
            <a:extLst xmlns:a="http://schemas.openxmlformats.org/drawingml/2006/main">
              <a:ext uri="{FF2B5EF4-FFF2-40B4-BE49-F238E27FC236}">
                <a16:creationId xmlns:a16="http://schemas.microsoft.com/office/drawing/2014/main" id="{D8912CBD-A3BD-4298-9035-4C1BE0F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Walck-Shannon et al., 2016, Fig. 2；线虫 Note 02 §1.3、Note 06 §8.4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13C2F508-891D-4794-AF10-28918547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WT">
            <a:extLst xmlns:a="http://schemas.openxmlformats.org/drawingml/2006/main">
              <a:ext uri="{FF2B5EF4-FFF2-40B4-BE49-F238E27FC236}">
                <a16:creationId xmlns:a16="http://schemas.microsoft.com/office/drawing/2014/main" id="{F1E8B898-0BE2-46D4-A9E1-B538BC63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WT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BE24-C3BB-4F4C-B918-406FF8B9E7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9459a365f4a52"/>
          <a:stretch xmlns:a="http://schemas.openxmlformats.org/drawingml/2006/main"/>
        </p:blipFill>
        <p:spPr>
          <a:xfrm xmlns:a="http://schemas.openxmlformats.org/drawingml/2006/main">
            <a:off x="609600" y="1686426"/>
            <a:ext cx="2762250" cy="2151647"/>
          </a:xfrm>
          <a:prstGeom xmlns:a="http://schemas.openxmlformats.org/drawingml/2006/main" prst="rect">
            <a:avLst/>
          </a:prstGeom>
        </p:spPr>
      </p:pic>
      <p:sp>
        <p:nvSpPr>
          <p:cNvPr id="6" name="CDC-42 受损">
            <a:extLst xmlns:a="http://schemas.openxmlformats.org/drawingml/2006/main">
              <a:ext uri="{FF2B5EF4-FFF2-40B4-BE49-F238E27FC236}">
                <a16:creationId xmlns:a16="http://schemas.microsoft.com/office/drawing/2014/main" id="{036C46E2-1AAC-4B29-AA21-7381DC88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CDC-42 受损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7E1B7-64D0-43BE-B477-8038F1701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dbf11802a40a1"/>
          <a:stretch xmlns:a="http://schemas.openxmlformats.org/drawingml/2006/main"/>
        </p:blipFill>
        <p:spPr>
          <a:xfrm xmlns:a="http://schemas.openxmlformats.org/drawingml/2006/main">
            <a:off x="725123" y="4314825"/>
            <a:ext cx="2531204" cy="1971675"/>
          </a:xfrm>
          <a:prstGeom xmlns:a="http://schemas.openxmlformats.org/drawingml/2006/main" prst="rect">
            <a:avLst/>
          </a:prstGeom>
        </p:spPr>
      </p:pic>
      <p:sp>
        <p:nvSpPr>
          <p:cNvPr id="8" name="尖端角度">
            <a:extLst xmlns:a="http://schemas.openxmlformats.org/drawingml/2006/main">
              <a:ext uri="{FF2B5EF4-FFF2-40B4-BE49-F238E27FC236}">
                <a16:creationId xmlns:a16="http://schemas.microsoft.com/office/drawing/2014/main" id="{8E8FEFB2-124F-4790-AEF6-E3492B2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335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尖端角度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244D8-D263-4EA5-896B-3CCCFCFEA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526ff43124ccb"/>
          <a:stretch xmlns:a="http://schemas.openxmlformats.org/drawingml/2006/main"/>
        </p:blipFill>
        <p:spPr>
          <a:xfrm xmlns:a="http://schemas.openxmlformats.org/drawingml/2006/main">
            <a:off x="3929682" y="1762125"/>
            <a:ext cx="3418235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长宽比">
            <a:extLst xmlns:a="http://schemas.openxmlformats.org/drawingml/2006/main">
              <a:ext uri="{FF2B5EF4-FFF2-40B4-BE49-F238E27FC236}">
                <a16:creationId xmlns:a16="http://schemas.microsoft.com/office/drawing/2014/main" id="{4D673620-A141-4F33-8F49-69C8DFE9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长宽比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1E54A-9207-435D-8BBB-D87C124B7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fd56c584d4c90"/>
          <a:stretch xmlns:a="http://schemas.openxmlformats.org/drawingml/2006/main"/>
        </p:blipFill>
        <p:spPr>
          <a:xfrm xmlns:a="http://schemas.openxmlformats.org/drawingml/2006/main">
            <a:off x="8001000" y="1762876"/>
            <a:ext cx="3581400" cy="3770398"/>
          </a:xfrm>
          <a:prstGeom xmlns:a="http://schemas.openxmlformats.org/drawingml/2006/main" prst="rect">
            <a:avLst/>
          </a:prstGeom>
        </p:spPr>
      </p:pic>
      <p:sp>
        <p:nvSpPr>
          <p:cNvPr id="12" name="方向选择与形变能力需要独立约束">
            <a:extLst xmlns:a="http://schemas.openxmlformats.org/drawingml/2006/main">
              <a:ext uri="{FF2B5EF4-FFF2-40B4-BE49-F238E27FC236}">
                <a16:creationId xmlns:a16="http://schemas.microsoft.com/office/drawing/2014/main" id="{3F3668E3-01CD-42B2-AAA7-7A4833C9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38800"/>
            <a:ext cx="7658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方向选择与形变能力需要独立约束</a:t>
            </a:r>
          </a:p>
        </p:txBody>
      </p:sp>
    </p:spTree>
    <p:extLst>
      <p:ext uri="{BB962C8B-B14F-4D97-AF65-F5344CB8AC3E}">
        <p14:creationId xmlns:p14="http://schemas.microsoft.com/office/powerpoint/2010/main" val="14233507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局部极性为基底推进提供空间方向">
            <a:extLst xmlns:a="http://schemas.openxmlformats.org/drawingml/2006/main">
              <a:ext uri="{FF2B5EF4-FFF2-40B4-BE49-F238E27FC236}">
                <a16:creationId xmlns:a16="http://schemas.microsoft.com/office/drawing/2014/main" id="{09E44D5C-990E-412C-9174-2BC0D39D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局部极性为基底推进提供空间方向</a:t>
            </a:r>
          </a:p>
        </p:txBody>
      </p:sp>
      <p:sp>
        <p:nvSpPr>
          <p:cNvPr id="2" name="Walck-Shannon et al., 2016, Fig. 4A；线虫 Note 02 §1.3">
            <a:extLst xmlns:a="http://schemas.openxmlformats.org/drawingml/2006/main">
              <a:ext uri="{FF2B5EF4-FFF2-40B4-BE49-F238E27FC236}">
                <a16:creationId xmlns:a16="http://schemas.microsoft.com/office/drawing/2014/main" id="{4D139BAA-D397-4EED-9D9F-6803DC45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Walck-Shannon et al., 2016, Fig. 4A；线虫 Note 02 §1.3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914251B9-0738-4DF8-ADBE-8121B93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69F36-5FAD-4457-93E6-FE6EB94BC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3ba56a9954c8b"/>
          <a:stretch xmlns:a="http://schemas.openxmlformats.org/drawingml/2006/main"/>
        </p:blipFill>
        <p:spPr>
          <a:xfrm xmlns:a="http://schemas.openxmlformats.org/drawingml/2006/main">
            <a:off x="609600" y="1952835"/>
            <a:ext cx="10972800" cy="3009480"/>
          </a:xfrm>
          <a:prstGeom xmlns:a="http://schemas.openxmlformats.org/drawingml/2006/main" prst="rect">
            <a:avLst/>
          </a:prstGeom>
        </p:spPr>
      </p:pic>
      <p:sp>
        <p:nvSpPr>
          <p:cNvPr id="5" name="活性 CDC-42 相关报告信号在内侧前缘富集">
            <a:extLst xmlns:a="http://schemas.openxmlformats.org/drawingml/2006/main">
              <a:ext uri="{FF2B5EF4-FFF2-40B4-BE49-F238E27FC236}">
                <a16:creationId xmlns:a16="http://schemas.microsoft.com/office/drawing/2014/main" id="{6F1EDC29-EB71-42B6-9B27-1F6AB6B2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活性 CDC-42 相关报告信号在内侧前缘富集</a:t>
            </a:r>
          </a:p>
        </p:txBody>
      </p:sp>
      <p:sp>
        <p:nvSpPr>
          <p:cNvPr id="6" name="局部活性的位置提供方向信息，力学响应仍需由运动和释放实验约束">
            <a:extLst xmlns:a="http://schemas.openxmlformats.org/drawingml/2006/main">
              <a:ext uri="{FF2B5EF4-FFF2-40B4-BE49-F238E27FC236}">
                <a16:creationId xmlns:a16="http://schemas.microsoft.com/office/drawing/2014/main" id="{83588133-4916-4669-8F5C-6140E4C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局部活性的位置提供方向信息，力学响应仍需由运动和释放实验约束</a:t>
            </a:r>
          </a:p>
        </p:txBody>
      </p:sp>
    </p:spTree>
    <p:extLst>
      <p:ext uri="{BB962C8B-B14F-4D97-AF65-F5344CB8AC3E}">
        <p14:creationId xmlns:p14="http://schemas.microsoft.com/office/powerpoint/2010/main" val="1760519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1 记录接触交换，也需要记录发生方向">
            <a:extLst xmlns:a="http://schemas.openxmlformats.org/drawingml/2006/main">
              <a:ext uri="{FF2B5EF4-FFF2-40B4-BE49-F238E27FC236}">
                <a16:creationId xmlns:a16="http://schemas.microsoft.com/office/drawing/2014/main" id="{F87DCFCF-CDA9-4D49-8C8F-F646863E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T1 记录接触交换，也需要记录发生方向</a:t>
            </a:r>
          </a:p>
        </p:txBody>
      </p:sp>
      <p:sp>
        <p:nvSpPr>
          <p:cNvPr id="2" name="线虫 Note 06 §5.1；Vertex Note 04">
            <a:extLst xmlns:a="http://schemas.openxmlformats.org/drawingml/2006/main">
              <a:ext uri="{FF2B5EF4-FFF2-40B4-BE49-F238E27FC236}">
                <a16:creationId xmlns:a16="http://schemas.microsoft.com/office/drawing/2014/main" id="{4425BAAE-E778-4D9A-AD0F-8DB18F2B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06 §5.1；Vertex Note 04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93168B2D-A123-4258-97B6-4808C49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C4FA3-33F8-4F7B-A76E-EB8D5C3BC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eb0331e0649d6"/>
          <a:stretch xmlns:a="http://schemas.openxmlformats.org/drawingml/2006/main"/>
        </p:blipFill>
        <p:spPr>
          <a:xfrm xmlns:a="http://schemas.openxmlformats.org/drawingml/2006/main">
            <a:off x="1504087" y="1590675"/>
            <a:ext cx="9183826" cy="4257675"/>
          </a:xfrm>
          <a:prstGeom xmlns:a="http://schemas.openxmlformats.org/drawingml/2006/main" prst="rect">
            <a:avLst/>
          </a:prstGeom>
        </p:spPr>
      </p:pic>
      <p:sp>
        <p:nvSpPr>
          <p:cNvPr id="5" name="新邻接的形成路径，比最终接触图提供更多动力学约束">
            <a:extLst xmlns:a="http://schemas.openxmlformats.org/drawingml/2006/main">
              <a:ext uri="{FF2B5EF4-FFF2-40B4-BE49-F238E27FC236}">
                <a16:creationId xmlns:a16="http://schemas.microsoft.com/office/drawing/2014/main" id="{D2134DAF-0EBF-41F2-8C9D-B713082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新邻接的形成路径，比最终接触图提供更多动力学约束</a:t>
            </a:r>
          </a:p>
        </p:txBody>
      </p:sp>
    </p:spTree>
    <p:extLst>
      <p:ext uri="{BB962C8B-B14F-4D97-AF65-F5344CB8AC3E}">
        <p14:creationId xmlns:p14="http://schemas.microsoft.com/office/powerpoint/2010/main" val="828220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面积、周长与共享界面共同决定顶点受力">
            <a:extLst xmlns:a="http://schemas.openxmlformats.org/drawingml/2006/main">
              <a:ext uri="{FF2B5EF4-FFF2-40B4-BE49-F238E27FC236}">
                <a16:creationId xmlns:a16="http://schemas.microsoft.com/office/drawing/2014/main" id="{BA0DC460-A941-4AAB-A191-C320BC08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面积、周长与共享界面共同决定顶点受力</a:t>
            </a:r>
          </a:p>
        </p:txBody>
      </p:sp>
      <p:sp>
        <p:nvSpPr>
          <p:cNvPr id="2" name="Barton et al., 2017, Fig. 1；Vertex Note 01；线虫 Note 02 §4.1">
            <a:extLst xmlns:a="http://schemas.openxmlformats.org/drawingml/2006/main">
              <a:ext uri="{FF2B5EF4-FFF2-40B4-BE49-F238E27FC236}">
                <a16:creationId xmlns:a16="http://schemas.microsoft.com/office/drawing/2014/main" id="{1715481B-946B-448A-8F47-CEC94F99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Barton et al., 2017, Fig. 1；Vertex Note 01；线虫 Note 02 §4.1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DD417E91-2BBF-40BE-A6F9-C6709CA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EF390-C913-4A45-B047-706BC4631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b10e0cf004908"/>
          <a:stretch xmlns:a="http://schemas.openxmlformats.org/drawingml/2006/main"/>
        </p:blipFill>
        <p:spPr>
          <a:xfrm xmlns:a="http://schemas.openxmlformats.org/drawingml/2006/main">
            <a:off x="674864" y="1628775"/>
            <a:ext cx="4346223" cy="4257675"/>
          </a:xfrm>
          <a:prstGeom xmlns:a="http://schemas.openxmlformats.org/drawingml/2006/main" prst="rect">
            <a:avLst/>
          </a:prstGeom>
        </p:spPr>
      </p:pic>
      <p:sp>
        <p:nvSpPr>
          <p:cNvPr id="5" name="E = Σᵢ [K_A(Aᵢ − A₀)²/2">
            <a:extLst xmlns:a="http://schemas.openxmlformats.org/drawingml/2006/main">
              <a:ext uri="{FF2B5EF4-FFF2-40B4-BE49-F238E27FC236}">
                <a16:creationId xmlns:a16="http://schemas.microsoft.com/office/drawing/2014/main" id="{22B0B3A8-6D3B-4C8F-BB2D-D3F84F0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192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E = Σᵢ [K_A(Aᵢ − A₀)²/2</a:t>
            </a:r>
          </a:p>
        </p:txBody>
      </p:sp>
      <p:sp>
        <p:nvSpPr>
          <p:cNvPr id="6" name="        + K_P(Pᵢ − P₀)²/2] + ΣₑΛₑℓₑ">
            <a:extLst xmlns:a="http://schemas.openxmlformats.org/drawingml/2006/main">
              <a:ext uri="{FF2B5EF4-FFF2-40B4-BE49-F238E27FC236}">
                <a16:creationId xmlns:a16="http://schemas.microsoft.com/office/drawing/2014/main" id="{EF1CD30F-FD51-4559-8424-5598EC5D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0300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        + K_P(Pᵢ − P₀)²/2] + ΣₑΛₑℓₑ</a:t>
            </a:r>
          </a:p>
        </p:txBody>
      </p:sp>
      <p:sp>
        <p:nvSpPr>
          <p:cNvPr id="7" name="一个顶点的移动牵动多个细胞&#10;&#10;几何偏好需要与铺砌约束共同满足&#10;&#10;主动推进可另行进入动力学">
            <a:extLst xmlns:a="http://schemas.openxmlformats.org/drawingml/2006/main">
              <a:ext uri="{FF2B5EF4-FFF2-40B4-BE49-F238E27FC236}">
                <a16:creationId xmlns:a16="http://schemas.microsoft.com/office/drawing/2014/main" id="{761A2523-A49F-4F1E-8F43-66B23612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6000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一个顶点的移动牵动多个细胞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几何偏好需要与铺砌约束共同满足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主动推进可另行进入动力学</a:t>
            </a:r>
          </a:p>
        </p:txBody>
      </p:sp>
    </p:spTree>
    <p:extLst>
      <p:ext uri="{BB962C8B-B14F-4D97-AF65-F5344CB8AC3E}">
        <p14:creationId xmlns:p14="http://schemas.microsoft.com/office/powerpoint/2010/main" val="17594904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相同形态轨迹可能对应不同力学参数">
            <a:extLst xmlns:a="http://schemas.openxmlformats.org/drawingml/2006/main">
              <a:ext uri="{FF2B5EF4-FFF2-40B4-BE49-F238E27FC236}">
                <a16:creationId xmlns:a16="http://schemas.microsoft.com/office/drawing/2014/main" id="{4A5635BA-FF9E-4FE6-8739-6829996C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细胞几何给出重排代价，驱动再选择具体路径</a:t>
            </a:r>
          </a:p>
        </p:txBody>
      </p:sp>
      <p:sp>
        <p:nvSpPr>
          <p:cNvPr id="2" name="以下为简化模型算例，参数和时间采用任意单位">
            <a:extLst xmlns:a="http://schemas.openxmlformats.org/drawingml/2006/main">
              <a:ext uri="{FF2B5EF4-FFF2-40B4-BE49-F238E27FC236}">
                <a16:creationId xmlns:a16="http://schemas.microsoft.com/office/drawing/2014/main" id="{B9D1AB26-FE65-4A6B-8BA9-9D93B89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02 §4.2：四细胞顶点算例；Vertex Note 04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6031EAD-3DCA-4CBD-B9A8-DE000D40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" name="顶点模型以面积、周长和界面作用计算 E_path(q)">
            <a:extLst xmlns:a="http://schemas.openxmlformats.org/drawingml/2006/main">
              <a:ext uri="{FF2B5EF4-FFF2-40B4-BE49-F238E27FC236}">
                <a16:creationId xmlns:a16="http://schemas.microsoft.com/office/drawing/2014/main" id="{6157DD36-A3C7-4412-9853-EEBC292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顶点模型以面积、周长和界面作用计算 E_path(q)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C713C-15F3-4EE6-85C7-C2028C10F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0a3ffc59b492a"/>
          <a:stretch xmlns:a="http://schemas.openxmlformats.org/drawingml/2006/main"/>
        </p:blipFill>
        <p:spPr>
          <a:xfrm xmlns:a="http://schemas.openxmlformats.org/drawingml/2006/main">
            <a:off x="609600" y="1857963"/>
            <a:ext cx="8191500" cy="4218400"/>
          </a:xfrm>
          <a:prstGeom xmlns:a="http://schemas.openxmlformats.org/drawingml/2006/main" prst="rect">
            <a:avLst/>
          </a:prstGeom>
        </p:spPr>
      </p:pic>
      <p:sp>
        <p:nvSpPr>
          <p:cNvPr id="10" name="图中改变旧边张力&#10;保守能量地形改变">
            <a:extLst xmlns:a="http://schemas.openxmlformats.org/drawingml/2006/main">
              <a:ext uri="{FF2B5EF4-FFF2-40B4-BE49-F238E27FC236}">
                <a16:creationId xmlns:a16="http://schemas.microsoft.com/office/drawing/2014/main" id="{B09C603B-C093-4D7A-BB2F-B70A2E5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图中改变旧边张力</a:t>
            </a:r>
          </a:p>
          <a:p xmlns:a="http://schemas.openxmlformats.org/drawingml/2006/main">
            <a: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保守能量地形改变</a:t>
            </a:r>
          </a:p>
        </p:txBody>
      </p:sp>
      <p:sp>
        <p:nvSpPr>
          <p:cNvPr id="11" name="基底主动推进&#10;做功还依赖实际路径">
            <a:extLst xmlns:a="http://schemas.openxmlformats.org/drawingml/2006/main">
              <a:ext uri="{FF2B5EF4-FFF2-40B4-BE49-F238E27FC236}">
                <a16:creationId xmlns:a16="http://schemas.microsoft.com/office/drawing/2014/main" id="{64228845-8FB4-4FCB-8DBD-08F8D79B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基底主动推进</a:t>
            </a:r>
          </a:p>
          <a:p xmlns:a="http://schemas.openxmlformats.org/drawingml/2006/main">
            <a:pPr>
              <a:buNone/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做功还依赖实际路径</a:t>
            </a:r>
          </a:p>
        </p:txBody>
      </p:sp>
      <p:sp>
        <p:nvSpPr>
          <p:cNvPr id="12" name="受限路径的能垒&#10;未必是最低可达路径">
            <a:extLst xmlns:a="http://schemas.openxmlformats.org/drawingml/2006/main">
              <a:ext uri="{FF2B5EF4-FFF2-40B4-BE49-F238E27FC236}">
                <a16:creationId xmlns:a16="http://schemas.microsoft.com/office/drawing/2014/main" id="{84C3DD96-2FC6-41A8-B9EE-0400008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95875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受限路径的能垒</a:t>
            </a:r>
          </a:p>
          <a:p xmlns:a="http://schemas.openxmlformats.org/drawingml/2006/main">
            <a:pPr>
              <a:buNone/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未必是最低可达路径</a:t>
            </a:r>
          </a:p>
        </p:txBody>
      </p:sp>
    </p:spTree>
    <p:extLst>
      <p:ext uri="{BB962C8B-B14F-4D97-AF65-F5344CB8AC3E}">
        <p14:creationId xmlns:p14="http://schemas.microsoft.com/office/powerpoint/2010/main" val="3836200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相同基底活动可产生不同顶底运动时序">
            <a:extLst xmlns:a="http://schemas.openxmlformats.org/drawingml/2006/main">
              <a:ext uri="{FF2B5EF4-FFF2-40B4-BE49-F238E27FC236}">
                <a16:creationId xmlns:a16="http://schemas.microsoft.com/office/drawing/2014/main" id="{AA0451F4-8D89-4FFC-9566-B56AAEF4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相同基底活动可产生不同顶底运动时序</a:t>
            </a:r>
          </a:p>
        </p:txBody>
      </p:sp>
      <p:sp>
        <p:nvSpPr>
          <p:cNvPr id="2" name="线虫 Note 02 §4.3：双层相场候选模型">
            <a:extLst xmlns:a="http://schemas.openxmlformats.org/drawingml/2006/main">
              <a:ext uri="{FF2B5EF4-FFF2-40B4-BE49-F238E27FC236}">
                <a16:creationId xmlns:a16="http://schemas.microsoft.com/office/drawing/2014/main" id="{F77FBA65-1620-4BA0-B53E-D6921C5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02 §4.3：双层相场候选模型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1C456A62-0408-4014-AAE2-7AF9568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24A56-6ED7-4AFA-A771-A43482339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ff787c68c454b"/>
          <a:stretch xmlns:a="http://schemas.openxmlformats.org/drawingml/2006/main"/>
        </p:blipFill>
        <p:spPr>
          <a:xfrm xmlns:a="http://schemas.openxmlformats.org/drawingml/2006/main">
            <a:off x="1657251" y="1504950"/>
            <a:ext cx="8877498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592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顶点动力学与 T1 换邻居">
            <a:extLst xmlns:a="http://schemas.openxmlformats.org/drawingml/2006/main">
              <a:ext uri="{FF2B5EF4-FFF2-40B4-BE49-F238E27FC236}">
                <a16:creationId xmlns:a16="http://schemas.microsoft.com/office/drawing/2014/main" id="{999657A2-79E4-4E90-ADCB-85E493D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三维接触可以沿细胞厚度发生变化</a:t>
            </a:r>
          </a:p>
        </p:txBody>
      </p:sp>
      <p:sp>
        <p:nvSpPr>
          <p:cNvPr id="2" name="图为标准 T1 几何示意，不代表线虫中的完整产力机制">
            <a:extLst xmlns:a="http://schemas.openxmlformats.org/drawingml/2006/main">
              <a:ext uri="{FF2B5EF4-FFF2-40B4-BE49-F238E27FC236}">
                <a16:creationId xmlns:a16="http://schemas.microsoft.com/office/drawing/2014/main" id="{05C5AC27-F35E-4350-8209-826B4411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Gómez-Gálvez et al., 2018, Fig. 1；Vertex Note 06；线虫 Note 06 §4.4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F7FCF5F-76AA-4191-9A5F-F807EE4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20780-8D0D-4C86-8E0E-73E560953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a2d9913c4e28"/>
          <a:stretch xmlns:a="http://schemas.openxmlformats.org/drawingml/2006/main"/>
        </p:blipFill>
        <p:spPr>
          <a:xfrm xmlns:a="http://schemas.openxmlformats.org/drawingml/2006/main">
            <a:off x="1610490" y="1457325"/>
            <a:ext cx="4951469" cy="4724400"/>
          </a:xfrm>
          <a:prstGeom xmlns:a="http://schemas.openxmlformats.org/drawingml/2006/main" prst="rect">
            <a:avLst/>
          </a:prstGeom>
        </p:spPr>
      </p:pic>
      <p:sp>
        <p:nvSpPr>
          <p:cNvPr id="10" name="曲面上皮的几何对照，非线虫实测">
            <a:extLst xmlns:a="http://schemas.openxmlformats.org/drawingml/2006/main">
              <a:ext uri="{FF2B5EF4-FFF2-40B4-BE49-F238E27FC236}">
                <a16:creationId xmlns:a16="http://schemas.microsoft.com/office/drawing/2014/main" id="{19721BFE-CBEF-4BCC-8F23-1F56E05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曲面上皮的几何对照，非线虫实测</a:t>
            </a:r>
          </a:p>
        </p:txBody>
      </p:sp>
      <p:sp>
        <p:nvSpPr>
          <p:cNvPr id="11" name="顶端与基底邻接可不同">
            <a:extLst xmlns:a="http://schemas.openxmlformats.org/drawingml/2006/main">
              <a:ext uri="{FF2B5EF4-FFF2-40B4-BE49-F238E27FC236}">
                <a16:creationId xmlns:a16="http://schemas.microsoft.com/office/drawing/2014/main" id="{3CEC490F-736C-4961-B236-3D6C842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486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顶端与基底邻接可不同</a:t>
            </a:r>
          </a:p>
        </p:txBody>
      </p:sp>
      <p:sp>
        <p:nvSpPr>
          <p:cNvPr id="12" name="一张投影中的接触消失&#10;不必代表整个细胞分离">
            <a:extLst xmlns:a="http://schemas.openxmlformats.org/drawingml/2006/main">
              <a:ext uri="{FF2B5EF4-FFF2-40B4-BE49-F238E27FC236}">
                <a16:creationId xmlns:a16="http://schemas.microsoft.com/office/drawing/2014/main" id="{15B11652-25E5-4986-A849-CC9B36C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52775"/>
            <a:ext cx="3486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一张投影中的接触消失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不必代表整个细胞分离</a:t>
            </a:r>
          </a:p>
        </p:txBody>
      </p:sp>
      <p:sp>
        <p:nvSpPr>
          <p:cNvPr id="13" name="三维体积、侧壁与曲率&#10;进一步限制可达路径">
            <a:extLst xmlns:a="http://schemas.openxmlformats.org/drawingml/2006/main">
              <a:ext uri="{FF2B5EF4-FFF2-40B4-BE49-F238E27FC236}">
                <a16:creationId xmlns:a16="http://schemas.microsoft.com/office/drawing/2014/main" id="{FA64D8C0-9D77-4F7F-A3AB-CB25D46A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3486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三维体积、侧壁与曲率</a:t>
            </a:r>
          </a:p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进一步限制可达路径</a:t>
            </a:r>
          </a:p>
        </p:txBody>
      </p:sp>
    </p:spTree>
    <p:extLst>
      <p:ext uri="{BB962C8B-B14F-4D97-AF65-F5344CB8AC3E}">
        <p14:creationId xmlns:p14="http://schemas.microsoft.com/office/powerpoint/2010/main" val="9906204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相同重排次数可以产生不同净形变">
            <a:extLst xmlns:a="http://schemas.openxmlformats.org/drawingml/2006/main">
              <a:ext uri="{FF2B5EF4-FFF2-40B4-BE49-F238E27FC236}">
                <a16:creationId xmlns:a16="http://schemas.microsoft.com/office/drawing/2014/main" id="{1F2E66AE-0254-4A1D-8025-5BDC9BE6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相同重排次数可以产生不同净形变</a:t>
            </a:r>
          </a:p>
        </p:txBody>
      </p:sp>
      <p:sp>
        <p:nvSpPr>
          <p:cNvPr id="2" name="Vertex Note 04 §4.1：方向性事件应变算例">
            <a:extLst xmlns:a="http://schemas.openxmlformats.org/drawingml/2006/main">
              <a:ext uri="{FF2B5EF4-FFF2-40B4-BE49-F238E27FC236}">
                <a16:creationId xmlns:a16="http://schemas.microsoft.com/office/drawing/2014/main" id="{0D71748A-3403-442B-A972-9B1FB3AA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Vertex Note 04 §4.1：方向性事件应变算例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A985A15E-4491-4DD1-916F-85B67041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18A4E-616F-4874-ABC8-CE937334C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c46ea6abd4e08"/>
          <a:stretch xmlns:a="http://schemas.openxmlformats.org/drawingml/2006/main"/>
        </p:blipFill>
        <p:spPr>
          <a:xfrm xmlns:a="http://schemas.openxmlformats.org/drawingml/2006/main">
            <a:off x="609600" y="1971906"/>
            <a:ext cx="10972800" cy="3533313"/>
          </a:xfrm>
          <a:prstGeom xmlns:a="http://schemas.openxmlformats.org/drawingml/2006/main" prst="rect">
            <a:avLst/>
          </a:prstGeom>
        </p:spPr>
      </p:pic>
      <p:sp>
        <p:nvSpPr>
          <p:cNvPr id="5" name="事件数量与事件方向共同决定组织尺度的结果">
            <a:extLst xmlns:a="http://schemas.openxmlformats.org/drawingml/2006/main">
              <a:ext uri="{FF2B5EF4-FFF2-40B4-BE49-F238E27FC236}">
                <a16:creationId xmlns:a16="http://schemas.microsoft.com/office/drawing/2014/main" id="{724057C9-BA09-4ED7-B670-A52A4365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事件数量与事件方向共同决定组织尺度的结果</a:t>
            </a:r>
          </a:p>
        </p:txBody>
      </p:sp>
    </p:spTree>
    <p:extLst>
      <p:ext uri="{BB962C8B-B14F-4D97-AF65-F5344CB8AC3E}">
        <p14:creationId xmlns:p14="http://schemas.microsoft.com/office/powerpoint/2010/main" val="20091893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表皮的区域骨架布局决定驱动与承载位置">
            <a:extLst xmlns:a="http://schemas.openxmlformats.org/drawingml/2006/main">
              <a:ext uri="{FF2B5EF4-FFF2-40B4-BE49-F238E27FC236}">
                <a16:creationId xmlns:a16="http://schemas.microsoft.com/office/drawing/2014/main" id="{2A718331-7CA8-4E21-B81F-5D41FB1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表皮的区域骨架布局决定驱动与承载位置</a:t>
            </a:r>
          </a:p>
        </p:txBody>
      </p:sp>
      <p:sp>
        <p:nvSpPr>
          <p:cNvPr id="2" name="Vuong-Brender et al., 2017, Fig. 1A–D；线虫 Note 03 §1.1">
            <a:extLst xmlns:a="http://schemas.openxmlformats.org/drawingml/2006/main">
              <a:ext uri="{FF2B5EF4-FFF2-40B4-BE49-F238E27FC236}">
                <a16:creationId xmlns:a16="http://schemas.microsoft.com/office/drawing/2014/main" id="{359C4AD2-5BCF-413C-B98D-3FBB22AA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2017, Fig. 1A–D；线虫 Note 03 §1.1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1E1A7FF5-87C7-4F55-8B3B-8623442C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DFA7-6E03-421A-BE2D-433970AEB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e90ac6c874c06"/>
          <a:stretch xmlns:a="http://schemas.openxmlformats.org/drawingml/2006/main"/>
        </p:blipFill>
        <p:spPr>
          <a:xfrm xmlns:a="http://schemas.openxmlformats.org/drawingml/2006/main">
            <a:off x="612409" y="1428750"/>
            <a:ext cx="7804882" cy="4972050"/>
          </a:xfrm>
          <a:prstGeom xmlns:a="http://schemas.openxmlformats.org/drawingml/2006/main" prst="rect">
            <a:avLst/>
          </a:prstGeom>
        </p:spPr>
      </p:pic>
      <p:sp>
        <p:nvSpPr>
          <p:cNvPr id="5" name="Seam 与背腹表皮&#10;构成相连的承载系统">
            <a:extLst xmlns:a="http://schemas.openxmlformats.org/drawingml/2006/main">
              <a:ext uri="{FF2B5EF4-FFF2-40B4-BE49-F238E27FC236}">
                <a16:creationId xmlns:a16="http://schemas.microsoft.com/office/drawing/2014/main" id="{1A8FA89C-EFD2-42BD-BADC-C6C065DB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43075"/>
            <a:ext cx="2705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Seam 与背腹表皮</a:t>
            </a:r>
          </a:p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构成相连的承载系统</a:t>
            </a:r>
          </a:p>
        </p:txBody>
      </p:sp>
      <p:sp>
        <p:nvSpPr>
          <p:cNvPr id="6" name="结构取向&#10;&#10;马达活动&#10;&#10;有效传力">
            <a:extLst xmlns:a="http://schemas.openxmlformats.org/drawingml/2006/main">
              <a:ext uri="{FF2B5EF4-FFF2-40B4-BE49-F238E27FC236}">
                <a16:creationId xmlns:a16="http://schemas.microsoft.com/office/drawing/2014/main" id="{766B2D3E-2636-4004-BCC6-DD0943F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7051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结构取向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马达活动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有效传力</a:t>
            </a:r>
          </a:p>
        </p:txBody>
      </p:sp>
    </p:spTree>
    <p:extLst>
      <p:ext uri="{BB962C8B-B14F-4D97-AF65-F5344CB8AC3E}">
        <p14:creationId xmlns:p14="http://schemas.microsoft.com/office/powerpoint/2010/main" val="18857775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纤维取向与方向性力学响应需要共同读取">
            <a:extLst xmlns:a="http://schemas.openxmlformats.org/drawingml/2006/main">
              <a:ext uri="{FF2B5EF4-FFF2-40B4-BE49-F238E27FC236}">
                <a16:creationId xmlns:a16="http://schemas.microsoft.com/office/drawing/2014/main" id="{47FDDAD2-AD3B-4F06-AB4F-ACF9F22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纤维取向与方向性力学响应需要共同读取</a:t>
            </a:r>
          </a:p>
        </p:txBody>
      </p:sp>
      <p:sp>
        <p:nvSpPr>
          <p:cNvPr id="2" name="Vuong-Brender et al., 2017, Fig. 8A–F；线虫 Note 03 §1.7">
            <a:extLst xmlns:a="http://schemas.openxmlformats.org/drawingml/2006/main">
              <a:ext uri="{FF2B5EF4-FFF2-40B4-BE49-F238E27FC236}">
                <a16:creationId xmlns:a16="http://schemas.microsoft.com/office/drawing/2014/main" id="{BBF93676-7525-49A0-B957-C134EEB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2017, Fig. 8A–F；线虫 Note 03 §1.7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3799D8AA-51A3-4BDA-8F9D-A3ED2398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74577-2A34-470A-B9A4-2C42C64CF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6c7d9927b4f6f"/>
          <a:stretch xmlns:a="http://schemas.openxmlformats.org/drawingml/2006/main"/>
        </p:blipFill>
        <p:spPr>
          <a:xfrm xmlns:a="http://schemas.openxmlformats.org/drawingml/2006/main">
            <a:off x="612792" y="1533525"/>
            <a:ext cx="8166066" cy="4924425"/>
          </a:xfrm>
          <a:prstGeom xmlns:a="http://schemas.openxmlformats.org/drawingml/2006/main" prst="rect">
            <a:avLst/>
          </a:prstGeom>
        </p:spPr>
      </p:pic>
      <p:sp>
        <p:nvSpPr>
          <p:cNvPr id="5" name="纤维轴线&#10;与前缘推进方向&#10;采用不同取向指标">
            <a:extLst xmlns:a="http://schemas.openxmlformats.org/drawingml/2006/main">
              <a:ext uri="{FF2B5EF4-FFF2-40B4-BE49-F238E27FC236}">
                <a16:creationId xmlns:a16="http://schemas.microsoft.com/office/drawing/2014/main" id="{BD34EC65-790B-46FE-8E3C-2A5DFFE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238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纤维轴线</a:t>
            </a:r>
          </a:p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与前缘推进方向</a:t>
            </a:r>
          </a:p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采用不同取向指标</a:t>
            </a:r>
          </a:p>
        </p:txBody>
      </p:sp>
      <p:sp>
        <p:nvSpPr>
          <p:cNvPr id="6" name="排列结构还需通过&#10;机械响应检验&#10;其承载作用">
            <a:extLst xmlns:a="http://schemas.openxmlformats.org/drawingml/2006/main">
              <a:ext uri="{FF2B5EF4-FFF2-40B4-BE49-F238E27FC236}">
                <a16:creationId xmlns:a16="http://schemas.microsoft.com/office/drawing/2014/main" id="{31E14BCD-A50C-4E89-A6B2-FAC955A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62425"/>
            <a:ext cx="238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排列结构还需通过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机械响应检验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其承载作用</a:t>
            </a:r>
          </a:p>
        </p:txBody>
      </p:sp>
    </p:spTree>
    <p:extLst>
      <p:ext uri="{BB962C8B-B14F-4D97-AF65-F5344CB8AC3E}">
        <p14:creationId xmlns:p14="http://schemas.microsoft.com/office/powerpoint/2010/main" val="6443036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激光释放将局部结构与受力响应连接起来">
            <a:extLst xmlns:a="http://schemas.openxmlformats.org/drawingml/2006/main">
              <a:ext uri="{FF2B5EF4-FFF2-40B4-BE49-F238E27FC236}">
                <a16:creationId xmlns:a16="http://schemas.microsoft.com/office/drawing/2014/main" id="{85ACD6BF-7763-4BFB-853A-F8FEB44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激光释放将局部结构与受力响应连接起来</a:t>
            </a:r>
          </a:p>
        </p:txBody>
      </p:sp>
      <p:sp>
        <p:nvSpPr>
          <p:cNvPr id="2" name="Vuong-Brender et al., 2017, Fig. 2；线虫 Note 03 §1.4">
            <a:extLst xmlns:a="http://schemas.openxmlformats.org/drawingml/2006/main">
              <a:ext uri="{FF2B5EF4-FFF2-40B4-BE49-F238E27FC236}">
                <a16:creationId xmlns:a16="http://schemas.microsoft.com/office/drawing/2014/main" id="{0155655C-AA69-4E1B-8850-31AC2361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2017, Fig. 2；线虫 Note 03 §1.4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0DD243BA-6352-4B22-B521-26454A63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EF921-0398-47F0-A847-805B99DD3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b50bde23b4f0b"/>
          <a:stretch xmlns:a="http://schemas.openxmlformats.org/drawingml/2006/main"/>
        </p:blipFill>
        <p:spPr>
          <a:xfrm xmlns:a="http://schemas.openxmlformats.org/drawingml/2006/main">
            <a:off x="613956" y="1724025"/>
            <a:ext cx="10964089" cy="4457700"/>
          </a:xfrm>
          <a:prstGeom xmlns:a="http://schemas.openxmlformats.org/drawingml/2006/main" prst="rect">
            <a:avLst/>
          </a:prstGeom>
        </p:spPr>
      </p:pic>
      <p:sp>
        <p:nvSpPr>
          <p:cNvPr id="5" name="开口首先约束应力与材料参数的组合">
            <a:extLst xmlns:a="http://schemas.openxmlformats.org/drawingml/2006/main">
              <a:ext uri="{FF2B5EF4-FFF2-40B4-BE49-F238E27FC236}">
                <a16:creationId xmlns:a16="http://schemas.microsoft.com/office/drawing/2014/main" id="{6840BB8E-E854-4EF1-9922-726B208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开口首先约束应力与材料参数的组合</a:t>
            </a:r>
          </a:p>
        </p:txBody>
      </p:sp>
    </p:spTree>
    <p:extLst>
      <p:ext uri="{BB962C8B-B14F-4D97-AF65-F5344CB8AC3E}">
        <p14:creationId xmlns:p14="http://schemas.microsoft.com/office/powerpoint/2010/main" val="17901758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应力方向与材料方向需要分别进入模型">
            <a:extLst xmlns:a="http://schemas.openxmlformats.org/drawingml/2006/main">
              <a:ext uri="{FF2B5EF4-FFF2-40B4-BE49-F238E27FC236}">
                <a16:creationId xmlns:a16="http://schemas.microsoft.com/office/drawing/2014/main" id="{4B7B0B83-6147-4D03-BC09-5A44F78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应力方向与材料方向需要分别进入模型</a:t>
            </a:r>
          </a:p>
        </p:txBody>
      </p:sp>
      <p:sp>
        <p:nvSpPr>
          <p:cNvPr id="2" name="Vuong-Brender et al., 2017, Fig. 7A–C；线虫 Note 03 §1.6">
            <a:extLst xmlns:a="http://schemas.openxmlformats.org/drawingml/2006/main">
              <a:ext uri="{FF2B5EF4-FFF2-40B4-BE49-F238E27FC236}">
                <a16:creationId xmlns:a16="http://schemas.microsoft.com/office/drawing/2014/main" id="{5FA87372-BB7F-489C-AE70-2A6BEC17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2017, Fig. 7A–C；线虫 Note 03 §1.6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5443ED54-1596-40A6-91E5-037C2F4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04D30-CD6D-407F-AE1E-886757763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9a619dfdd4a64"/>
          <a:stretch xmlns:a="http://schemas.openxmlformats.org/drawingml/2006/main"/>
        </p:blipFill>
        <p:spPr>
          <a:xfrm xmlns:a="http://schemas.openxmlformats.org/drawingml/2006/main">
            <a:off x="609600" y="1762907"/>
            <a:ext cx="10972800" cy="3694135"/>
          </a:xfrm>
          <a:prstGeom xmlns:a="http://schemas.openxmlformats.org/drawingml/2006/main" prst="rect">
            <a:avLst/>
          </a:prstGeom>
        </p:spPr>
      </p:pic>
      <p:sp>
        <p:nvSpPr>
          <p:cNvPr id="5" name="开口数据与材料假设共同约束刚度比，随后再预测整体形变">
            <a:extLst xmlns:a="http://schemas.openxmlformats.org/drawingml/2006/main">
              <a:ext uri="{FF2B5EF4-FFF2-40B4-BE49-F238E27FC236}">
                <a16:creationId xmlns:a16="http://schemas.microsoft.com/office/drawing/2014/main" id="{984C6271-E312-44A6-879F-979AEB0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开口数据与材料假设共同约束刚度比，随后再预测整体形变</a:t>
            </a:r>
          </a:p>
        </p:txBody>
      </p:sp>
    </p:spTree>
    <p:extLst>
      <p:ext uri="{BB962C8B-B14F-4D97-AF65-F5344CB8AC3E}">
        <p14:creationId xmlns:p14="http://schemas.microsoft.com/office/powerpoint/2010/main" val="9296614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面向线虫各阶段的最小模型扩展">
            <a:extLst xmlns:a="http://schemas.openxmlformats.org/drawingml/2006/main">
              <a:ext uri="{FF2B5EF4-FFF2-40B4-BE49-F238E27FC236}">
                <a16:creationId xmlns:a16="http://schemas.microsoft.com/office/drawing/2014/main" id="{333F4D13-1DF2-4E53-9840-93FA869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方向性材料与封闭几何选择全身形变模式</a:t>
            </a:r>
          </a:p>
        </p:txBody>
      </p:sp>
      <p:sp>
        <p:nvSpPr>
          <p:cNvPr id="2" name="同一模型的自由度应与所解释的细胞行为对应">
            <a:extLst xmlns:a="http://schemas.openxmlformats.org/drawingml/2006/main">
              <a:ext uri="{FF2B5EF4-FFF2-40B4-BE49-F238E27FC236}">
                <a16:creationId xmlns:a16="http://schemas.microsoft.com/office/drawing/2014/main" id="{D0723E19-C5EE-4CCD-A90B-41B13A1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2017；线虫 Note 07 §4.1 的封闭体积算例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DC0D7FE-D123-41C0-83B3-8AFC100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7" name="e∞ = (τ_θ / 2 − τ_z) / (C_z + C_θ / 4)">
            <a:extLst xmlns:a="http://schemas.openxmlformats.org/drawingml/2006/main">
              <a:ext uri="{FF2B5EF4-FFF2-40B4-BE49-F238E27FC236}">
                <a16:creationId xmlns:a16="http://schemas.microsoft.com/office/drawing/2014/main" id="{C63AF893-67FA-4DED-A0AD-510CF0F7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e∞ = (τ_θ / 2 − τ_z) / (C_z + C_θ / 4)</a:t>
            </a:r>
          </a:p>
        </p:txBody>
      </p:sp>
      <p:sp>
        <p:nvSpPr>
          <p:cNvPr id="8" name="实验约束：方向性机械响应">
            <a:extLst xmlns:a="http://schemas.openxmlformats.org/drawingml/2006/main">
              <a:ext uri="{FF2B5EF4-FFF2-40B4-BE49-F238E27FC236}">
                <a16:creationId xmlns:a16="http://schemas.microsoft.com/office/drawing/2014/main" id="{6035F829-B269-4F05-978E-6BBDDDE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实验约束：方向性机械响应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51AFA-0C2D-4C80-A3FF-3FD89AD94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3d3c0826e4014"/>
          <a:stretch xmlns:a="http://schemas.openxmlformats.org/drawingml/2006/main"/>
        </p:blipFill>
        <p:spPr>
          <a:xfrm xmlns:a="http://schemas.openxmlformats.org/drawingml/2006/main">
            <a:off x="612775" y="2857500"/>
            <a:ext cx="3422650" cy="2667000"/>
          </a:xfrm>
          <a:prstGeom xmlns:a="http://schemas.openxmlformats.org/drawingml/2006/main" prst="rect">
            <a:avLst/>
          </a:prstGeom>
        </p:spPr>
      </p:pic>
      <p:sp>
        <p:nvSpPr>
          <p:cNvPr id="10" name="候选模式：相同周向驱动，不同轴向作用">
            <a:extLst xmlns:a="http://schemas.openxmlformats.org/drawingml/2006/main">
              <a:ext uri="{FF2B5EF4-FFF2-40B4-BE49-F238E27FC236}">
                <a16:creationId xmlns:a16="http://schemas.microsoft.com/office/drawing/2014/main" id="{D5C2E6EB-B458-4336-A223-D8A0C58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681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候选模式：相同周向驱动，不同轴向作用</a:t>
            </a:r>
          </a:p>
        </p:txBody>
      </p:sp>
      <p:sp>
        <p:nvSpPr>
          <p:cNvPr id="11" name="周向收缩">
            <a:extLst xmlns:a="http://schemas.openxmlformats.org/drawingml/2006/main">
              <a:ext uri="{FF2B5EF4-FFF2-40B4-BE49-F238E27FC236}">
                <a16:creationId xmlns:a16="http://schemas.microsoft.com/office/drawing/2014/main" id="{4DE50448-B89F-4EF3-A9FA-C58FFCF5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周向收缩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A8E5A-44EB-4472-AA7D-DB8E111DF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ba045e66f44f6"/>
          <a:stretch xmlns:a="http://schemas.openxmlformats.org/drawingml/2006/main"/>
        </p:blipFill>
        <p:spPr>
          <a:xfrm xmlns:a="http://schemas.openxmlformats.org/drawingml/2006/main">
            <a:off x="4762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3" name="加入轴向收缩">
            <a:extLst xmlns:a="http://schemas.openxmlformats.org/drawingml/2006/main">
              <a:ext uri="{FF2B5EF4-FFF2-40B4-BE49-F238E27FC236}">
                <a16:creationId xmlns:a16="http://schemas.microsoft.com/office/drawing/2014/main" id="{08B9FEBE-CFE2-409E-A81A-A6B07D67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加入轴向收缩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C76ED-0DF6-490B-8568-6C2BA1D2F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d22cb04ef46fb"/>
          <a:stretch xmlns:a="http://schemas.openxmlformats.org/drawingml/2006/main"/>
        </p:blipFill>
        <p:spPr>
          <a:xfrm xmlns:a="http://schemas.openxmlformats.org/drawingml/2006/main">
            <a:off x="7048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5" name="更大轴向抵抗">
            <a:extLst xmlns:a="http://schemas.openxmlformats.org/drawingml/2006/main">
              <a:ext uri="{FF2B5EF4-FFF2-40B4-BE49-F238E27FC236}">
                <a16:creationId xmlns:a16="http://schemas.microsoft.com/office/drawing/2014/main" id="{CE902626-FB3F-41B3-822B-CC0BEE7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更大轴向抵抗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98648-F2D2-4C8E-BE2E-449B1ECA0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31e569cc14d87"/>
          <a:stretch xmlns:a="http://schemas.openxmlformats.org/drawingml/2006/main"/>
        </p:blipFill>
        <p:spPr>
          <a:xfrm xmlns:a="http://schemas.openxmlformats.org/drawingml/2006/main">
            <a:off x="9334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7" name="几何把收缩与伸长耦合，方向性驱动和抵抗决定模式幅度">
            <a:extLst xmlns:a="http://schemas.openxmlformats.org/drawingml/2006/main">
              <a:ext uri="{FF2B5EF4-FFF2-40B4-BE49-F238E27FC236}">
                <a16:creationId xmlns:a16="http://schemas.microsoft.com/office/drawing/2014/main" id="{127D588A-44D1-40ED-8CCF-84DBC1D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几何把收缩与伸长耦合，方向性驱动和抵抗决定模式幅度</a:t>
            </a:r>
          </a:p>
        </p:txBody>
      </p:sp>
    </p:spTree>
    <p:extLst>
      <p:ext uri="{BB962C8B-B14F-4D97-AF65-F5344CB8AC3E}">
        <p14:creationId xmlns:p14="http://schemas.microsoft.com/office/powerpoint/2010/main" val="17792006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肌肉输入需要经过跨组织承载结构">
            <a:extLst xmlns:a="http://schemas.openxmlformats.org/drawingml/2006/main">
              <a:ext uri="{FF2B5EF4-FFF2-40B4-BE49-F238E27FC236}">
                <a16:creationId xmlns:a16="http://schemas.microsoft.com/office/drawing/2014/main" id="{0AAA7FD3-4B9E-4A93-97C1-74BFBA13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肌肉输入需要经过跨组织承载结构</a:t>
            </a:r>
          </a:p>
        </p:txBody>
      </p:sp>
      <p:sp>
        <p:nvSpPr>
          <p:cNvPr id="2" name="Labouesse et al., 2026, Fig. 5A、C；线虫 Note 04 §1.1、Note 07 §4">
            <a:extLst xmlns:a="http://schemas.openxmlformats.org/drawingml/2006/main">
              <a:ext uri="{FF2B5EF4-FFF2-40B4-BE49-F238E27FC236}">
                <a16:creationId xmlns:a16="http://schemas.microsoft.com/office/drawing/2014/main" id="{AC68B46C-3EBA-454E-A810-C0C32D3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Labouesse et al., 2026, Fig. 5A、C；线虫 Note 04 §1.1、Note 07 §4.2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63BBE959-6ED7-4FFA-AEC5-1264B37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3279D-B78F-4678-BD19-4595D8E0D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e9d92a96e4288"/>
          <a:stretch xmlns:a="http://schemas.openxmlformats.org/drawingml/2006/main"/>
        </p:blipFill>
        <p:spPr>
          <a:xfrm xmlns:a="http://schemas.openxmlformats.org/drawingml/2006/main">
            <a:off x="609600" y="1677216"/>
            <a:ext cx="3695700" cy="348451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4E91F-3243-4037-A92C-A74DE12F7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f0b5dc6844e71"/>
          <a:stretch xmlns:a="http://schemas.openxmlformats.org/drawingml/2006/main"/>
        </p:blipFill>
        <p:spPr>
          <a:xfrm xmlns:a="http://schemas.openxmlformats.org/drawingml/2006/main">
            <a:off x="6171687" y="1485900"/>
            <a:ext cx="4344426" cy="3124200"/>
          </a:xfrm>
          <a:prstGeom xmlns:a="http://schemas.openxmlformats.org/drawingml/2006/main" prst="rect">
            <a:avLst/>
          </a:prstGeom>
        </p:spPr>
      </p:pic>
      <p:sp>
        <p:nvSpPr>
          <p:cNvPr id="6" name="主动输入、有效传力与材料保持&#10;可以分别受到影响">
            <a:extLst xmlns:a="http://schemas.openxmlformats.org/drawingml/2006/main">
              <a:ext uri="{FF2B5EF4-FFF2-40B4-BE49-F238E27FC236}">
                <a16:creationId xmlns:a16="http://schemas.microsoft.com/office/drawing/2014/main" id="{3A40030C-F951-41A5-8E24-2A6EAA7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主动输入、有效传力与材料保持</a:t>
            </a:r>
          </a:p>
          <a:p xmlns:a="http://schemas.openxmlformats.org/drawingml/2006/main">
            <a:pPr>
              <a:def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可以分别受到影响</a:t>
            </a:r>
          </a:p>
        </p:txBody>
      </p:sp>
      <p:sp>
        <p:nvSpPr>
          <p:cNvPr id="7" name="CeHD 与细胞间黏着连接承担不同方向的耦合">
            <a:extLst xmlns:a="http://schemas.openxmlformats.org/drawingml/2006/main">
              <a:ext uri="{FF2B5EF4-FFF2-40B4-BE49-F238E27FC236}">
                <a16:creationId xmlns:a16="http://schemas.microsoft.com/office/drawing/2014/main" id="{B819E4C2-3184-487B-B4D8-F606BF3D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CeHD 与细胞间黏着连接承担不同方向的耦合</a:t>
            </a:r>
          </a:p>
        </p:txBody>
      </p:sp>
    </p:spTree>
    <p:extLst>
      <p:ext uri="{BB962C8B-B14F-4D97-AF65-F5344CB8AC3E}">
        <p14:creationId xmlns:p14="http://schemas.microsoft.com/office/powerpoint/2010/main" val="10844437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后期伸长：肌肉输入与表皮形态记忆">
            <a:extLst xmlns:a="http://schemas.openxmlformats.org/drawingml/2006/main">
              <a:ext uri="{FF2B5EF4-FFF2-40B4-BE49-F238E27FC236}">
                <a16:creationId xmlns:a16="http://schemas.microsoft.com/office/drawing/2014/main" id="{23B55642-1549-42B8-97F2-A04CB607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周期肌肉输入能否选择并稳定新的构型</a:t>
            </a:r>
          </a:p>
        </p:txBody>
      </p:sp>
      <p:sp>
        <p:nvSpPr>
          <p:cNvPr id="2" name="Lardennois et al., 2019，公开作者稿 Fig. 2d">
            <a:extLst xmlns:a="http://schemas.openxmlformats.org/drawingml/2006/main">
              <a:ext uri="{FF2B5EF4-FFF2-40B4-BE49-F238E27FC236}">
                <a16:creationId xmlns:a16="http://schemas.microsoft.com/office/drawing/2014/main" id="{A16D81C7-AD53-460F-B207-736E71B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Lardennois et al., 2019；Yang et al., 2025；线虫 Note 04、07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1909AED3-FC2E-4B85-A8C1-13D8CBE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11" name="长度轨迹：获得形变与保住形变">
            <a:extLst xmlns:a="http://schemas.openxmlformats.org/drawingml/2006/main">
              <a:ext uri="{FF2B5EF4-FFF2-40B4-BE49-F238E27FC236}">
                <a16:creationId xmlns:a16="http://schemas.microsoft.com/office/drawing/2014/main" id="{E1BA9BAB-8094-4E47-ABD8-E934CB7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长度轨迹：瞬时响应与长期保持分开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1C82F-99AE-404D-A618-7E428D37A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4ebe7ce594c89"/>
          <a:stretch xmlns:a="http://schemas.openxmlformats.org/drawingml/2006/main"/>
        </p:blipFill>
        <p:spPr>
          <a:xfrm xmlns:a="http://schemas.openxmlformats.org/drawingml/2006/main">
            <a:off x="1255939" y="1914525"/>
            <a:ext cx="5755821" cy="4286250"/>
          </a:xfrm>
          <a:prstGeom xmlns:a="http://schemas.openxmlformats.org/drawingml/2006/main" prst="rect">
            <a:avLst/>
          </a:prstGeom>
        </p:spPr>
      </p:pic>
      <p:sp>
        <p:nvSpPr>
          <p:cNvPr id="13" name="肌肉活动下的表皮">
            <a:extLst xmlns:a="http://schemas.openxmlformats.org/drawingml/2006/main">
              <a:ext uri="{FF2B5EF4-FFF2-40B4-BE49-F238E27FC236}">
                <a16:creationId xmlns:a16="http://schemas.microsoft.com/office/drawing/2014/main" id="{C214878B-3147-484B-B5A0-0089581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620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肌肉活动下的表皮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80875-7E9C-4A76-8425-849AC35F7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dd4abf4d54426"/>
          <a:stretch xmlns:a="http://schemas.openxmlformats.org/drawingml/2006/main"/>
        </p:blipFill>
        <p:spPr>
          <a:xfrm xmlns:a="http://schemas.openxmlformats.org/drawingml/2006/main">
            <a:off x="8858250" y="1885950"/>
            <a:ext cx="2381250" cy="3286125"/>
          </a:xfrm>
          <a:prstGeom xmlns:a="http://schemas.openxmlformats.org/drawingml/2006/main" prst="rect">
            <a:avLst/>
          </a:prstGeom>
        </p:spPr>
      </p:pic>
      <p:sp>
        <p:nvSpPr>
          <p:cNvPr id="15" name="DLG-1::RFP 标记连接&#10;周期形变叠加长期变化">
            <a:extLst xmlns:a="http://schemas.openxmlformats.org/drawingml/2006/main">
              <a:ext uri="{FF2B5EF4-FFF2-40B4-BE49-F238E27FC236}">
                <a16:creationId xmlns:a16="http://schemas.microsoft.com/office/drawing/2014/main" id="{A9A168D9-65AE-43C9-A4CB-0A6C1187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记录周期内峰值</a:t>
            </a:r>
          </a:p>
          <a:p xmlns:a="http://schemas.openxmlformats.org/drawingml/2006/main">
            <a: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以及周期末的残余形变</a:t>
            </a:r>
          </a:p>
        </p:txBody>
      </p:sp>
    </p:spTree>
    <p:extLst>
      <p:ext uri="{BB962C8B-B14F-4D97-AF65-F5344CB8AC3E}">
        <p14:creationId xmlns:p14="http://schemas.microsoft.com/office/powerpoint/2010/main" val="21152244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骨架重塑为形变保留提供内部状态">
            <a:extLst xmlns:a="http://schemas.openxmlformats.org/drawingml/2006/main">
              <a:ext uri="{FF2B5EF4-FFF2-40B4-BE49-F238E27FC236}">
                <a16:creationId xmlns:a16="http://schemas.microsoft.com/office/drawing/2014/main" id="{353EF5A3-5723-41BF-BA9F-57366ECA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骨架重塑为形变保留提供内部状态</a:t>
            </a:r>
          </a:p>
        </p:txBody>
      </p:sp>
      <p:sp>
        <p:nvSpPr>
          <p:cNvPr id="2" name="Lardennois et al., 2019, 公开作者稿 Fig. 4A、B；线虫 Note 04 §1.4">
            <a:extLst xmlns:a="http://schemas.openxmlformats.org/drawingml/2006/main">
              <a:ext uri="{FF2B5EF4-FFF2-40B4-BE49-F238E27FC236}">
                <a16:creationId xmlns:a16="http://schemas.microsoft.com/office/drawing/2014/main" id="{B6BC5D67-0EFE-4F2A-8209-47028BB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Lardennois et al., 2019, 公开作者稿 Fig. 4A、B；线虫 Note 04 §1.4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FC33410A-FA61-4AC1-9B57-9E245181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404AD-6775-4E70-84F1-D5BFB6132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51b181881421b"/>
          <a:stretch xmlns:a="http://schemas.openxmlformats.org/drawingml/2006/main"/>
        </p:blipFill>
        <p:spPr>
          <a:xfrm xmlns:a="http://schemas.openxmlformats.org/drawingml/2006/main">
            <a:off x="613185" y="1504950"/>
            <a:ext cx="10965631" cy="3190875"/>
          </a:xfrm>
          <a:prstGeom xmlns:a="http://schemas.openxmlformats.org/drawingml/2006/main" prst="rect">
            <a:avLst/>
          </a:prstGeom>
        </p:spPr>
      </p:pic>
      <p:sp>
        <p:nvSpPr>
          <p:cNvPr id="5" name="当前长度 L">
            <a:extLst xmlns:a="http://schemas.openxmlformats.org/drawingml/2006/main">
              <a:ext uri="{FF2B5EF4-FFF2-40B4-BE49-F238E27FC236}">
                <a16:creationId xmlns:a16="http://schemas.microsoft.com/office/drawing/2014/main" id="{B8048A4C-4C19-40F7-9378-6E9AC84D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当前长度 L</a:t>
            </a:r>
          </a:p>
        </p:txBody>
      </p:sp>
      <p:sp>
        <p:nvSpPr>
          <p:cNvPr id="6" name="当前负载下的形状">
            <a:extLst xmlns:a="http://schemas.openxmlformats.org/drawingml/2006/main">
              <a:ext uri="{FF2B5EF4-FFF2-40B4-BE49-F238E27FC236}">
                <a16:creationId xmlns:a16="http://schemas.microsoft.com/office/drawing/2014/main" id="{9013C85D-6DB9-497F-9C1D-A1078006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当前负载下的形状</a:t>
            </a:r>
          </a:p>
        </p:txBody>
      </p:sp>
      <p:sp>
        <p:nvSpPr>
          <p:cNvPr id="7" name="参考长度 Lᵣ">
            <a:extLst xmlns:a="http://schemas.openxmlformats.org/drawingml/2006/main">
              <a:ext uri="{FF2B5EF4-FFF2-40B4-BE49-F238E27FC236}">
                <a16:creationId xmlns:a16="http://schemas.microsoft.com/office/drawing/2014/main" id="{991883F0-1D05-408B-8B71-CB45074B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参考长度 Lᵣ</a:t>
            </a:r>
          </a:p>
        </p:txBody>
      </p:sp>
      <p:sp>
        <p:nvSpPr>
          <p:cNvPr id="8" name="指定内部状态下卸载偏好的长度">
            <a:extLst xmlns:a="http://schemas.openxmlformats.org/drawingml/2006/main">
              <a:ext uri="{FF2B5EF4-FFF2-40B4-BE49-F238E27FC236}">
                <a16:creationId xmlns:a16="http://schemas.microsoft.com/office/drawing/2014/main" id="{48607A02-5980-4181-B2B3-661E63EC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510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指定内部状态下卸载偏好的长度</a:t>
            </a:r>
          </a:p>
        </p:txBody>
      </p:sp>
    </p:spTree>
    <p:extLst>
      <p:ext uri="{BB962C8B-B14F-4D97-AF65-F5344CB8AC3E}">
        <p14:creationId xmlns:p14="http://schemas.microsoft.com/office/powerpoint/2010/main" val="12038221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线虫中的两种塑性：邻接更新与参考状态更新">
            <a:extLst xmlns:a="http://schemas.openxmlformats.org/drawingml/2006/main">
              <a:ext uri="{FF2B5EF4-FFF2-40B4-BE49-F238E27FC236}">
                <a16:creationId xmlns:a16="http://schemas.microsoft.com/office/drawing/2014/main" id="{0E0F6306-E910-40F5-9C81-F6F3592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循环加载通过内部状态更新改变稳定构型</a:t>
            </a:r>
          </a:p>
        </p:txBody>
      </p:sp>
      <p:sp>
        <p:nvSpPr>
          <p:cNvPr id="2" name="下图为一维简化模型演示，数值为任意单位，未拟合线虫实验">
            <a:extLst xmlns:a="http://schemas.openxmlformats.org/drawingml/2006/main">
              <a:ext uri="{FF2B5EF4-FFF2-40B4-BE49-F238E27FC236}">
                <a16:creationId xmlns:a16="http://schemas.microsoft.com/office/drawing/2014/main" id="{99463049-4DFC-4650-8EF4-1759B5E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04、07；参考状态更新为简化候选机制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9EE9AF86-19D0-4F57-B20F-6C40E879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8" name="ζ de/dt = Q_eff(t) − E(e − p)">
            <a:extLst xmlns:a="http://schemas.openxmlformats.org/drawingml/2006/main">
              <a:ext uri="{FF2B5EF4-FFF2-40B4-BE49-F238E27FC236}">
                <a16:creationId xmlns:a16="http://schemas.microsoft.com/office/drawing/2014/main" id="{164ABB05-C431-4BAC-A4F7-0C6FA5DC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ζ de/dt = Q_eff(t) − E(e − p)</a:t>
            </a:r>
          </a:p>
        </p:txBody>
      </p:sp>
      <p:sp>
        <p:nvSpPr>
          <p:cNvPr id="9" name="dp/dt = Mₚ ⟨E(e − p) − s_y⟩₊">
            <a:extLst xmlns:a="http://schemas.openxmlformats.org/drawingml/2006/main">
              <a:ext uri="{FF2B5EF4-FFF2-40B4-BE49-F238E27FC236}">
                <a16:creationId xmlns:a16="http://schemas.microsoft.com/office/drawing/2014/main" id="{EBEC3B4C-B792-4438-ABC2-47F319E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dp/dt = Mₚ ⟨E(e − p) − s_y⟩₊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4A438-663D-4036-B7B5-0DF548A8E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a0b70293149f7"/>
          <a:stretch xmlns:a="http://schemas.openxmlformats.org/drawingml/2006/main"/>
        </p:blipFill>
        <p:spPr>
          <a:xfrm xmlns:a="http://schemas.openxmlformats.org/drawingml/2006/main">
            <a:off x="609600" y="2410656"/>
            <a:ext cx="10972800" cy="3674987"/>
          </a:xfrm>
          <a:prstGeom xmlns:a="http://schemas.openxmlformats.org/drawingml/2006/main" prst="rect">
            <a:avLst/>
          </a:prstGeom>
        </p:spPr>
      </p:pic>
      <p:sp>
        <p:nvSpPr>
          <p:cNvPr id="11" name="相同输入，上排可恢复，下排更新 p 后保留长度；耗散本身不能指定保留哪种形状">
            <a:extLst xmlns:a="http://schemas.openxmlformats.org/drawingml/2006/main">
              <a:ext uri="{FF2B5EF4-FFF2-40B4-BE49-F238E27FC236}">
                <a16:creationId xmlns:a16="http://schemas.microsoft.com/office/drawing/2014/main" id="{F5069B10-D4D8-4313-A1B9-81D8B050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待检验：输入幅度、周期与结构更新时间，怎样决定卸载后保留的构型？</a:t>
            </a:r>
          </a:p>
        </p:txBody>
      </p:sp>
    </p:spTree>
    <p:extLst>
      <p:ext uri="{BB962C8B-B14F-4D97-AF65-F5344CB8AC3E}">
        <p14:creationId xmlns:p14="http://schemas.microsoft.com/office/powerpoint/2010/main" val="2269658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切断与重新束化的竞争改变伸长结果">
            <a:extLst xmlns:a="http://schemas.openxmlformats.org/drawingml/2006/main">
              <a:ext uri="{FF2B5EF4-FFF2-40B4-BE49-F238E27FC236}">
                <a16:creationId xmlns:a16="http://schemas.microsoft.com/office/drawing/2014/main" id="{BC838D91-F973-4EB5-92CF-9B9B79AE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切断与重新束化的竞争改变伸长结果</a:t>
            </a:r>
          </a:p>
        </p:txBody>
      </p:sp>
      <p:sp>
        <p:nvSpPr>
          <p:cNvPr id="2" name="Fang et al., 2021, Fig. 4；线虫 Note 04 §1.5">
            <a:extLst xmlns:a="http://schemas.openxmlformats.org/drawingml/2006/main">
              <a:ext uri="{FF2B5EF4-FFF2-40B4-BE49-F238E27FC236}">
                <a16:creationId xmlns:a16="http://schemas.microsoft.com/office/drawing/2014/main" id="{7C8F42D6-ED2B-47BC-BEC3-B66A69F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Fang et al., 2021, Fig. 4；线虫 Note 04 §1.5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8B729BDA-48B2-4463-95B2-56B74486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7B4E4-12A9-4A62-B8E0-00ED899B5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b10696bc1408d"/>
          <a:stretch xmlns:a="http://schemas.openxmlformats.org/drawingml/2006/main"/>
        </p:blipFill>
        <p:spPr>
          <a:xfrm xmlns:a="http://schemas.openxmlformats.org/drawingml/2006/main">
            <a:off x="911491" y="1504950"/>
            <a:ext cx="7016219" cy="4791075"/>
          </a:xfrm>
          <a:prstGeom xmlns:a="http://schemas.openxmlformats.org/drawingml/2006/main" prst="rect">
            <a:avLst/>
          </a:prstGeom>
        </p:spPr>
      </p:pic>
      <p:sp>
        <p:nvSpPr>
          <p:cNvPr id="5" name="重塑速率需要比较">
            <a:extLst xmlns:a="http://schemas.openxmlformats.org/drawingml/2006/main">
              <a:ext uri="{FF2B5EF4-FFF2-40B4-BE49-F238E27FC236}">
                <a16:creationId xmlns:a16="http://schemas.microsoft.com/office/drawing/2014/main" id="{753253CC-CC3E-46F8-85C3-A5C3A54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81175"/>
            <a:ext cx="285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重塑速率需要比较</a:t>
            </a:r>
          </a:p>
        </p:txBody>
      </p:sp>
      <p:sp>
        <p:nvSpPr>
          <p:cNvPr id="6" name="及时重建承载网络&#10;与持续改变参考状态&#10;需要共同满足">
            <a:extLst xmlns:a="http://schemas.openxmlformats.org/drawingml/2006/main">
              <a:ext uri="{FF2B5EF4-FFF2-40B4-BE49-F238E27FC236}">
                <a16:creationId xmlns:a16="http://schemas.microsoft.com/office/drawing/2014/main" id="{5CA53A26-6072-4737-B39A-382ABC88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90875"/>
            <a:ext cx="285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及时重建承载网络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与持续改变参考状态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需要共同满足</a:t>
            </a:r>
          </a:p>
        </p:txBody>
      </p:sp>
      <p:sp>
        <p:nvSpPr>
          <p:cNvPr id="7" name="模型结果仍需局部&#10;结构与动力学检验">
            <a:extLst xmlns:a="http://schemas.openxmlformats.org/drawingml/2006/main">
              <a:ext uri="{FF2B5EF4-FFF2-40B4-BE49-F238E27FC236}">
                <a16:creationId xmlns:a16="http://schemas.microsoft.com/office/drawing/2014/main" id="{A131E987-B6A1-4910-90B6-D830A9BD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435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模型结果仍需局部</a:t>
            </a:r>
          </a:p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结构与动力学检验</a:t>
            </a:r>
          </a:p>
        </p:txBody>
      </p:sp>
    </p:spTree>
    <p:extLst>
      <p:ext uri="{BB962C8B-B14F-4D97-AF65-F5344CB8AC3E}">
        <p14:creationId xmlns:p14="http://schemas.microsoft.com/office/powerpoint/2010/main" val="11021244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同一时间序列中分离快速脉动与缓慢伸长">
            <a:extLst xmlns:a="http://schemas.openxmlformats.org/drawingml/2006/main">
              <a:ext uri="{FF2B5EF4-FFF2-40B4-BE49-F238E27FC236}">
                <a16:creationId xmlns:a16="http://schemas.microsoft.com/office/drawing/2014/main" id="{8642DB2A-4C1B-41DB-88C0-867C8836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同一时间序列中分离快速脉动与缓慢伸长</a:t>
            </a:r>
          </a:p>
        </p:txBody>
      </p:sp>
      <p:sp>
        <p:nvSpPr>
          <p:cNvPr id="2" name="Yang et al., 2025, Fig. 2；线虫 Note 04 §1.6">
            <a:extLst xmlns:a="http://schemas.openxmlformats.org/drawingml/2006/main">
              <a:ext uri="{FF2B5EF4-FFF2-40B4-BE49-F238E27FC236}">
                <a16:creationId xmlns:a16="http://schemas.microsoft.com/office/drawing/2014/main" id="{E27908E4-6C40-466C-B2EA-18E1482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Yang et al., 2025, Fig. 2；线虫 Note 04 §1.6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4A67FCE7-7F79-43B9-B20A-B6C1F1E6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6A46-83E6-4B82-B140-6E79DFA7F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b5ffae7dd4849"/>
          <a:stretch xmlns:a="http://schemas.openxmlformats.org/drawingml/2006/main"/>
        </p:blipFill>
        <p:spPr>
          <a:xfrm xmlns:a="http://schemas.openxmlformats.org/drawingml/2006/main">
            <a:off x="983418" y="1562100"/>
            <a:ext cx="6824738" cy="4648200"/>
          </a:xfrm>
          <a:prstGeom xmlns:a="http://schemas.openxmlformats.org/drawingml/2006/main" prst="rect">
            <a:avLst/>
          </a:prstGeom>
        </p:spPr>
      </p:pic>
      <p:sp>
        <p:nvSpPr>
          <p:cNvPr id="5" name="ε(t) = ε̄(t) + ε̃(t)">
            <a:extLst xmlns:a="http://schemas.openxmlformats.org/drawingml/2006/main">
              <a:ext uri="{FF2B5EF4-FFF2-40B4-BE49-F238E27FC236}">
                <a16:creationId xmlns:a16="http://schemas.microsoft.com/office/drawing/2014/main" id="{E3A4AED4-7A96-4043-A5A3-0BF8E54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24025"/>
            <a:ext cx="2943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ε(t) = ε̄(t) + ε̃(t)</a:t>
            </a:r>
          </a:p>
        </p:txBody>
      </p:sp>
      <p:sp>
        <p:nvSpPr>
          <p:cNvPr id="6" name="周期峰值&#10;&#10;周期末残余&#10;&#10;相位与慢变均值">
            <a:extLst xmlns:a="http://schemas.openxmlformats.org/drawingml/2006/main">
              <a:ext uri="{FF2B5EF4-FFF2-40B4-BE49-F238E27FC236}">
                <a16:creationId xmlns:a16="http://schemas.microsoft.com/office/drawing/2014/main" id="{311FE064-EC88-485F-B048-0C812BD6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62300"/>
            <a:ext cx="294322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周期峰值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周期末残余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相位与慢变均值</a:t>
            </a:r>
          </a:p>
        </p:txBody>
      </p:sp>
    </p:spTree>
    <p:extLst>
      <p:ext uri="{BB962C8B-B14F-4D97-AF65-F5344CB8AC3E}">
        <p14:creationId xmlns:p14="http://schemas.microsoft.com/office/powerpoint/2010/main" val="2140956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连接交换的实验对照补充结构更新机制">
            <a:extLst xmlns:a="http://schemas.openxmlformats.org/drawingml/2006/main">
              <a:ext uri="{FF2B5EF4-FFF2-40B4-BE49-F238E27FC236}">
                <a16:creationId xmlns:a16="http://schemas.microsoft.com/office/drawing/2014/main" id="{D7DB710A-107C-454B-8B8D-1E2D230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连接交换的实验对照补充结构更新机制</a:t>
            </a:r>
          </a:p>
        </p:txBody>
      </p:sp>
      <p:sp>
        <p:nvSpPr>
          <p:cNvPr id="2" name="Yang et al., 2025, Fig. 5；线虫 Note 04 §1.7">
            <a:extLst xmlns:a="http://schemas.openxmlformats.org/drawingml/2006/main">
              <a:ext uri="{FF2B5EF4-FFF2-40B4-BE49-F238E27FC236}">
                <a16:creationId xmlns:a16="http://schemas.microsoft.com/office/drawing/2014/main" id="{4E5EEF58-B3E3-4D04-9C22-B50D519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Yang et al., 2025, Fig. 5；线虫 Note 04 §1.7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AC981285-E024-4B31-BFE0-A6C446FD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A5730-3670-4675-A56E-70EB599C1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986a9c374c8c"/>
          <a:stretch xmlns:a="http://schemas.openxmlformats.org/drawingml/2006/main"/>
        </p:blipFill>
        <p:spPr>
          <a:xfrm xmlns:a="http://schemas.openxmlformats.org/drawingml/2006/main">
            <a:off x="938930" y="1485900"/>
            <a:ext cx="6961340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交换速度与平台&#10;分别约束不同变化">
            <a:extLst xmlns:a="http://schemas.openxmlformats.org/drawingml/2006/main">
              <a:ext uri="{FF2B5EF4-FFF2-40B4-BE49-F238E27FC236}">
                <a16:creationId xmlns:a16="http://schemas.microsoft.com/office/drawing/2014/main" id="{74AC3FA2-17DB-4C0D-8FFB-497787F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384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交换速度与平台</a:t>
            </a:r>
          </a:p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分别约束不同变化</a:t>
            </a:r>
          </a:p>
        </p:txBody>
      </p:sp>
      <p:sp>
        <p:nvSpPr>
          <p:cNvPr id="6" name="分子更新需要继续&#10;连接到负载路径与&#10;组织尺度响应">
            <a:extLst xmlns:a="http://schemas.openxmlformats.org/drawingml/2006/main">
              <a:ext uri="{FF2B5EF4-FFF2-40B4-BE49-F238E27FC236}">
                <a16:creationId xmlns:a16="http://schemas.microsoft.com/office/drawing/2014/main" id="{1FCE9F10-AD83-4BB4-9FF6-213BF8E2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71925"/>
            <a:ext cx="28384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分子更新需要继续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连接到负载路径与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组织尺度响应</a:t>
            </a:r>
          </a:p>
        </p:txBody>
      </p:sp>
    </p:spTree>
    <p:extLst>
      <p:ext uri="{BB962C8B-B14F-4D97-AF65-F5344CB8AC3E}">
        <p14:creationId xmlns:p14="http://schemas.microsoft.com/office/powerpoint/2010/main" val="10489236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AP 恢复也包含观察时间与连接几何">
            <a:extLst xmlns:a="http://schemas.openxmlformats.org/drawingml/2006/main">
              <a:ext uri="{FF2B5EF4-FFF2-40B4-BE49-F238E27FC236}">
                <a16:creationId xmlns:a16="http://schemas.microsoft.com/office/drawing/2014/main" id="{64CC3F63-E362-40F6-9480-8A1B1BFF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FRAP 恢复也包含观察时间与连接几何</a:t>
            </a:r>
          </a:p>
        </p:txBody>
      </p:sp>
      <p:sp>
        <p:nvSpPr>
          <p:cNvPr id="2" name="线虫 Note 04 §4：恢复比例、交换时间与几何稀释">
            <a:extLst xmlns:a="http://schemas.openxmlformats.org/drawingml/2006/main">
              <a:ext uri="{FF2B5EF4-FFF2-40B4-BE49-F238E27FC236}">
                <a16:creationId xmlns:a16="http://schemas.microsoft.com/office/drawing/2014/main" id="{55B98A3F-7F8E-46A3-B7AD-62D91037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04 §4：恢复比例、交换时间与几何稀释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3FF3D015-DE8C-44A9-B230-5D60451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4" name="dc/dt = s − (k + dlnL/dt)c">
            <a:extLst xmlns:a="http://schemas.openxmlformats.org/drawingml/2006/main">
              <a:ext uri="{FF2B5EF4-FFF2-40B4-BE49-F238E27FC236}">
                <a16:creationId xmlns:a16="http://schemas.microsoft.com/office/drawing/2014/main" id="{C8523C62-C06D-4EFC-A274-F00973AA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dc/dt = s − (k + dlnL/dt)c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E2673-A562-4D80-83A9-553B74370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0739457bd4e0a"/>
          <a:stretch xmlns:a="http://schemas.openxmlformats.org/drawingml/2006/main"/>
        </p:blipFill>
        <p:spPr>
          <a:xfrm xmlns:a="http://schemas.openxmlformats.org/drawingml/2006/main">
            <a:off x="609845" y="2000250"/>
            <a:ext cx="10972309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768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材料的稳定与流动依赖加载协议和观察时间">
            <a:extLst xmlns:a="http://schemas.openxmlformats.org/drawingml/2006/main">
              <a:ext uri="{FF2B5EF4-FFF2-40B4-BE49-F238E27FC236}">
                <a16:creationId xmlns:a16="http://schemas.microsoft.com/office/drawing/2014/main" id="{43ACA574-BB89-42D3-970C-1A44F19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材料的稳定与流动依赖加载协议和观察时间</a:t>
            </a:r>
          </a:p>
        </p:txBody>
      </p:sp>
      <p:sp>
        <p:nvSpPr>
          <p:cNvPr id="2" name="线虫 Note 06 §9.2；Vertex Note 05">
            <a:extLst xmlns:a="http://schemas.openxmlformats.org/drawingml/2006/main">
              <a:ext uri="{FF2B5EF4-FFF2-40B4-BE49-F238E27FC236}">
                <a16:creationId xmlns:a16="http://schemas.microsoft.com/office/drawing/2014/main" id="{F3DAE08E-E22C-4388-BAC3-3FC437E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06 §9.2；Vertex Note 05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18D55234-7E1A-4E61-9EC7-7E84891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9AC5D-548F-4A2C-93E6-8508D0817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f5cf3f15a41b0"/>
          <a:stretch xmlns:a="http://schemas.openxmlformats.org/drawingml/2006/main"/>
        </p:blipFill>
        <p:spPr>
          <a:xfrm xmlns:a="http://schemas.openxmlformats.org/drawingml/2006/main">
            <a:off x="609600" y="2001005"/>
            <a:ext cx="10972800" cy="3570366"/>
          </a:xfrm>
          <a:prstGeom xmlns:a="http://schemas.openxmlformats.org/drawingml/2006/main" prst="rect">
            <a:avLst/>
          </a:prstGeom>
        </p:spPr>
      </p:pic>
      <p:sp>
        <p:nvSpPr>
          <p:cNvPr id="5" name="有限时间内看似固态的响应，仍需更长时间或其他协议区分">
            <a:extLst xmlns:a="http://schemas.openxmlformats.org/drawingml/2006/main">
              <a:ext uri="{FF2B5EF4-FFF2-40B4-BE49-F238E27FC236}">
                <a16:creationId xmlns:a16="http://schemas.microsoft.com/office/drawing/2014/main" id="{17847FFB-D508-4998-90F3-5284263A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有限时间内看似固态的响应，仍需更长时间或其他协议区分</a:t>
            </a:r>
          </a:p>
        </p:txBody>
      </p:sp>
    </p:spTree>
    <p:extLst>
      <p:ext uri="{BB962C8B-B14F-4D97-AF65-F5344CB8AC3E}">
        <p14:creationId xmlns:p14="http://schemas.microsoft.com/office/powerpoint/2010/main" val="17621721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软模态还需要与驱动方向及时间尺度耦合">
            <a:extLst xmlns:a="http://schemas.openxmlformats.org/drawingml/2006/main">
              <a:ext uri="{FF2B5EF4-FFF2-40B4-BE49-F238E27FC236}">
                <a16:creationId xmlns:a16="http://schemas.microsoft.com/office/drawing/2014/main" id="{9CCEA2C8-B6DD-4097-AB82-8186B20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软模态还需要与驱动方向及时间尺度耦合</a:t>
            </a:r>
          </a:p>
        </p:txBody>
      </p:sp>
      <p:sp>
        <p:nvSpPr>
          <p:cNvPr id="2" name="Vertex Note 02 §4.1：模态刚度、加载耦合与频率响应">
            <a:extLst xmlns:a="http://schemas.openxmlformats.org/drawingml/2006/main">
              <a:ext uri="{FF2B5EF4-FFF2-40B4-BE49-F238E27FC236}">
                <a16:creationId xmlns:a16="http://schemas.microsoft.com/office/drawing/2014/main" id="{3A3E418A-4AF5-478D-9ECC-ACA2121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Vertex Note 02 §4.1：模态刚度、加载耦合与频率响应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FF767B16-43C2-411D-A612-5891FA81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  <p:sp>
        <p:nvSpPr>
          <p:cNvPr id="4" name="c_α(ω) = f_α(ω) / (λ_α + iωζ)">
            <a:extLst xmlns:a="http://schemas.openxmlformats.org/drawingml/2006/main">
              <a:ext uri="{FF2B5EF4-FFF2-40B4-BE49-F238E27FC236}">
                <a16:creationId xmlns:a16="http://schemas.microsoft.com/office/drawing/2014/main" id="{2162C349-FE0E-402B-B446-01C259A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c_α(ω) = f_α(ω) / (λ_α + iωζ)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C9851-9BC3-4536-8462-5D8D5D3FE5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e13277266482d"/>
          <a:stretch xmlns:a="http://schemas.openxmlformats.org/drawingml/2006/main"/>
        </p:blipFill>
        <p:spPr>
          <a:xfrm xmlns:a="http://schemas.openxmlformats.org/drawingml/2006/main">
            <a:off x="609600" y="2023396"/>
            <a:ext cx="10972800" cy="3668458"/>
          </a:xfrm>
          <a:prstGeom xmlns:a="http://schemas.openxmlformats.org/drawingml/2006/main" prst="rect">
            <a:avLst/>
          </a:prstGeom>
        </p:spPr>
      </p:pic>
      <p:sp>
        <p:nvSpPr>
          <p:cNvPr id="6" name="几何选择软方向，驱动的空间分布与周期选择被激发的运动">
            <a:extLst xmlns:a="http://schemas.openxmlformats.org/drawingml/2006/main">
              <a:ext uri="{FF2B5EF4-FFF2-40B4-BE49-F238E27FC236}">
                <a16:creationId xmlns:a16="http://schemas.microsoft.com/office/drawing/2014/main" id="{07797661-7925-4E30-9A9A-6FD7CA5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几何选择软方向，驱动的空间分布与周期选择被激发的运动</a:t>
            </a:r>
          </a:p>
        </p:txBody>
      </p:sp>
    </p:spTree>
    <p:extLst>
      <p:ext uri="{BB962C8B-B14F-4D97-AF65-F5344CB8AC3E}">
        <p14:creationId xmlns:p14="http://schemas.microsoft.com/office/powerpoint/2010/main" val="9267745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独立扰动帮助区分产生相同轨迹的参数组合">
            <a:extLst xmlns:a="http://schemas.openxmlformats.org/drawingml/2006/main">
              <a:ext uri="{FF2B5EF4-FFF2-40B4-BE49-F238E27FC236}">
                <a16:creationId xmlns:a16="http://schemas.microsoft.com/office/drawing/2014/main" id="{6DBA4ADE-81CF-4947-A63D-05138AD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独立扰动帮助区分产生相同轨迹的参数组合</a:t>
            </a:r>
          </a:p>
        </p:txBody>
      </p:sp>
      <p:sp>
        <p:nvSpPr>
          <p:cNvPr id="2" name="线虫 Note 05 §5.1；Vertex Note 07">
            <a:extLst xmlns:a="http://schemas.openxmlformats.org/drawingml/2006/main">
              <a:ext uri="{FF2B5EF4-FFF2-40B4-BE49-F238E27FC236}">
                <a16:creationId xmlns:a16="http://schemas.microsoft.com/office/drawing/2014/main" id="{32AFA018-3B08-4CCD-B178-901417A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05 §5.1；Vertex Note 07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43ABC95B-120B-418D-B254-9ED7493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42</a:t>
            </a:r>
          </a:p>
        </p:txBody>
      </p:sp>
      <p:sp>
        <p:nvSpPr>
          <p:cNvPr id="4" name="η du/dt + Ku = F">
            <a:extLst xmlns:a="http://schemas.openxmlformats.org/drawingml/2006/main">
              <a:ext uri="{FF2B5EF4-FFF2-40B4-BE49-F238E27FC236}">
                <a16:creationId xmlns:a16="http://schemas.microsoft.com/office/drawing/2014/main" id="{59B8AF1E-6600-4F05-B632-93BAEE0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η du/dt + Ku = F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19FFF-6F9C-4EAD-BED1-74A60DACD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661e1c73d49e8"/>
          <a:stretch xmlns:a="http://schemas.openxmlformats.org/drawingml/2006/main"/>
        </p:blipFill>
        <p:spPr>
          <a:xfrm xmlns:a="http://schemas.openxmlformats.org/drawingml/2006/main">
            <a:off x="609845" y="2000250"/>
            <a:ext cx="10972309" cy="431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522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伸长方向由力与刚度的各向异性共同决定">
            <a:extLst xmlns:a="http://schemas.openxmlformats.org/drawingml/2006/main">
              <a:ext uri="{FF2B5EF4-FFF2-40B4-BE49-F238E27FC236}">
                <a16:creationId xmlns:a16="http://schemas.microsoft.com/office/drawing/2014/main" id="{311B9A04-E7A4-4898-A95D-A393ADC8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三个案例中可比较的物理量</a:t>
            </a:r>
          </a:p>
        </p:txBody>
      </p:sp>
      <p:sp>
        <p:nvSpPr>
          <p:cNvPr id="2" name="Vuong-Brender et al., 2017, Fig. 2">
            <a:extLst xmlns:a="http://schemas.openxmlformats.org/drawingml/2006/main">
              <a:ext uri="{FF2B5EF4-FFF2-40B4-BE49-F238E27FC236}">
                <a16:creationId xmlns:a16="http://schemas.microsoft.com/office/drawing/2014/main" id="{4D379625-5DC3-42A9-A3F6-AD957F82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跨案例比较框架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9E83C42-76EF-4FA2-9150-2CF49B6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C2762-CE28-4FF2-BFB5-136F0079210C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52875"/>
                <a:gridCol w="44958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主要改变的物理层次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需要共同记录的输出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壳内堆积与内移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可行几何、稳定盆地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能垒与集体软路径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接触拓扑、邻居协同运动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构型分布与首达时间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定向基底推进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主动作用的位置和方向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层间耦合与重排通道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事件位置与方向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顶底延迟、路径及最终邻接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周期负载与重塑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内部状态与历史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卸载后的稳定构型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周期峰值、残余与回缩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循环间记忆和滞回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共同问题是条件怎样选择路径和构型，具体稳定性判据仍需随模型说明">
            <a:extLst xmlns:a="http://schemas.openxmlformats.org/drawingml/2006/main">
              <a:ext uri="{FF2B5EF4-FFF2-40B4-BE49-F238E27FC236}">
                <a16:creationId xmlns:a16="http://schemas.microsoft.com/office/drawing/2014/main" id="{B815DCF2-8D9F-496C-B44F-F4467AD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共同问题是条件怎样选择路径和构型，具体稳定性判据仍需随模型说明</a:t>
            </a:r>
          </a:p>
        </p:txBody>
      </p:sp>
    </p:spTree>
    <p:extLst>
      <p:ext uri="{BB962C8B-B14F-4D97-AF65-F5344CB8AC3E}">
        <p14:creationId xmlns:p14="http://schemas.microsoft.com/office/powerpoint/2010/main" val="26039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线虫形态发生给顶点模型的启发">
            <a:extLst xmlns:a="http://schemas.openxmlformats.org/drawingml/2006/main">
              <a:ext uri="{FF2B5EF4-FFF2-40B4-BE49-F238E27FC236}">
                <a16:creationId xmlns:a16="http://schemas.microsoft.com/office/drawing/2014/main" id="{AC4DD42D-B427-49D6-B81B-3BF4CEC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最小对照：分别改变几何、驱动协议和材料历史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3EE615DF-8F7C-4B46-8EDB-ED35A238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8" name="研究方案：控制条件与输入匹配方式需明确报告">
            <a:extLst xmlns:a="http://schemas.openxmlformats.org/drawingml/2006/main">
              <a:ext uri="{FF2B5EF4-FFF2-40B4-BE49-F238E27FC236}">
                <a16:creationId xmlns:a16="http://schemas.microsoft.com/office/drawing/2014/main" id="{6F3F8FED-99DD-4B73-B0CF-562E2D2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研究方案：控制条件与输入匹配方式需明确报告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7654-14EB-4B84-86DD-49E3ED4E488E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476750"/>
                <a:gridCol w="3971925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扫描的条件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保持或记录哪些输入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比较哪些结果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几何与接触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细胞数、体积和分裂协议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壳形与非均一作用分开改变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稳定排列范围、转变概率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邻居让位模式与首达时间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驱动位置与方向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明确匹配做功或位移尺度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另记录峰值、速率与持续性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邻居交换通道与方向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路径逆转和终态选择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循环与结构更新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输入幅度、周期和相位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结构松弛与恢复时间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峰值与卸载残余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滞回、记忆及失稳边界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无驱动、各向同性驱动与固定内部状态，为机制比较提供基线">
            <a:extLst xmlns:a="http://schemas.openxmlformats.org/drawingml/2006/main">
              <a:ext uri="{FF2B5EF4-FFF2-40B4-BE49-F238E27FC236}">
                <a16:creationId xmlns:a16="http://schemas.microsoft.com/office/drawing/2014/main" id="{186E9E96-2FB8-41AB-88BC-57A1F4C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无驱动、各向同性驱动与固定内部状态，为机制比较提供基线</a:t>
            </a:r>
          </a:p>
        </p:txBody>
      </p:sp>
    </p:spTree>
    <p:extLst>
      <p:ext uri="{BB962C8B-B14F-4D97-AF65-F5344CB8AC3E}">
        <p14:creationId xmlns:p14="http://schemas.microsoft.com/office/powerpoint/2010/main" val="146559410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普遍机制通过跨条件预测检验">
            <a:extLst xmlns:a="http://schemas.openxmlformats.org/drawingml/2006/main">
              <a:ext uri="{FF2B5EF4-FFF2-40B4-BE49-F238E27FC236}">
                <a16:creationId xmlns:a16="http://schemas.microsoft.com/office/drawing/2014/main" id="{509F10F7-A2BB-4E37-A142-36445D9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普遍机制通过跨条件预测检验</a:t>
            </a:r>
          </a:p>
        </p:txBody>
      </p:sp>
      <p:sp>
        <p:nvSpPr>
          <p:cNvPr id="2" name="以下为研究设想，需由实验与模拟检验">
            <a:extLst xmlns:a="http://schemas.openxmlformats.org/drawingml/2006/main">
              <a:ext uri="{FF2B5EF4-FFF2-40B4-BE49-F238E27FC236}">
                <a16:creationId xmlns:a16="http://schemas.microsoft.com/office/drawing/2014/main" id="{CE6033D0-29D3-494D-B6D4-28962B3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以下为研究设想，需由实验与模拟检验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3D1AD48B-EA25-4227-BE6E-CDEB88E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4" name="以下为候选机制与检验标准，尚非已经建立的普遍规律">
            <a:extLst xmlns:a="http://schemas.openxmlformats.org/drawingml/2006/main">
              <a:ext uri="{FF2B5EF4-FFF2-40B4-BE49-F238E27FC236}">
                <a16:creationId xmlns:a16="http://schemas.microsoft.com/office/drawing/2014/main" id="{8FD60CBA-1C66-4F4A-B3A6-AB48CFA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以下为候选机制与检验标准，尚非已经建立的普遍规律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7969B-9D9B-4C1F-A684-D489CA10818C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286250"/>
                <a:gridCol w="39243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候选机制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线虫内部的检验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进一步推广的要求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约束选择集体软路径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改变壳形或接触条件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比较软模式与重排位置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预测新几何中的路径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并给出失效范围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结构化驱动选择通道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相近输入尺度下改变方向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比较跃迁概率和首达时间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保留驱动与结构的关系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而非只匹配总活动强度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历史改变稳定构型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固定与更新内部状态对照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比较卸载残余和记忆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跨周期和材料参数预测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检验哪些无量纲量可迁移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预测未参与拟合的条件，再检验能否推广到其他受限主动集体">
            <a:extLst xmlns:a="http://schemas.openxmlformats.org/drawingml/2006/main">
              <a:ext uri="{FF2B5EF4-FFF2-40B4-BE49-F238E27FC236}">
                <a16:creationId xmlns:a16="http://schemas.microsoft.com/office/drawing/2014/main" id="{962AC17E-A4A8-4860-89FC-2ABEF72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先预测未参与拟合的条件，再检验能否推广到其他受限主动集体</a:t>
            </a:r>
          </a:p>
        </p:txBody>
      </p:sp>
    </p:spTree>
    <p:extLst>
      <p:ext uri="{BB962C8B-B14F-4D97-AF65-F5344CB8AC3E}">
        <p14:creationId xmlns:p14="http://schemas.microsoft.com/office/powerpoint/2010/main" val="7135896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观测与扰动怎样区分竞争机制">
            <a:extLst xmlns:a="http://schemas.openxmlformats.org/drawingml/2006/main">
              <a:ext uri="{FF2B5EF4-FFF2-40B4-BE49-F238E27FC236}">
                <a16:creationId xmlns:a16="http://schemas.microsoft.com/office/drawing/2014/main" id="{1FD2D109-6E72-4DCE-8C5E-D50FC817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研究目标：驱动与约束如何选择细胞集体构型</a:t>
            </a:r>
          </a:p>
        </p:txBody>
      </p:sp>
      <p:sp>
        <p:nvSpPr>
          <p:cNvPr id="2" name="比较同一过程的时间顺序，同时保留局部形变与全身输出">
            <a:extLst xmlns:a="http://schemas.openxmlformats.org/drawingml/2006/main">
              <a:ext uri="{FF2B5EF4-FFF2-40B4-BE49-F238E27FC236}">
                <a16:creationId xmlns:a16="http://schemas.microsoft.com/office/drawing/2014/main" id="{79A9CB39-4F9B-4884-A952-44EA3C2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以 C. elegans 为可重复的受限主动集体试验场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72B809F3-531C-40E5-B809-0AE49406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  <p:sp>
        <p:nvSpPr>
          <p:cNvPr id="7" name="从 C. elegans 胚胎中选择具有特殊驱动方式&#10;或几何约束的形态发生过程，研究这些条">
            <a:extLst xmlns:a="http://schemas.openxmlformats.org/drawingml/2006/main">
              <a:ext uri="{FF2B5EF4-FFF2-40B4-BE49-F238E27FC236}">
                <a16:creationId xmlns:a16="http://schemas.microsoft.com/office/drawing/2014/main" id="{7F117CD8-B6B8-485A-BF4E-AE86AC1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从 C. elegans 胚胎中选择具有特殊驱动方式</a:t>
            </a:r>
          </a:p>
          <a:p xmlns:a="http://schemas.openxmlformats.org/drawingml/2006/main">
            <a: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或几何约束的形态发生过程，研究这些条件</a:t>
            </a:r>
          </a:p>
          <a:p xmlns:a="http://schemas.openxmlformats.org/drawingml/2006/main">
            <a: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怎样影响细胞集体重排、稳定性和可达构型，</a:t>
            </a:r>
          </a:p>
          <a:p xmlns:a="http://schemas.openxmlformats.org/drawingml/2006/main">
            <a:pPr>
              <a:buNone/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进而寻找具有普遍意义的物理机制。</a:t>
            </a:r>
          </a:p>
        </p:txBody>
      </p:sp>
      <p:sp>
        <p:nvSpPr>
          <p:cNvPr id="8" name="以特殊生物条件辨识控制原理，建立机制及其适用边界">
            <a:extLst xmlns:a="http://schemas.openxmlformats.org/drawingml/2006/main">
              <a:ext uri="{FF2B5EF4-FFF2-40B4-BE49-F238E27FC236}">
                <a16:creationId xmlns:a16="http://schemas.microsoft.com/office/drawing/2014/main" id="{A37A3AFD-8F45-48BA-B2BC-D9BB174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以特殊生物条件辨识控制原理，建立机制及其适用边界</a:t>
            </a:r>
          </a:p>
        </p:txBody>
      </p:sp>
      <p:sp>
        <p:nvSpPr>
          <p:cNvPr id="9" name="线虫提供可追踪的实例，普遍性由跨条件预测和对照来检验">
            <a:extLst xmlns:a="http://schemas.openxmlformats.org/drawingml/2006/main">
              <a:ext uri="{FF2B5EF4-FFF2-40B4-BE49-F238E27FC236}">
                <a16:creationId xmlns:a16="http://schemas.microsoft.com/office/drawing/2014/main" id="{48E53CEC-D9A0-4B9B-83A2-A52626D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线虫提供可追踪的实例，普遍性由跨条件预测和对照来检验</a:t>
            </a:r>
          </a:p>
        </p:txBody>
      </p:sp>
    </p:spTree>
    <p:extLst>
      <p:ext uri="{BB962C8B-B14F-4D97-AF65-F5344CB8AC3E}">
        <p14:creationId xmlns:p14="http://schemas.microsoft.com/office/powerpoint/2010/main" val="210378603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参考笔记与核心文献">
            <a:extLst xmlns:a="http://schemas.openxmlformats.org/drawingml/2006/main">
              <a:ext uri="{FF2B5EF4-FFF2-40B4-BE49-F238E27FC236}">
                <a16:creationId xmlns:a16="http://schemas.microsoft.com/office/drawing/2014/main" id="{944C367D-F872-4F52-AED1-5F503D0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参考笔记与主要实验来源</a:t>
            </a:r>
          </a:p>
        </p:txBody>
      </p:sp>
      <p:sp>
        <p:nvSpPr>
          <p:cNvPr id="2" name="完整图源、链接、模型假设和逐页讲述提示见演讲者备注">
            <a:extLst xmlns:a="http://schemas.openxmlformats.org/drawingml/2006/main">
              <a:ext uri="{FF2B5EF4-FFF2-40B4-BE49-F238E27FC236}">
                <a16:creationId xmlns:a16="http://schemas.microsoft.com/office/drawing/2014/main" id="{D7B38700-8E8B-406A-ACCD-604F7F4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各页备注保留原图来源、本地章节与模型适用范围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4E7F34F0-F10C-4024-82D5-84966FEF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19" name="线虫笔记：过程、实验、网络与几何">
            <a:extLst xmlns:a="http://schemas.openxmlformats.org/drawingml/2006/main">
              <a:ext uri="{FF2B5EF4-FFF2-40B4-BE49-F238E27FC236}">
                <a16:creationId xmlns:a16="http://schemas.microsoft.com/office/drawing/2014/main" id="{6129E2C3-7094-4689-9751-780EC74C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aabc9c9bb934f1c"/>
              </a:rPr>
              <a:t>线虫笔记：过程、实验、网络与几何</a:t>
            </a:r>
          </a:p>
        </p:txBody>
      </p:sp>
      <p:sp>
        <p:nvSpPr>
          <p:cNvPr id="20" name="Vertex Model：稳定性、响应与重排">
            <a:extLst xmlns:a="http://schemas.openxmlformats.org/drawingml/2006/main">
              <a:ext uri="{FF2B5EF4-FFF2-40B4-BE49-F238E27FC236}">
                <a16:creationId xmlns:a16="http://schemas.microsoft.com/office/drawing/2014/main" id="{636F1A50-81D2-4243-9D68-31B2F74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c465fc295f34cb0"/>
              </a:rPr>
              <a:t>Vertex Model：稳定性、响应与重排</a:t>
            </a:r>
          </a:p>
        </p:txBody>
      </p:sp>
      <p:sp>
        <p:nvSpPr>
          <p:cNvPr id="21" name="Fickentscher et al. (2013)">
            <a:extLst xmlns:a="http://schemas.openxmlformats.org/drawingml/2006/main">
              <a:ext uri="{FF2B5EF4-FFF2-40B4-BE49-F238E27FC236}">
                <a16:creationId xmlns:a16="http://schemas.microsoft.com/office/drawing/2014/main" id="{5FF01C06-2061-4078-9BDD-FBFD1AF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5554bbe1c4047bb"/>
              </a:rPr>
              <a:t>Fickentscher et al. (2013)</a:t>
            </a:r>
          </a:p>
        </p:txBody>
      </p:sp>
      <p:sp>
        <p:nvSpPr>
          <p:cNvPr id="22" name="受限排列与细胞轨迹">
            <a:extLst xmlns:a="http://schemas.openxmlformats.org/drawingml/2006/main">
              <a:ext uri="{FF2B5EF4-FFF2-40B4-BE49-F238E27FC236}">
                <a16:creationId xmlns:a16="http://schemas.microsoft.com/office/drawing/2014/main" id="{69590DFC-A87E-4CF8-BD84-14BBB788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受限排列与细胞轨迹</a:t>
            </a:r>
          </a:p>
        </p:txBody>
      </p:sp>
      <p:sp>
        <p:nvSpPr>
          <p:cNvPr id="23" name="Yamamoto &amp; Kimura (2017), Yamamoto et al. (2026)">
            <a:extLst xmlns:a="http://schemas.openxmlformats.org/drawingml/2006/main">
              <a:ext uri="{FF2B5EF4-FFF2-40B4-BE49-F238E27FC236}">
                <a16:creationId xmlns:a16="http://schemas.microsoft.com/office/drawing/2014/main" id="{AD3C0643-DA9B-4BE8-B6AE-0CAE1DC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02028bb989e4ce0"/>
              </a:rPr>
              <a:t>Yamamoto &amp; Kimura (2017), Yamamoto et al. (2026)</a:t>
            </a:r>
          </a:p>
        </p:txBody>
      </p:sp>
      <p:sp>
        <p:nvSpPr>
          <p:cNvPr id="24" name="壳形与界面张力">
            <a:extLst xmlns:a="http://schemas.openxmlformats.org/drawingml/2006/main">
              <a:ext uri="{FF2B5EF4-FFF2-40B4-BE49-F238E27FC236}">
                <a16:creationId xmlns:a16="http://schemas.microsoft.com/office/drawing/2014/main" id="{FED24F6D-C1DE-4552-87B1-69A8171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壳形与界面张力</a:t>
            </a:r>
          </a:p>
        </p:txBody>
      </p:sp>
      <p:sp>
        <p:nvSpPr>
          <p:cNvPr id="25" name="Roh-Johnson et al. (2012), Slabodnick et al. (2023)">
            <a:extLst xmlns:a="http://schemas.openxmlformats.org/drawingml/2006/main">
              <a:ext uri="{FF2B5EF4-FFF2-40B4-BE49-F238E27FC236}">
                <a16:creationId xmlns:a16="http://schemas.microsoft.com/office/drawing/2014/main" id="{38AEA9E9-39BF-4C1F-B113-B32A91C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04a4adef07a469b"/>
              </a:rPr>
              <a:t>Roh-Johnson et al. (2012), Slabodnick et al. (2023)</a:t>
            </a:r>
          </a:p>
        </p:txBody>
      </p:sp>
      <p:sp>
        <p:nvSpPr>
          <p:cNvPr id="26" name="皮层与边界耦合">
            <a:extLst xmlns:a="http://schemas.openxmlformats.org/drawingml/2006/main">
              <a:ext uri="{FF2B5EF4-FFF2-40B4-BE49-F238E27FC236}">
                <a16:creationId xmlns:a16="http://schemas.microsoft.com/office/drawing/2014/main" id="{E37E8FB4-C1E5-46E1-8D9E-4BF492FF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皮层与边界耦合</a:t>
            </a:r>
          </a:p>
        </p:txBody>
      </p:sp>
      <p:sp>
        <p:nvSpPr>
          <p:cNvPr id="27" name="Chihara &amp; Nance (2012)">
            <a:extLst xmlns:a="http://schemas.openxmlformats.org/drawingml/2006/main">
              <a:ext uri="{FF2B5EF4-FFF2-40B4-BE49-F238E27FC236}">
                <a16:creationId xmlns:a16="http://schemas.microsoft.com/office/drawing/2014/main" id="{930FD3E1-1C11-4033-9800-EB2A9E61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1bc35469f44456b"/>
              </a:rPr>
              <a:t>Chihara &amp; Nance (2012)</a:t>
            </a:r>
          </a:p>
        </p:txBody>
      </p:sp>
      <p:sp>
        <p:nvSpPr>
          <p:cNvPr id="28" name="邻居带动的 PGC 内移">
            <a:extLst xmlns:a="http://schemas.openxmlformats.org/drawingml/2006/main">
              <a:ext uri="{FF2B5EF4-FFF2-40B4-BE49-F238E27FC236}">
                <a16:creationId xmlns:a16="http://schemas.microsoft.com/office/drawing/2014/main" id="{01442B36-AEB7-4E61-9E2D-89C8ED9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86175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邻居带动的 PGC 内移</a:t>
            </a:r>
          </a:p>
        </p:txBody>
      </p:sp>
      <p:sp>
        <p:nvSpPr>
          <p:cNvPr id="29" name="Walck-Shannon et al. (2015, 2016)">
            <a:extLst xmlns:a="http://schemas.openxmlformats.org/drawingml/2006/main">
              <a:ext uri="{FF2B5EF4-FFF2-40B4-BE49-F238E27FC236}">
                <a16:creationId xmlns:a16="http://schemas.microsoft.com/office/drawing/2014/main" id="{59FFED92-6E76-4B0C-9940-F617AAB0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57bed2f4e014873"/>
              </a:rPr>
              <a:t>Walck-Shannon et al. (2015, 2016)</a:t>
            </a:r>
          </a:p>
        </p:txBody>
      </p:sp>
      <p:sp>
        <p:nvSpPr>
          <p:cNvPr id="30" name="基底突起与定向插入">
            <a:extLst xmlns:a="http://schemas.openxmlformats.org/drawingml/2006/main">
              <a:ext uri="{FF2B5EF4-FFF2-40B4-BE49-F238E27FC236}">
                <a16:creationId xmlns:a16="http://schemas.microsoft.com/office/drawing/2014/main" id="{ACD38F07-3735-45A6-89AA-98F9E7B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14800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基底突起与定向插入</a:t>
            </a:r>
          </a:p>
        </p:txBody>
      </p:sp>
      <p:sp>
        <p:nvSpPr>
          <p:cNvPr id="31" name="Vuong-Brender et al. (2017)">
            <a:extLst xmlns:a="http://schemas.openxmlformats.org/drawingml/2006/main">
              <a:ext uri="{FF2B5EF4-FFF2-40B4-BE49-F238E27FC236}">
                <a16:creationId xmlns:a16="http://schemas.microsoft.com/office/drawing/2014/main" id="{FACBF1F6-C45F-4889-8856-47927E1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5dcdf12680845e1"/>
              </a:rPr>
              <a:t>Vuong-Brender et al. (2017)</a:t>
            </a:r>
          </a:p>
        </p:txBody>
      </p:sp>
      <p:sp>
        <p:nvSpPr>
          <p:cNvPr id="32" name="方向性骨架与力学响应">
            <a:extLst xmlns:a="http://schemas.openxmlformats.org/drawingml/2006/main">
              <a:ext uri="{FF2B5EF4-FFF2-40B4-BE49-F238E27FC236}">
                <a16:creationId xmlns:a16="http://schemas.microsoft.com/office/drawing/2014/main" id="{7E320BFB-0D69-4E42-A1C3-EB8C7E0C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43425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方向性骨架与力学响应</a:t>
            </a:r>
          </a:p>
        </p:txBody>
      </p:sp>
      <p:sp>
        <p:nvSpPr>
          <p:cNvPr id="33" name="Lardennois et al. (2019), Fang et al. (2021)">
            <a:extLst xmlns:a="http://schemas.openxmlformats.org/drawingml/2006/main">
              <a:ext uri="{FF2B5EF4-FFF2-40B4-BE49-F238E27FC236}">
                <a16:creationId xmlns:a16="http://schemas.microsoft.com/office/drawing/2014/main" id="{A4063BCE-1E58-49ED-A245-FFE07566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8389455fc2a49c6"/>
              </a:rPr>
              <a:t>Lardennois et al. (2019), Fang et al. (2021)</a:t>
            </a:r>
          </a:p>
        </p:txBody>
      </p:sp>
      <p:sp>
        <p:nvSpPr>
          <p:cNvPr id="34" name="骨架重塑与形变保持">
            <a:extLst xmlns:a="http://schemas.openxmlformats.org/drawingml/2006/main">
              <a:ext uri="{FF2B5EF4-FFF2-40B4-BE49-F238E27FC236}">
                <a16:creationId xmlns:a16="http://schemas.microsoft.com/office/drawing/2014/main" id="{A6F8A85E-0073-441B-9CA6-822F47E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72050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骨架重塑与形变保持</a:t>
            </a:r>
          </a:p>
        </p:txBody>
      </p:sp>
      <p:sp>
        <p:nvSpPr>
          <p:cNvPr id="35" name="Yang et al. (2025)">
            <a:extLst xmlns:a="http://schemas.openxmlformats.org/drawingml/2006/main">
              <a:ext uri="{FF2B5EF4-FFF2-40B4-BE49-F238E27FC236}">
                <a16:creationId xmlns:a16="http://schemas.microsoft.com/office/drawing/2014/main" id="{6F51E628-F308-4B53-9943-C75DAB7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fb14ab97c474f19"/>
              </a:rPr>
              <a:t>Yang et al. (2025)</a:t>
            </a:r>
          </a:p>
        </p:txBody>
      </p:sp>
      <p:sp>
        <p:nvSpPr>
          <p:cNvPr id="36" name="周期输入与连接交换">
            <a:extLst xmlns:a="http://schemas.openxmlformats.org/drawingml/2006/main">
              <a:ext uri="{FF2B5EF4-FFF2-40B4-BE49-F238E27FC236}">
                <a16:creationId xmlns:a16="http://schemas.microsoft.com/office/drawing/2014/main" id="{AF45F1B2-2478-4991-B383-28F98BB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00675"/>
            <a:ext cx="2771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周期输入与连接交换</a:t>
            </a:r>
          </a:p>
        </p:txBody>
      </p:sp>
      <p:sp>
        <p:nvSpPr>
          <p:cNvPr id="37" name="实验结果、本地示例模型与研究设想在各页分别标注">
            <a:extLst xmlns:a="http://schemas.openxmlformats.org/drawingml/2006/main">
              <a:ext uri="{FF2B5EF4-FFF2-40B4-BE49-F238E27FC236}">
                <a16:creationId xmlns:a16="http://schemas.microsoft.com/office/drawing/2014/main" id="{CA503C6E-BB2A-43AA-B554-7F5CF1E9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实验结果、本地示例模型与研究设想在各页分别标注</a:t>
            </a:r>
          </a:p>
        </p:txBody>
      </p:sp>
    </p:spTree>
    <p:extLst>
      <p:ext uri="{BB962C8B-B14F-4D97-AF65-F5344CB8AC3E}">
        <p14:creationId xmlns:p14="http://schemas.microsoft.com/office/powerpoint/2010/main" val="717530642"/>
      </p:ext>
    </p:extLst>
  </p:cSld>
</p:sld>
</file>

<file path=ppt/slides/slide4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腹侧包裹：前缘推进与新接触成熟">
            <a:extLst xmlns:a="http://schemas.openxmlformats.org/drawingml/2006/main">
              <a:ext uri="{FF2B5EF4-FFF2-40B4-BE49-F238E27FC236}">
                <a16:creationId xmlns:a16="http://schemas.microsoft.com/office/drawing/2014/main" id="{1D6F9A2C-B3E4-4CFE-BC29-BB6C527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备份：自由边界接合怎样建立新的承载拓扑</a:t>
            </a:r>
          </a:p>
        </p:txBody>
      </p:sp>
      <p:sp>
        <p:nvSpPr>
          <p:cNvPr id="2" name="Williams-Masson et al., 1997；Raich et al., 19">
            <a:extLst xmlns:a="http://schemas.openxmlformats.org/drawingml/2006/main">
              <a:ext uri="{FF2B5EF4-FFF2-40B4-BE49-F238E27FC236}">
                <a16:creationId xmlns:a16="http://schemas.microsoft.com/office/drawing/2014/main" id="{D0268F66-BDBB-4C2C-BCC9-35CBA9D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补充讨论：腹侧闭合与连接成熟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6157AD9-8078-48F9-A601-9CFCBE8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8" name="实验：前缘相遇与开口关闭">
            <a:extLst xmlns:a="http://schemas.openxmlformats.org/drawingml/2006/main">
              <a:ext uri="{FF2B5EF4-FFF2-40B4-BE49-F238E27FC236}">
                <a16:creationId xmlns:a16="http://schemas.microsoft.com/office/drawing/2014/main" id="{D31A7C4A-42FC-47E8-8E54-F2CFCC5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476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实验：前缘相遇与开口关闭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8CB5D-EDB5-477C-9D0A-1A8657D6A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70b088256414f"/>
          <a:stretch xmlns:a="http://schemas.openxmlformats.org/drawingml/2006/main"/>
        </p:blipFill>
        <p:spPr>
          <a:xfrm xmlns:a="http://schemas.openxmlformats.org/drawingml/2006/main">
            <a:off x="611846" y="2381250"/>
            <a:ext cx="4472257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笔记算例：相同推进，接触成熟速度不同">
            <a:extLst xmlns:a="http://schemas.openxmlformats.org/drawingml/2006/main">
              <a:ext uri="{FF2B5EF4-FFF2-40B4-BE49-F238E27FC236}">
                <a16:creationId xmlns:a16="http://schemas.microsoft.com/office/drawing/2014/main" id="{ECECCCD8-C02B-4997-B04F-0D66A5E2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76350"/>
            <a:ext cx="6057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笔记算例：相同推进，接触成熟速度不同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21423-9412-4A92-A244-E1CF44697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afc293a364a6f"/>
          <a:stretch xmlns:a="http://schemas.openxmlformats.org/drawingml/2006/main"/>
        </p:blipFill>
        <p:spPr>
          <a:xfrm xmlns:a="http://schemas.openxmlformats.org/drawingml/2006/main">
            <a:off x="5524999" y="2152650"/>
            <a:ext cx="6056903" cy="2809875"/>
          </a:xfrm>
          <a:prstGeom xmlns:a="http://schemas.openxmlformats.org/drawingml/2006/main" prst="rect">
            <a:avLst/>
          </a:prstGeom>
        </p:spPr>
      </p:pic>
      <p:sp>
        <p:nvSpPr>
          <p:cNvPr id="12" name="t = 5 撤去推进&#10;快速成熟保持闭合，慢速成熟重新打开">
            <a:extLst xmlns:a="http://schemas.openxmlformats.org/drawingml/2006/main">
              <a:ext uri="{FF2B5EF4-FFF2-40B4-BE49-F238E27FC236}">
                <a16:creationId xmlns:a16="http://schemas.microsoft.com/office/drawing/2014/main" id="{42BE111F-6D79-4A9A-9A89-BD2F15E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29225"/>
            <a:ext cx="605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t = 5 撤去推进</a:t>
            </a:r>
          </a:p>
          <a:p xmlns:a="http://schemas.openxmlformats.org/drawingml/2006/main">
            <a: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快速成熟保持闭合，慢速成熟重新打开</a:t>
            </a:r>
          </a:p>
        </p:txBody>
      </p:sp>
    </p:spTree>
    <p:extLst>
      <p:ext uri="{BB962C8B-B14F-4D97-AF65-F5344CB8AC3E}">
        <p14:creationId xmlns:p14="http://schemas.microsoft.com/office/powerpoint/2010/main" val="1806947841"/>
      </p:ext>
    </p:extLst>
  </p:cSld>
</p:sld>
</file>

<file path=ppt/slides/slide4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三维体形与模型的适用边界">
            <a:extLst xmlns:a="http://schemas.openxmlformats.org/drawingml/2006/main">
              <a:ext uri="{FF2B5EF4-FFF2-40B4-BE49-F238E27FC236}">
                <a16:creationId xmlns:a16="http://schemas.microsoft.com/office/drawing/2014/main" id="{4F0BCEBF-5383-48FC-9892-9EDFCD2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备份：三维几何与构型观测的定义</a:t>
            </a:r>
          </a:p>
        </p:txBody>
      </p:sp>
      <p:sp>
        <p:nvSpPr>
          <p:cNvPr id="2" name="身体弧长、投影弧长和头尾直线距离需要分别记录">
            <a:extLst xmlns:a="http://schemas.openxmlformats.org/drawingml/2006/main">
              <a:ext uri="{FF2B5EF4-FFF2-40B4-BE49-F238E27FC236}">
                <a16:creationId xmlns:a16="http://schemas.microsoft.com/office/drawing/2014/main" id="{AC964206-986B-409A-AECC-2C4ED286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补充讨论：身体转动、中心线与材料追踪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E8CEECB-4EF1-417A-ACFC-FDA5DE1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49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2501B-7DE9-4488-A071-5F910A412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87c7f5d80461f"/>
          <a:stretch xmlns:a="http://schemas.openxmlformats.org/drawingml/2006/main"/>
        </p:blipFill>
        <p:spPr>
          <a:xfrm xmlns:a="http://schemas.openxmlformats.org/drawingml/2006/main">
            <a:off x="612756" y="1428750"/>
            <a:ext cx="2927388" cy="46672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91EFA-0341-4F9A-9D38-49D80C5E9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84a8c557d49ff"/>
          <a:stretch xmlns:a="http://schemas.openxmlformats.org/drawingml/2006/main"/>
        </p:blipFill>
        <p:spPr>
          <a:xfrm xmlns:a="http://schemas.openxmlformats.org/drawingml/2006/main">
            <a:off x="4097492" y="1819275"/>
            <a:ext cx="2854015" cy="3343275"/>
          </a:xfrm>
          <a:prstGeom xmlns:a="http://schemas.openxmlformats.org/drawingml/2006/main" prst="rect">
            <a:avLst/>
          </a:prstGeom>
        </p:spPr>
      </p:pic>
      <p:sp>
        <p:nvSpPr>
          <p:cNvPr id="13" name="中心线弧长 L&#10;与端点距离 D">
            <a:extLst xmlns:a="http://schemas.openxmlformats.org/drawingml/2006/main">
              <a:ext uri="{FF2B5EF4-FFF2-40B4-BE49-F238E27FC236}">
                <a16:creationId xmlns:a16="http://schemas.microsoft.com/office/drawing/2014/main" id="{FF4A8613-A2E7-428D-869F-FA365ED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中心线弧长 L</a:t>
            </a:r>
          </a:p>
          <a:p xmlns:a="http://schemas.openxmlformats.org/drawingml/2006/main">
            <a: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与端点距离 D</a:t>
            </a:r>
          </a:p>
        </p:txBody>
      </p:sp>
      <p:sp>
        <p:nvSpPr>
          <p:cNvPr id="14" name="真实长度">
            <a:extLst xmlns:a="http://schemas.openxmlformats.org/drawingml/2006/main">
              <a:ext uri="{FF2B5EF4-FFF2-40B4-BE49-F238E27FC236}">
                <a16:creationId xmlns:a16="http://schemas.microsoft.com/office/drawing/2014/main" id="{7C70C873-C187-419B-A5B4-46173B0A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28775"/>
            <a:ext cx="396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真实长度</a:t>
            </a:r>
          </a:p>
        </p:txBody>
      </p:sp>
      <p:sp>
        <p:nvSpPr>
          <p:cNvPr id="15" name="沿三维中心线测量&#10;头尾距离受弯曲影响">
            <a:extLst xmlns:a="http://schemas.openxmlformats.org/drawingml/2006/main">
              <a:ext uri="{FF2B5EF4-FFF2-40B4-BE49-F238E27FC236}">
                <a16:creationId xmlns:a16="http://schemas.microsoft.com/office/drawing/2014/main" id="{1012AB83-B68A-40C9-B3D9-2C922AA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沿三维中心线测量</a:t>
            </a:r>
          </a:p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头尾距离受弯曲影响</a:t>
            </a:r>
          </a:p>
        </p:txBody>
      </p:sp>
      <p:sp>
        <p:nvSpPr>
          <p:cNvPr id="16" name="模型边界">
            <a:extLst xmlns:a="http://schemas.openxmlformats.org/drawingml/2006/main">
              <a:ext uri="{FF2B5EF4-FFF2-40B4-BE49-F238E27FC236}">
                <a16:creationId xmlns:a16="http://schemas.microsoft.com/office/drawing/2014/main" id="{431DA198-3E1C-4B17-84C7-BC7E0B89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396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模型边界</a:t>
            </a:r>
          </a:p>
        </p:txBody>
      </p:sp>
      <p:sp>
        <p:nvSpPr>
          <p:cNvPr id="17" name="曲率、卵壳接触与表皮融合&#10;需要在相应阶段保留">
            <a:extLst xmlns:a="http://schemas.openxmlformats.org/drawingml/2006/main">
              <a:ext uri="{FF2B5EF4-FFF2-40B4-BE49-F238E27FC236}">
                <a16:creationId xmlns:a16="http://schemas.microsoft.com/office/drawing/2014/main" id="{5BB3ACEC-6992-41AE-9BFC-2995F87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962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曲率、卵壳接触与表皮融合</a:t>
            </a:r>
          </a:p>
          <a:p xmlns:a="http://schemas.openxmlformats.org/drawingml/2006/main">
            <a: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需要在相应阶段保留</a:t>
            </a:r>
          </a:p>
        </p:txBody>
      </p:sp>
    </p:spTree>
    <p:extLst>
      <p:ext uri="{BB962C8B-B14F-4D97-AF65-F5344CB8AC3E}">
        <p14:creationId xmlns:p14="http://schemas.microsoft.com/office/powerpoint/2010/main" val="1962523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2026-10-24T18:15:42.7760000Z</dcterms:created>
  <dcterms:modified xsi:type="dcterms:W3CDTF">2026-10-24T18:15:42.7760000Z</dcterms:modified>
</coreProperties>
</file>